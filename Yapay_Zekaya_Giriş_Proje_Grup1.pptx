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i5e1QzntEX3wmE6NRlS7Ta91hB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Kapak slaytı. Proje adı: AI Destekli Ürün Görsel Üretim Sistemi. Yapay Zekaya Giriş dersi dönem sonu projesi. Ekip: Enes ÇAKMAK, Furkan Talha KASIM, Mustafa TETİK, Nail KOCABAY. Danışmanlar: Prof. Dr. Kazım YILDIZ ve Arş. Gör. Merve PINAR.</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 name="Google Shape;2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Problem: E-ticaret satıcıları için profesyonel ürün fotoğrafçılığı hem pahalı hem zaman alıcıdır. Tüketicilerin %75'inden fazlası satın alma kararını görsele göre verir. Küçük satıcılar bu maliyete katlanamaz. Bu proje bu açığı kapatmayı hedefliyor.</a:t>
            </a:r>
            <a:endParaRPr/>
          </a:p>
        </p:txBody>
      </p:sp>
      <p:sp>
        <p:nvSpPr>
          <p:cNvPr id="23" name="Google Shape;23;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Çözüm: Kullanıcı tek bir ham fotoğraf yükler. Qwen Image Edit yapay zeka modeli bu görseli üç farklı kamera açısından profesyonel reklam görseliine dönüştürür. Sistem tamamen yerel çalışır; bulut servisi, internet bağlantısı veya ücretli API kullanılmaz. Üretim süresi yaklaşık 30-60 saniyedir.</a:t>
            </a:r>
            <a:endParaRPr/>
          </a:p>
        </p:txBody>
      </p:sp>
      <p:sp>
        <p:nvSpPr>
          <p:cNvPr id="54" name="Google Shape;5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Literatür araştırmasından çıkan temel sonuçlar: (1) Diffusion modeller ürün görsel üretiminde güçlüdür. (2) Ürün kimliğini (renk, şekil, logo) korumak en kritik tasarım sorunudur. (3) Metin-görsel çok modlu modeller çok daha başarılı sonuçlar vermektedir. (4) Üretim süreci, arkaplan AI ile kullanıcı arayüzünün entegrasyonunu gerektirmektedir.</a:t>
            </a:r>
            <a:endParaRPr/>
          </a:p>
        </p:txBody>
      </p:sp>
      <p:sp>
        <p:nvSpPr>
          <p:cNvPr id="76" name="Google Shape;7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İlk aşamada 4 katmanlı bir mimari planlandı: FastAPI ile istemci katmanı, ComfyUI ile düzenleme ortamı, SD 1.5 tabanlı diffusion modeli ve LoRA adaptörleri. Değerlendirme için FID ve CLIP Score metrikleri belirlendi.</a:t>
            </a:r>
            <a:endParaRPr/>
          </a:p>
        </p:txBody>
      </p:sp>
      <p:sp>
        <p:nvSpPr>
          <p:cNvPr id="109" name="Google Shape;10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SD 1.5 ile yapılan deneylerde 4 temel başarısızlık yaşandı: (1) Denoise parametresi istikrarlı bir optimum noktaya sahip değil. (2) CFG değeri iki uç arasında dengelenemedi. (3) SD 1.5 mimarisi görsel kimlik koruma görevine yapısal olarak uygun değil. (4) Daha büyük modeller mevcut donanımda çalıştırılamadı. Bu deneyimler projenin ikinci aşamaya geçmesini zorunlu kıldı.</a:t>
            </a:r>
            <a:endParaRPr/>
          </a:p>
        </p:txBody>
      </p:sp>
      <p:sp>
        <p:nvSpPr>
          <p:cNvPr id="138" name="Google Shape;13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Yöntem değişikliğinin iki ayağı var: (1) Daha güçlü GPU'ya geçiş — mevcut donanım büyük modelleri barındıramıyordu. (2) Model değişikliği — SD 1.5 yerine Alibaba'nın Qwen Image Edit modeli benimsendi. Bu model, görsel-dil mimarisi sayesinde ürün kimliğini koruma konusunda çok daha başarılıdır.</a:t>
            </a:r>
            <a:endParaRPr/>
          </a:p>
        </p:txBody>
      </p:sp>
      <p:sp>
        <p:nvSpPr>
          <p:cNvPr id="169" name="Google Shape;16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Qwen Image Edit, Alibaba'nın Qwen 2.5 VL modelinden türetilmiştir. 7 milyar parametreli görsel-dil mimarisi sayesinde metin talimatlarını çok daha zengin bir bağlamsal anlama ile işleyebiliyor. FP8 niceleme ile bellek gereksinimi azaltılmıştır. Lightning LoRA ile standart 20+ adım yerine yalnızca 4 adımda üretim yapılıyor.</a:t>
            </a:r>
            <a:endParaRPr/>
          </a:p>
        </p:txBody>
      </p:sp>
      <p:sp>
        <p:nvSpPr>
          <p:cNvPr id="184" name="Google Shape;18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4 model bileşeni: (1) UNET - asıl görsel üretim modeli, FP8 formatında. (2) CLIP - 7B parametreli görsel-dil modeli, metin ve görsel referansı birlikte işler. (3) VAE - piksel ↔ latent uzay dönüşümü. (4) Lightning LoRA - 20+ adımı 4 adıma indiren hız adaptörü, BF16 formatında.</a:t>
            </a:r>
            <a:endParaRPr/>
          </a:p>
        </p:txBody>
      </p:sp>
      <p:sp>
        <p:nvSpPr>
          <p:cNvPr id="213" name="Google Shape;21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Diffusion süreci 4 adımda: (1) VAE, görseli latent uzaya sıkıştırır. (2) Denoise=1.0 ile tam gürültü eklenir — model içeriği 'sıfırlar'. (3) Euler örnekleyicisi 4 adımda latent tensörü rafine eder — metin talimatına ve referans görsele sadık kalarak. (4) VAE, latent tensörü piksel görseliiye çözer. Lightning LoRA sayesinde normalde 20+ adım süren işlem 4 adıma iner.</a:t>
            </a:r>
            <a:endParaRPr/>
          </a:p>
        </p:txBody>
      </p:sp>
      <p:sp>
        <p:nvSpPr>
          <p:cNvPr id="244" name="Google Shape;24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ComfyUI pipeline yapısı: Sol tarafta model yükleme ve görsel hazırlama bileşenleri paylaşımlı. Sağ tarafta 3 bağımsız üretim zinciri: Ön görünüm, Yan profil, İzometrik. Her zincir kendi metin kodlama, örnekleme, VAE çözme ve kaydetme adımlarını bağımsız yürütür. Önemli optimizasyon: model bileşenleri 3 kez değil 1 kez yükleniyor.</a:t>
            </a:r>
            <a:endParaRPr/>
          </a:p>
        </p:txBody>
      </p:sp>
      <p:sp>
        <p:nvSpPr>
          <p:cNvPr id="277" name="Google Shape;27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8 adımlı pipeline detayı: (1) Görsel yükleme. (2) Lanczos ile 1MP ölçekleme. (3) Model bileşenleri GPU'ya yükleniyor. (4) AuraFlow gürültü çizelgesi ve CFGNorm ayarı. (5) VAE ile latent kodlama. (6) Her açı için metin + referans görsel birlikte kodlanıyor. (7) 3 bağımsız KSampler 4'er adım çalışıyor. (8) VAE çözme ve PNG olarak kaydetme.</a:t>
            </a:r>
            <a:endParaRPr/>
          </a:p>
        </p:txBody>
      </p:sp>
      <p:sp>
        <p:nvSpPr>
          <p:cNvPr id="332" name="Google Shape;332;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 kamera açısı için ayrı metin talimatı kullanılıyor. Pozitif promptlar kamera açısı + stüdyo estetik özelliklerini tarif ediyor. Negatif promptlar: insan eli/parmak, görünür stüdyo ekipmanları (softbox, ışık ayakları, tripodlar, kamera), dağınık arka plan, düşük kalite, bulanıklık ve karikatür/illüstrasyon tarzını engelliyor.</a:t>
            </a:r>
            <a:endParaRPr/>
          </a:p>
        </p:txBody>
      </p:sp>
      <p:sp>
        <p:nvSpPr>
          <p:cNvPr id="379" name="Google Shape;37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Frontend uygulaması React 18 + Vite 5 ile sıfırdan yazıldı. Vite'ın proxy özelliği CORS sorununu çözer. WebSocket ile gerçek zamanlı ilerleme takibi yapılır. 7 ana bileşen: Header, ImageUploader, ProgressSection, OutputGallery, SettingsPanel, ConsolePanel, Modal. Tüm ayarlar localStorage'da saklanır, sayfa yenilenince korunur.</a:t>
            </a:r>
            <a:endParaRPr/>
          </a:p>
        </p:txBody>
      </p:sp>
      <p:sp>
        <p:nvSpPr>
          <p:cNvPr id="410" name="Google Shape;410;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Sistem 3 katman: (1) React Frontend localhost:5173 - kullanıcı arayüzü. (2) ComfyUI Server localhost:8188 - iş yönetimi, API ve WebSocket sunucusu. (3) GPU &amp; Modeller - fiziksel hesaplama. İki iletişim kanalı: HTTP REST (/api/* Vite proxy ile) ve WebSocket (doğrudan 8188). Hiçbir şey internet üzerinden geçmiyor.</a:t>
            </a:r>
            <a:endParaRPr/>
          </a:p>
        </p:txBody>
      </p:sp>
      <p:sp>
        <p:nvSpPr>
          <p:cNvPr id="455" name="Google Shape;455;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Kullanıcı bakış açısından tam veri akışı: (1) Fotoğraf seçimi ve yerel doğrulama. (2) HTTP ile ComfyUI'ya yükleme. (3) Workflow JSON şablonunun kişiselleştirilmesi. (4) Kuyruğa ekleme ve iş kimliği alma. (5) WebSocket ile adım adım takip - toplam 12 örnekleme adımı. (6) Her görsel tamamlandığında arayüze anlık yansıma. (7) Tüm görseller hazır, indirmeye sunuluyor.</a:t>
            </a:r>
            <a:endParaRPr/>
          </a:p>
        </p:txBody>
      </p:sp>
      <p:sp>
        <p:nvSpPr>
          <p:cNvPr id="484" name="Google Shape;48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0" name="Google Shape;530;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Güçlü yönler: Görsel kimlik sadakati, hız (30-60 sn), esneklik (prompt özelleştirme), gizlilik (yerel çalışma), sıfır API maliyeti. Kısıtlar: GPU gereksinimi, şeffaf yüzeyli ürünlerde sorun, anlık önizleme yok, toplu işleme yok. Gelecek: Daha verimli model niceleme, toplu işleme desteği, anlık önizleme, ürün tipi sınıflandırması.</a:t>
            </a:r>
            <a:endParaRPr/>
          </a:p>
        </p:txBody>
      </p:sp>
      <p:sp>
        <p:nvSpPr>
          <p:cNvPr id="531" name="Google Shape;531;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Kapanış slaytı. Özet: 3 kamera açısı, 4 örnekleme adımı (Lightning LoRA), 4 model bileşeni (UNET/CLIP/VAE/LoRA), 0 bulut bağımlılığı. Ana mesaj: Ham ürün fotoğrafından saniyeler içinde üç farklı açıdan profesyonel reklam görseli üretimi. Kullanılan teknolojiler: React 18, Vite 5, ComfyUI Portable, Qwen Image Edit, Lightning LoRA, WebSocket, Euler Sampler, AuraFlow, FP8 niceleme.</a:t>
            </a:r>
            <a:endParaRPr/>
          </a:p>
        </p:txBody>
      </p:sp>
      <p:sp>
        <p:nvSpPr>
          <p:cNvPr id="562" name="Google Shape;562;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1" name="Shape 11"/>
        <p:cNvGrpSpPr/>
        <p:nvPr/>
      </p:nvGrpSpPr>
      <p:grpSpPr>
        <a:xfrm>
          <a:off x="0" y="0"/>
          <a:ext cx="0" cy="0"/>
          <a:chOff x="0" y="0"/>
          <a:chExt cx="0" cy="0"/>
        </a:xfrm>
      </p:grpSpPr>
      <p:sp>
        <p:nvSpPr>
          <p:cNvPr id="12" name="Google Shape;12;p1"/>
          <p:cNvSpPr/>
          <p:nvPr/>
        </p:nvSpPr>
        <p:spPr>
          <a:xfrm>
            <a:off x="0" y="0"/>
            <a:ext cx="109728" cy="514350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320040" y="292608"/>
            <a:ext cx="8503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00"/>
              <a:buFont typeface="Calibri"/>
              <a:buNone/>
            </a:pPr>
            <a:r>
              <a:rPr b="0" i="0" lang="en-US" sz="1000" u="none" cap="none" strike="noStrike">
                <a:solidFill>
                  <a:srgbClr val="B0C4DE"/>
                </a:solidFill>
                <a:latin typeface="Calibri"/>
                <a:ea typeface="Calibri"/>
                <a:cs typeface="Calibri"/>
                <a:sym typeface="Calibri"/>
              </a:rPr>
              <a:t>BİLGİSAYAR MÜHENDİSLİĞİ BÖLÜMÜ  ·  YAPAY ZEKAYA GİRİŞ DERSİ</a:t>
            </a:r>
            <a:endParaRPr b="0" i="0" sz="1000" u="none" cap="none" strike="noStrike">
              <a:solidFill>
                <a:schemeClr val="dk1"/>
              </a:solidFill>
              <a:latin typeface="Calibri"/>
              <a:ea typeface="Calibri"/>
              <a:cs typeface="Calibri"/>
              <a:sym typeface="Calibri"/>
            </a:endParaRPr>
          </a:p>
        </p:txBody>
      </p:sp>
      <p:sp>
        <p:nvSpPr>
          <p:cNvPr id="14" name="Google Shape;14;p1"/>
          <p:cNvSpPr/>
          <p:nvPr/>
        </p:nvSpPr>
        <p:spPr>
          <a:xfrm>
            <a:off x="320040" y="914400"/>
            <a:ext cx="6858000" cy="21031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AI Destekli Ürün</a:t>
            </a:r>
            <a:endParaRPr b="0" i="0" sz="4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Görsel Üretim Sistemi</a:t>
            </a:r>
            <a:endParaRPr b="0" i="0" sz="4000" u="none" cap="none" strike="noStrike">
              <a:solidFill>
                <a:schemeClr val="dk1"/>
              </a:solidFill>
              <a:latin typeface="Calibri"/>
              <a:ea typeface="Calibri"/>
              <a:cs typeface="Calibri"/>
              <a:sym typeface="Calibri"/>
            </a:endParaRPr>
          </a:p>
        </p:txBody>
      </p:sp>
      <p:sp>
        <p:nvSpPr>
          <p:cNvPr id="15" name="Google Shape;15;p1"/>
          <p:cNvSpPr/>
          <p:nvPr/>
        </p:nvSpPr>
        <p:spPr>
          <a:xfrm>
            <a:off x="320040" y="3657600"/>
            <a:ext cx="5029200" cy="1005840"/>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502920" y="3749040"/>
            <a:ext cx="46634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200"/>
              <a:buFont typeface="Calibri"/>
              <a:buNone/>
            </a:pPr>
            <a:r>
              <a:rPr b="0" i="0" lang="en-US" sz="1200" u="none" cap="none" strike="noStrike">
                <a:solidFill>
                  <a:srgbClr val="B0C4DE"/>
                </a:solidFill>
                <a:latin typeface="Calibri"/>
                <a:ea typeface="Calibri"/>
                <a:cs typeface="Calibri"/>
                <a:sym typeface="Calibri"/>
              </a:rPr>
              <a:t>Enes ÇAKMAK  ·  Furkan Talha KASIM</a:t>
            </a:r>
            <a:br>
              <a:rPr b="0" i="0" lang="en-US" sz="1200" u="none" cap="none" strike="noStrike">
                <a:solidFill>
                  <a:srgbClr val="B0C4DE"/>
                </a:solidFill>
                <a:latin typeface="Calibri"/>
                <a:ea typeface="Calibri"/>
                <a:cs typeface="Calibri"/>
                <a:sym typeface="Calibri"/>
              </a:rPr>
            </a:br>
            <a:r>
              <a:rPr b="0" i="0" lang="en-US" sz="1200" u="none" cap="none" strike="noStrike">
                <a:solidFill>
                  <a:srgbClr val="B0C4DE"/>
                </a:solidFill>
                <a:latin typeface="Calibri"/>
                <a:ea typeface="Calibri"/>
                <a:cs typeface="Calibri"/>
                <a:sym typeface="Calibri"/>
              </a:rPr>
              <a:t>Mustafa TETİK  ·  Nail KOCABAY</a:t>
            </a:r>
            <a:endParaRPr b="0" i="0" sz="1200" u="none" cap="none" strike="noStrike">
              <a:solidFill>
                <a:schemeClr val="dk1"/>
              </a:solidFill>
              <a:latin typeface="Calibri"/>
              <a:ea typeface="Calibri"/>
              <a:cs typeface="Calibri"/>
              <a:sym typeface="Calibri"/>
            </a:endParaRPr>
          </a:p>
        </p:txBody>
      </p:sp>
      <p:sp>
        <p:nvSpPr>
          <p:cNvPr id="17" name="Google Shape;17;p1"/>
          <p:cNvSpPr/>
          <p:nvPr/>
        </p:nvSpPr>
        <p:spPr>
          <a:xfrm>
            <a:off x="320040" y="4754880"/>
            <a:ext cx="6400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8EAE"/>
              </a:buClr>
              <a:buSzPts val="1000"/>
              <a:buFont typeface="Calibri"/>
              <a:buNone/>
            </a:pPr>
            <a:r>
              <a:rPr b="0" i="0" lang="en-US" sz="1000" u="none" cap="none" strike="noStrike">
                <a:solidFill>
                  <a:srgbClr val="6B8EAE"/>
                </a:solidFill>
                <a:latin typeface="Calibri"/>
                <a:ea typeface="Calibri"/>
                <a:cs typeface="Calibri"/>
                <a:sym typeface="Calibri"/>
              </a:rPr>
              <a:t>Prof. Dr. Kazım YILDIZ · Arş. Gör. Merve PINAR</a:t>
            </a:r>
            <a:endParaRPr b="0" i="0" sz="1000" u="none" cap="none" strike="noStrike">
              <a:solidFill>
                <a:schemeClr val="dk1"/>
              </a:solidFill>
              <a:latin typeface="Calibri"/>
              <a:ea typeface="Calibri"/>
              <a:cs typeface="Calibri"/>
              <a:sym typeface="Calibri"/>
            </a:endParaRPr>
          </a:p>
        </p:txBody>
      </p:sp>
      <p:sp>
        <p:nvSpPr>
          <p:cNvPr id="18" name="Google Shape;18;p1"/>
          <p:cNvSpPr/>
          <p:nvPr/>
        </p:nvSpPr>
        <p:spPr>
          <a:xfrm>
            <a:off x="7132320" y="274320"/>
            <a:ext cx="2560320" cy="2560320"/>
          </a:xfrm>
          <a:prstGeom prst="ellipse">
            <a:avLst/>
          </a:prstGeom>
          <a:solidFill>
            <a:srgbClr val="1A3A6B">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7589520" y="1645920"/>
            <a:ext cx="1645920" cy="1645920"/>
          </a:xfrm>
          <a:prstGeom prst="ellipse">
            <a:avLst/>
          </a:prstGeom>
          <a:solidFill>
            <a:srgbClr val="00B4D8">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sp>
        <p:nvSpPr>
          <p:cNvPr id="25" name="Google Shape;25;p2"/>
          <p:cNvSpPr/>
          <p:nvPr/>
        </p:nvSpPr>
        <p:spPr>
          <a:xfrm>
            <a:off x="0" y="0"/>
            <a:ext cx="9144000" cy="73152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365760" y="0"/>
            <a:ext cx="8229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PROBLEMİN TANIMI</a:t>
            </a:r>
            <a:endParaRPr sz="2200">
              <a:solidFill>
                <a:schemeClr val="dk1"/>
              </a:solidFill>
              <a:latin typeface="Calibri"/>
              <a:ea typeface="Calibri"/>
              <a:cs typeface="Calibri"/>
              <a:sym typeface="Calibri"/>
            </a:endParaRPr>
          </a:p>
        </p:txBody>
      </p:sp>
      <p:sp>
        <p:nvSpPr>
          <p:cNvPr id="27" name="Google Shape;27;p2"/>
          <p:cNvSpPr/>
          <p:nvPr/>
        </p:nvSpPr>
        <p:spPr>
          <a:xfrm>
            <a:off x="274320" y="960120"/>
            <a:ext cx="5303520" cy="82296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274320" y="960120"/>
            <a:ext cx="73152" cy="822960"/>
          </a:xfrm>
          <a:prstGeom prst="rect">
            <a:avLst/>
          </a:prstGeom>
          <a:solidFill>
            <a:srgbClr val="EF23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502920" y="1005840"/>
            <a:ext cx="4937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300"/>
              <a:buFont typeface="Calibri"/>
              <a:buNone/>
            </a:pPr>
            <a:r>
              <a:rPr b="1" lang="en-US" sz="1300">
                <a:solidFill>
                  <a:srgbClr val="0A1628"/>
                </a:solidFill>
                <a:latin typeface="Calibri"/>
                <a:ea typeface="Calibri"/>
                <a:cs typeface="Calibri"/>
                <a:sym typeface="Calibri"/>
              </a:rPr>
              <a:t>💸  Yüksek Maliyet</a:t>
            </a:r>
            <a:endParaRPr sz="1300">
              <a:solidFill>
                <a:schemeClr val="dk1"/>
              </a:solidFill>
              <a:latin typeface="Calibri"/>
              <a:ea typeface="Calibri"/>
              <a:cs typeface="Calibri"/>
              <a:sym typeface="Calibri"/>
            </a:endParaRPr>
          </a:p>
        </p:txBody>
      </p:sp>
      <p:sp>
        <p:nvSpPr>
          <p:cNvPr id="30" name="Google Shape;30;p2"/>
          <p:cNvSpPr/>
          <p:nvPr/>
        </p:nvSpPr>
        <p:spPr>
          <a:xfrm>
            <a:off x="502920" y="1307592"/>
            <a:ext cx="49377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100"/>
              <a:buFont typeface="Calibri"/>
              <a:buNone/>
            </a:pPr>
            <a:r>
              <a:rPr lang="en-US" sz="1100">
                <a:solidFill>
                  <a:srgbClr val="444444"/>
                </a:solidFill>
                <a:latin typeface="Calibri"/>
                <a:ea typeface="Calibri"/>
                <a:cs typeface="Calibri"/>
                <a:sym typeface="Calibri"/>
              </a:rPr>
              <a:t>Profesyonel ürün fotoğraf çekimi ürün başına 50–500 USD arasında değişmektedir.</a:t>
            </a:r>
            <a:endParaRPr sz="1100">
              <a:solidFill>
                <a:schemeClr val="dk1"/>
              </a:solidFill>
              <a:latin typeface="Calibri"/>
              <a:ea typeface="Calibri"/>
              <a:cs typeface="Calibri"/>
              <a:sym typeface="Calibri"/>
            </a:endParaRPr>
          </a:p>
        </p:txBody>
      </p:sp>
      <p:sp>
        <p:nvSpPr>
          <p:cNvPr id="31" name="Google Shape;31;p2"/>
          <p:cNvSpPr/>
          <p:nvPr/>
        </p:nvSpPr>
        <p:spPr>
          <a:xfrm>
            <a:off x="274320" y="1947672"/>
            <a:ext cx="5303520" cy="82296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274320" y="1947672"/>
            <a:ext cx="73152" cy="822960"/>
          </a:xfrm>
          <a:prstGeom prst="rect">
            <a:avLst/>
          </a:prstGeom>
          <a:solidFill>
            <a:srgbClr val="EF23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02920" y="1993392"/>
            <a:ext cx="4937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300"/>
              <a:buFont typeface="Calibri"/>
              <a:buNone/>
            </a:pPr>
            <a:r>
              <a:rPr b="1" lang="en-US" sz="1300">
                <a:solidFill>
                  <a:srgbClr val="0A1628"/>
                </a:solidFill>
                <a:latin typeface="Calibri"/>
                <a:ea typeface="Calibri"/>
                <a:cs typeface="Calibri"/>
                <a:sym typeface="Calibri"/>
              </a:rPr>
              <a:t>⏳  Uzun Süre</a:t>
            </a:r>
            <a:endParaRPr sz="1300">
              <a:solidFill>
                <a:schemeClr val="dk1"/>
              </a:solidFill>
              <a:latin typeface="Calibri"/>
              <a:ea typeface="Calibri"/>
              <a:cs typeface="Calibri"/>
              <a:sym typeface="Calibri"/>
            </a:endParaRPr>
          </a:p>
        </p:txBody>
      </p:sp>
      <p:sp>
        <p:nvSpPr>
          <p:cNvPr id="34" name="Google Shape;34;p2"/>
          <p:cNvSpPr/>
          <p:nvPr/>
        </p:nvSpPr>
        <p:spPr>
          <a:xfrm>
            <a:off x="502920" y="2295144"/>
            <a:ext cx="49377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100"/>
              <a:buFont typeface="Calibri"/>
              <a:buNone/>
            </a:pPr>
            <a:r>
              <a:rPr lang="en-US" sz="1100">
                <a:solidFill>
                  <a:srgbClr val="444444"/>
                </a:solidFill>
                <a:latin typeface="Calibri"/>
                <a:ea typeface="Calibri"/>
                <a:cs typeface="Calibri"/>
                <a:sym typeface="Calibri"/>
              </a:rPr>
              <a:t>Stüdyo randevusu ortalama 3–7 iş günü bekleme süresi gerektirmektedir.</a:t>
            </a:r>
            <a:endParaRPr sz="1100">
              <a:solidFill>
                <a:schemeClr val="dk1"/>
              </a:solidFill>
              <a:latin typeface="Calibri"/>
              <a:ea typeface="Calibri"/>
              <a:cs typeface="Calibri"/>
              <a:sym typeface="Calibri"/>
            </a:endParaRPr>
          </a:p>
        </p:txBody>
      </p:sp>
      <p:sp>
        <p:nvSpPr>
          <p:cNvPr id="35" name="Google Shape;35;p2"/>
          <p:cNvSpPr/>
          <p:nvPr/>
        </p:nvSpPr>
        <p:spPr>
          <a:xfrm>
            <a:off x="274320" y="2935224"/>
            <a:ext cx="5303520" cy="82296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274320" y="2935224"/>
            <a:ext cx="73152" cy="822960"/>
          </a:xfrm>
          <a:prstGeom prst="rect">
            <a:avLst/>
          </a:prstGeom>
          <a:solidFill>
            <a:srgbClr val="EF23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02920" y="2980944"/>
            <a:ext cx="4937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300"/>
              <a:buFont typeface="Calibri"/>
              <a:buNone/>
            </a:pPr>
            <a:r>
              <a:rPr b="1" lang="en-US" sz="1300">
                <a:solidFill>
                  <a:srgbClr val="0A1628"/>
                </a:solidFill>
                <a:latin typeface="Calibri"/>
                <a:ea typeface="Calibri"/>
                <a:cs typeface="Calibri"/>
                <a:sym typeface="Calibri"/>
              </a:rPr>
              <a:t>🔁  Tekrarlayan Süreç</a:t>
            </a:r>
            <a:endParaRPr sz="1300">
              <a:solidFill>
                <a:schemeClr val="dk1"/>
              </a:solidFill>
              <a:latin typeface="Calibri"/>
              <a:ea typeface="Calibri"/>
              <a:cs typeface="Calibri"/>
              <a:sym typeface="Calibri"/>
            </a:endParaRPr>
          </a:p>
        </p:txBody>
      </p:sp>
      <p:sp>
        <p:nvSpPr>
          <p:cNvPr id="38" name="Google Shape;38;p2"/>
          <p:cNvSpPr/>
          <p:nvPr/>
        </p:nvSpPr>
        <p:spPr>
          <a:xfrm>
            <a:off x="502920" y="3282696"/>
            <a:ext cx="49377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100"/>
              <a:buFont typeface="Calibri"/>
              <a:buNone/>
            </a:pPr>
            <a:r>
              <a:rPr lang="en-US" sz="1100">
                <a:solidFill>
                  <a:srgbClr val="444444"/>
                </a:solidFill>
                <a:latin typeface="Calibri"/>
                <a:ea typeface="Calibri"/>
                <a:cs typeface="Calibri"/>
                <a:sym typeface="Calibri"/>
              </a:rPr>
              <a:t>Her yeni ürün veya varyant için tüm sürecin baştan tekrarlanması gerekmektedir.</a:t>
            </a:r>
            <a:endParaRPr sz="1100">
              <a:solidFill>
                <a:schemeClr val="dk1"/>
              </a:solidFill>
              <a:latin typeface="Calibri"/>
              <a:ea typeface="Calibri"/>
              <a:cs typeface="Calibri"/>
              <a:sym typeface="Calibri"/>
            </a:endParaRPr>
          </a:p>
        </p:txBody>
      </p:sp>
      <p:sp>
        <p:nvSpPr>
          <p:cNvPr id="39" name="Google Shape;39;p2"/>
          <p:cNvSpPr/>
          <p:nvPr/>
        </p:nvSpPr>
        <p:spPr>
          <a:xfrm>
            <a:off x="274320" y="3922776"/>
            <a:ext cx="5303520" cy="82296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274320" y="3922776"/>
            <a:ext cx="73152" cy="822960"/>
          </a:xfrm>
          <a:prstGeom prst="rect">
            <a:avLst/>
          </a:prstGeom>
          <a:solidFill>
            <a:srgbClr val="EF23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502920" y="3968496"/>
            <a:ext cx="4937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300"/>
              <a:buFont typeface="Calibri"/>
              <a:buNone/>
            </a:pPr>
            <a:r>
              <a:rPr b="1" lang="en-US" sz="1300">
                <a:solidFill>
                  <a:srgbClr val="0A1628"/>
                </a:solidFill>
                <a:latin typeface="Calibri"/>
                <a:ea typeface="Calibri"/>
                <a:cs typeface="Calibri"/>
                <a:sym typeface="Calibri"/>
              </a:rPr>
              <a:t>📐  Çoklu Format İhtiyacı</a:t>
            </a:r>
            <a:endParaRPr sz="1300">
              <a:solidFill>
                <a:schemeClr val="dk1"/>
              </a:solidFill>
              <a:latin typeface="Calibri"/>
              <a:ea typeface="Calibri"/>
              <a:cs typeface="Calibri"/>
              <a:sym typeface="Calibri"/>
            </a:endParaRPr>
          </a:p>
        </p:txBody>
      </p:sp>
      <p:sp>
        <p:nvSpPr>
          <p:cNvPr id="42" name="Google Shape;42;p2"/>
          <p:cNvSpPr/>
          <p:nvPr/>
        </p:nvSpPr>
        <p:spPr>
          <a:xfrm>
            <a:off x="502920" y="4270248"/>
            <a:ext cx="49377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100"/>
              <a:buFont typeface="Calibri"/>
              <a:buNone/>
            </a:pPr>
            <a:r>
              <a:rPr lang="en-US" sz="1100">
                <a:solidFill>
                  <a:srgbClr val="444444"/>
                </a:solidFill>
                <a:latin typeface="Calibri"/>
                <a:ea typeface="Calibri"/>
                <a:cs typeface="Calibri"/>
                <a:sym typeface="Calibri"/>
              </a:rPr>
              <a:t>Web, sosyal medya ve katalog için farklı açılardan görseller talep edilmektedir.</a:t>
            </a:r>
            <a:endParaRPr sz="1100">
              <a:solidFill>
                <a:schemeClr val="dk1"/>
              </a:solidFill>
              <a:latin typeface="Calibri"/>
              <a:ea typeface="Calibri"/>
              <a:cs typeface="Calibri"/>
              <a:sym typeface="Calibri"/>
            </a:endParaRPr>
          </a:p>
        </p:txBody>
      </p:sp>
      <p:sp>
        <p:nvSpPr>
          <p:cNvPr id="43" name="Google Shape;43;p2"/>
          <p:cNvSpPr/>
          <p:nvPr/>
        </p:nvSpPr>
        <p:spPr>
          <a:xfrm>
            <a:off x="5852160" y="868680"/>
            <a:ext cx="3017520" cy="4023360"/>
          </a:xfrm>
          <a:prstGeom prst="rect">
            <a:avLst/>
          </a:prstGeom>
          <a:solidFill>
            <a:srgbClr val="0A1628"/>
          </a:solidFill>
          <a:ln>
            <a:noFill/>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6035040" y="1005840"/>
            <a:ext cx="2651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100"/>
              <a:buFont typeface="Calibri"/>
              <a:buNone/>
            </a:pPr>
            <a:r>
              <a:rPr b="1" lang="en-US" sz="1100">
                <a:solidFill>
                  <a:srgbClr val="00B4D8"/>
                </a:solidFill>
                <a:latin typeface="Calibri"/>
                <a:ea typeface="Calibri"/>
                <a:cs typeface="Calibri"/>
                <a:sym typeface="Calibri"/>
              </a:rPr>
              <a:t>E-TİCARET GERÇEKLER</a:t>
            </a:r>
            <a:endParaRPr sz="1100">
              <a:solidFill>
                <a:schemeClr val="dk1"/>
              </a:solidFill>
              <a:latin typeface="Calibri"/>
              <a:ea typeface="Calibri"/>
              <a:cs typeface="Calibri"/>
              <a:sym typeface="Calibri"/>
            </a:endParaRPr>
          </a:p>
        </p:txBody>
      </p:sp>
      <p:sp>
        <p:nvSpPr>
          <p:cNvPr id="45" name="Google Shape;45;p2"/>
          <p:cNvSpPr/>
          <p:nvPr/>
        </p:nvSpPr>
        <p:spPr>
          <a:xfrm>
            <a:off x="5943600" y="1508760"/>
            <a:ext cx="28346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3600"/>
              <a:buFont typeface="Calibri"/>
              <a:buNone/>
            </a:pPr>
            <a:r>
              <a:rPr b="1" lang="en-US" sz="3600">
                <a:solidFill>
                  <a:srgbClr val="00B4D8"/>
                </a:solidFill>
                <a:latin typeface="Calibri"/>
                <a:ea typeface="Calibri"/>
                <a:cs typeface="Calibri"/>
                <a:sym typeface="Calibri"/>
              </a:rPr>
              <a:t>%75</a:t>
            </a:r>
            <a:endParaRPr sz="3600">
              <a:solidFill>
                <a:schemeClr val="dk1"/>
              </a:solidFill>
              <a:latin typeface="Calibri"/>
              <a:ea typeface="Calibri"/>
              <a:cs typeface="Calibri"/>
              <a:sym typeface="Calibri"/>
            </a:endParaRPr>
          </a:p>
        </p:txBody>
      </p:sp>
      <p:sp>
        <p:nvSpPr>
          <p:cNvPr id="46" name="Google Shape;46;p2"/>
          <p:cNvSpPr/>
          <p:nvPr/>
        </p:nvSpPr>
        <p:spPr>
          <a:xfrm>
            <a:off x="5943600" y="2130552"/>
            <a:ext cx="28346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E"/>
              </a:buClr>
              <a:buSzPts val="1100"/>
              <a:buFont typeface="Calibri"/>
              <a:buNone/>
            </a:pPr>
            <a:r>
              <a:rPr lang="en-US" sz="1100">
                <a:solidFill>
                  <a:srgbClr val="B0C4DE"/>
                </a:solidFill>
                <a:latin typeface="Calibri"/>
                <a:ea typeface="Calibri"/>
                <a:cs typeface="Calibri"/>
                <a:sym typeface="Calibri"/>
              </a:rPr>
              <a:t>satın alma kararı</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B0C4DE"/>
              </a:buClr>
              <a:buSzPts val="1100"/>
              <a:buFont typeface="Calibri"/>
              <a:buNone/>
            </a:pPr>
            <a:r>
              <a:rPr lang="en-US" sz="1100">
                <a:solidFill>
                  <a:srgbClr val="B0C4DE"/>
                </a:solidFill>
                <a:latin typeface="Calibri"/>
                <a:ea typeface="Calibri"/>
                <a:cs typeface="Calibri"/>
                <a:sym typeface="Calibri"/>
              </a:rPr>
              <a:t>görselden etkilenir</a:t>
            </a:r>
            <a:endParaRPr sz="1100">
              <a:solidFill>
                <a:schemeClr val="dk1"/>
              </a:solidFill>
              <a:latin typeface="Calibri"/>
              <a:ea typeface="Calibri"/>
              <a:cs typeface="Calibri"/>
              <a:sym typeface="Calibri"/>
            </a:endParaRPr>
          </a:p>
        </p:txBody>
      </p:sp>
      <p:sp>
        <p:nvSpPr>
          <p:cNvPr id="47" name="Google Shape;47;p2"/>
          <p:cNvSpPr/>
          <p:nvPr/>
        </p:nvSpPr>
        <p:spPr>
          <a:xfrm>
            <a:off x="5943600" y="2651760"/>
            <a:ext cx="28346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3600"/>
              <a:buFont typeface="Calibri"/>
              <a:buNone/>
            </a:pPr>
            <a:r>
              <a:rPr b="1" lang="en-US" sz="3600">
                <a:solidFill>
                  <a:srgbClr val="00B4D8"/>
                </a:solidFill>
                <a:latin typeface="Calibri"/>
                <a:ea typeface="Calibri"/>
                <a:cs typeface="Calibri"/>
                <a:sym typeface="Calibri"/>
              </a:rPr>
              <a:t>3–7</a:t>
            </a:r>
            <a:endParaRPr sz="3600">
              <a:solidFill>
                <a:schemeClr val="dk1"/>
              </a:solidFill>
              <a:latin typeface="Calibri"/>
              <a:ea typeface="Calibri"/>
              <a:cs typeface="Calibri"/>
              <a:sym typeface="Calibri"/>
            </a:endParaRPr>
          </a:p>
        </p:txBody>
      </p:sp>
      <p:sp>
        <p:nvSpPr>
          <p:cNvPr id="48" name="Google Shape;48;p2"/>
          <p:cNvSpPr/>
          <p:nvPr/>
        </p:nvSpPr>
        <p:spPr>
          <a:xfrm>
            <a:off x="5943600" y="3273552"/>
            <a:ext cx="28346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E"/>
              </a:buClr>
              <a:buSzPts val="1100"/>
              <a:buFont typeface="Calibri"/>
              <a:buNone/>
            </a:pPr>
            <a:r>
              <a:rPr lang="en-US" sz="1100">
                <a:solidFill>
                  <a:srgbClr val="B0C4DE"/>
                </a:solidFill>
                <a:latin typeface="Calibri"/>
                <a:ea typeface="Calibri"/>
                <a:cs typeface="Calibri"/>
                <a:sym typeface="Calibri"/>
              </a:rPr>
              <a:t>iş günü stüdyo</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B0C4DE"/>
              </a:buClr>
              <a:buSzPts val="1100"/>
              <a:buFont typeface="Calibri"/>
              <a:buNone/>
            </a:pPr>
            <a:r>
              <a:rPr lang="en-US" sz="1100">
                <a:solidFill>
                  <a:srgbClr val="B0C4DE"/>
                </a:solidFill>
                <a:latin typeface="Calibri"/>
                <a:ea typeface="Calibri"/>
                <a:cs typeface="Calibri"/>
                <a:sym typeface="Calibri"/>
              </a:rPr>
              <a:t>bekleme süresi</a:t>
            </a:r>
            <a:endParaRPr sz="1100">
              <a:solidFill>
                <a:schemeClr val="dk1"/>
              </a:solidFill>
              <a:latin typeface="Calibri"/>
              <a:ea typeface="Calibri"/>
              <a:cs typeface="Calibri"/>
              <a:sym typeface="Calibri"/>
            </a:endParaRPr>
          </a:p>
        </p:txBody>
      </p:sp>
      <p:sp>
        <p:nvSpPr>
          <p:cNvPr id="49" name="Google Shape;49;p2"/>
          <p:cNvSpPr/>
          <p:nvPr/>
        </p:nvSpPr>
        <p:spPr>
          <a:xfrm>
            <a:off x="5943600" y="3794760"/>
            <a:ext cx="28346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3600"/>
              <a:buFont typeface="Calibri"/>
              <a:buNone/>
            </a:pPr>
            <a:r>
              <a:rPr b="1" lang="en-US" sz="3600">
                <a:solidFill>
                  <a:srgbClr val="00B4D8"/>
                </a:solidFill>
                <a:latin typeface="Calibri"/>
                <a:ea typeface="Calibri"/>
                <a:cs typeface="Calibri"/>
                <a:sym typeface="Calibri"/>
              </a:rPr>
              <a:t>$500</a:t>
            </a:r>
            <a:endParaRPr sz="3600">
              <a:solidFill>
                <a:schemeClr val="dk1"/>
              </a:solidFill>
              <a:latin typeface="Calibri"/>
              <a:ea typeface="Calibri"/>
              <a:cs typeface="Calibri"/>
              <a:sym typeface="Calibri"/>
            </a:endParaRPr>
          </a:p>
        </p:txBody>
      </p:sp>
      <p:sp>
        <p:nvSpPr>
          <p:cNvPr id="50" name="Google Shape;50;p2"/>
          <p:cNvSpPr/>
          <p:nvPr/>
        </p:nvSpPr>
        <p:spPr>
          <a:xfrm>
            <a:off x="5943600" y="4416552"/>
            <a:ext cx="28346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E"/>
              </a:buClr>
              <a:buSzPts val="1100"/>
              <a:buFont typeface="Calibri"/>
              <a:buNone/>
            </a:pPr>
            <a:r>
              <a:rPr lang="en-US" sz="1100">
                <a:solidFill>
                  <a:srgbClr val="B0C4DE"/>
                </a:solidFill>
                <a:latin typeface="Calibri"/>
                <a:ea typeface="Calibri"/>
                <a:cs typeface="Calibri"/>
                <a:sym typeface="Calibri"/>
              </a:rPr>
              <a:t>ürün başına</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B0C4DE"/>
              </a:buClr>
              <a:buSzPts val="1100"/>
              <a:buFont typeface="Calibri"/>
              <a:buNone/>
            </a:pPr>
            <a:r>
              <a:rPr lang="en-US" sz="1100">
                <a:solidFill>
                  <a:srgbClr val="B0C4DE"/>
                </a:solidFill>
                <a:latin typeface="Calibri"/>
                <a:ea typeface="Calibri"/>
                <a:cs typeface="Calibri"/>
                <a:sym typeface="Calibri"/>
              </a:rPr>
              <a:t>maksimum maliyet</a:t>
            </a:r>
            <a:endParaRPr sz="11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55" name="Shape 55"/>
        <p:cNvGrpSpPr/>
        <p:nvPr/>
      </p:nvGrpSpPr>
      <p:grpSpPr>
        <a:xfrm>
          <a:off x="0" y="0"/>
          <a:ext cx="0" cy="0"/>
          <a:chOff x="0" y="0"/>
          <a:chExt cx="0" cy="0"/>
        </a:xfrm>
      </p:grpSpPr>
      <p:sp>
        <p:nvSpPr>
          <p:cNvPr id="56" name="Google Shape;56;p3"/>
          <p:cNvSpPr/>
          <p:nvPr/>
        </p:nvSpPr>
        <p:spPr>
          <a:xfrm>
            <a:off x="365760" y="22860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ÇÖZÜM VİZYONU</a:t>
            </a:r>
            <a:endParaRPr sz="2400">
              <a:solidFill>
                <a:schemeClr val="dk1"/>
              </a:solidFill>
              <a:latin typeface="Calibri"/>
              <a:ea typeface="Calibri"/>
              <a:cs typeface="Calibri"/>
              <a:sym typeface="Calibri"/>
            </a:endParaRPr>
          </a:p>
        </p:txBody>
      </p:sp>
      <p:sp>
        <p:nvSpPr>
          <p:cNvPr id="57" name="Google Shape;57;p3"/>
          <p:cNvSpPr/>
          <p:nvPr/>
        </p:nvSpPr>
        <p:spPr>
          <a:xfrm>
            <a:off x="365760" y="749808"/>
            <a:ext cx="1097280" cy="4572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365760" y="91440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2000"/>
              <a:buFont typeface="Calibri"/>
              <a:buNone/>
            </a:pPr>
            <a:r>
              <a:rPr i="1" lang="en-US" sz="2000">
                <a:solidFill>
                  <a:srgbClr val="00B4D8"/>
                </a:solidFill>
                <a:latin typeface="Calibri"/>
                <a:ea typeface="Calibri"/>
                <a:cs typeface="Calibri"/>
                <a:sym typeface="Calibri"/>
              </a:rPr>
              <a:t>Tek fotoğraf → 3 profesyonel reklam görseli</a:t>
            </a:r>
            <a:endParaRPr sz="2000">
              <a:solidFill>
                <a:schemeClr val="dk1"/>
              </a:solidFill>
              <a:latin typeface="Calibri"/>
              <a:ea typeface="Calibri"/>
              <a:cs typeface="Calibri"/>
              <a:sym typeface="Calibri"/>
            </a:endParaRPr>
          </a:p>
        </p:txBody>
      </p:sp>
      <p:sp>
        <p:nvSpPr>
          <p:cNvPr id="59" name="Google Shape;59;p3"/>
          <p:cNvSpPr/>
          <p:nvPr/>
        </p:nvSpPr>
        <p:spPr>
          <a:xfrm>
            <a:off x="274320" y="1691640"/>
            <a:ext cx="2194560" cy="1645920"/>
          </a:xfrm>
          <a:prstGeom prst="rect">
            <a:avLst/>
          </a:prstGeom>
          <a:solidFill>
            <a:srgbClr val="132040"/>
          </a:solidFill>
          <a:ln cap="flat" cmpd="sng" w="1905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274320" y="1737360"/>
            <a:ext cx="21945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sz="2800">
              <a:solidFill>
                <a:schemeClr val="dk1"/>
              </a:solidFill>
              <a:latin typeface="Calibri"/>
              <a:ea typeface="Calibri"/>
              <a:cs typeface="Calibri"/>
              <a:sym typeface="Calibri"/>
            </a:endParaRPr>
          </a:p>
        </p:txBody>
      </p:sp>
      <p:sp>
        <p:nvSpPr>
          <p:cNvPr id="61" name="Google Shape;61;p3"/>
          <p:cNvSpPr/>
          <p:nvPr/>
        </p:nvSpPr>
        <p:spPr>
          <a:xfrm>
            <a:off x="274320" y="2240280"/>
            <a:ext cx="21945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100"/>
              <a:buFont typeface="Calibri"/>
              <a:buNone/>
            </a:pPr>
            <a:r>
              <a:rPr b="1" lang="en-US" sz="1100">
                <a:solidFill>
                  <a:srgbClr val="00B4D8"/>
                </a:solidFill>
                <a:latin typeface="Calibri"/>
                <a:ea typeface="Calibri"/>
                <a:cs typeface="Calibri"/>
                <a:sym typeface="Calibri"/>
              </a:rPr>
              <a:t>HAM FOTOĞRAF</a:t>
            </a:r>
            <a:endParaRPr sz="1100">
              <a:solidFill>
                <a:schemeClr val="dk1"/>
              </a:solidFill>
              <a:latin typeface="Calibri"/>
              <a:ea typeface="Calibri"/>
              <a:cs typeface="Calibri"/>
              <a:sym typeface="Calibri"/>
            </a:endParaRPr>
          </a:p>
        </p:txBody>
      </p:sp>
      <p:sp>
        <p:nvSpPr>
          <p:cNvPr id="62" name="Google Shape;62;p3"/>
          <p:cNvSpPr/>
          <p:nvPr/>
        </p:nvSpPr>
        <p:spPr>
          <a:xfrm>
            <a:off x="274320" y="2560320"/>
            <a:ext cx="21945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E"/>
              </a:buClr>
              <a:buSzPts val="1000"/>
              <a:buFont typeface="Calibri"/>
              <a:buNone/>
            </a:pPr>
            <a:r>
              <a:rPr lang="en-US" sz="1000">
                <a:solidFill>
                  <a:srgbClr val="B0C4DE"/>
                </a:solidFill>
                <a:latin typeface="Calibri"/>
                <a:ea typeface="Calibri"/>
                <a:cs typeface="Calibri"/>
                <a:sym typeface="Calibri"/>
              </a:rPr>
              <a:t>Kullanıcının</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B0C4DE"/>
              </a:buClr>
              <a:buSzPts val="1000"/>
              <a:buFont typeface="Calibri"/>
              <a:buNone/>
            </a:pPr>
            <a:r>
              <a:rPr lang="en-US" sz="1000">
                <a:solidFill>
                  <a:srgbClr val="B0C4DE"/>
                </a:solidFill>
                <a:latin typeface="Calibri"/>
                <a:ea typeface="Calibri"/>
                <a:cs typeface="Calibri"/>
                <a:sym typeface="Calibri"/>
              </a:rPr>
              <a:t>telefon kamerası</a:t>
            </a:r>
            <a:endParaRPr sz="1000">
              <a:solidFill>
                <a:schemeClr val="dk1"/>
              </a:solidFill>
              <a:latin typeface="Calibri"/>
              <a:ea typeface="Calibri"/>
              <a:cs typeface="Calibri"/>
              <a:sym typeface="Calibri"/>
            </a:endParaRPr>
          </a:p>
        </p:txBody>
      </p:sp>
      <p:cxnSp>
        <p:nvCxnSpPr>
          <p:cNvPr id="63" name="Google Shape;63;p3"/>
          <p:cNvCxnSpPr/>
          <p:nvPr/>
        </p:nvCxnSpPr>
        <p:spPr>
          <a:xfrm>
            <a:off x="2560320" y="2514600"/>
            <a:ext cx="731520" cy="0"/>
          </a:xfrm>
          <a:prstGeom prst="straightConnector1">
            <a:avLst/>
          </a:prstGeom>
          <a:noFill/>
          <a:ln cap="flat" cmpd="sng" w="31750">
            <a:solidFill>
              <a:srgbClr val="00B4D8"/>
            </a:solidFill>
            <a:prstDash val="solid"/>
            <a:round/>
            <a:headEnd len="sm" w="sm" type="none"/>
            <a:tailEnd len="med" w="med" type="triangle"/>
          </a:ln>
        </p:spPr>
      </p:cxnSp>
      <p:sp>
        <p:nvSpPr>
          <p:cNvPr id="64" name="Google Shape;64;p3"/>
          <p:cNvSpPr/>
          <p:nvPr/>
        </p:nvSpPr>
        <p:spPr>
          <a:xfrm>
            <a:off x="3383280" y="1691640"/>
            <a:ext cx="2377440" cy="1645920"/>
          </a:xfrm>
          <a:prstGeom prst="rect">
            <a:avLst/>
          </a:prstGeom>
          <a:solidFill>
            <a:srgbClr val="1A3A6B"/>
          </a:solidFill>
          <a:ln cap="flat" cmpd="sng" w="254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3383280" y="1737360"/>
            <a:ext cx="237744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sz="2800">
              <a:solidFill>
                <a:schemeClr val="dk1"/>
              </a:solidFill>
              <a:latin typeface="Calibri"/>
              <a:ea typeface="Calibri"/>
              <a:cs typeface="Calibri"/>
              <a:sym typeface="Calibri"/>
            </a:endParaRPr>
          </a:p>
        </p:txBody>
      </p:sp>
      <p:sp>
        <p:nvSpPr>
          <p:cNvPr id="66" name="Google Shape;66;p3"/>
          <p:cNvSpPr/>
          <p:nvPr/>
        </p:nvSpPr>
        <p:spPr>
          <a:xfrm>
            <a:off x="3383280" y="2240280"/>
            <a:ext cx="23774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QWEN IMAGE EDIT</a:t>
            </a:r>
            <a:endParaRPr sz="1100">
              <a:solidFill>
                <a:schemeClr val="dk1"/>
              </a:solidFill>
              <a:latin typeface="Calibri"/>
              <a:ea typeface="Calibri"/>
              <a:cs typeface="Calibri"/>
              <a:sym typeface="Calibri"/>
            </a:endParaRPr>
          </a:p>
        </p:txBody>
      </p:sp>
      <p:sp>
        <p:nvSpPr>
          <p:cNvPr id="67" name="Google Shape;67;p3"/>
          <p:cNvSpPr/>
          <p:nvPr/>
        </p:nvSpPr>
        <p:spPr>
          <a:xfrm>
            <a:off x="3383280" y="256032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8CAE4"/>
              </a:buClr>
              <a:buSzPts val="1000"/>
              <a:buFont typeface="Calibri"/>
              <a:buNone/>
            </a:pPr>
            <a:r>
              <a:rPr lang="en-US" sz="1000">
                <a:solidFill>
                  <a:srgbClr val="48CAE4"/>
                </a:solidFill>
                <a:latin typeface="Calibri"/>
                <a:ea typeface="Calibri"/>
                <a:cs typeface="Calibri"/>
                <a:sym typeface="Calibri"/>
              </a:rPr>
              <a:t>Yapay zeka modeli</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48CAE4"/>
              </a:buClr>
              <a:buSzPts val="1000"/>
              <a:buFont typeface="Calibri"/>
              <a:buNone/>
            </a:pPr>
            <a:r>
              <a:rPr lang="en-US" sz="1000">
                <a:solidFill>
                  <a:srgbClr val="48CAE4"/>
                </a:solidFill>
                <a:latin typeface="Calibri"/>
                <a:ea typeface="Calibri"/>
                <a:cs typeface="Calibri"/>
                <a:sym typeface="Calibri"/>
              </a:rPr>
              <a:t>(yerel GPU)</a:t>
            </a:r>
            <a:endParaRPr sz="1000">
              <a:solidFill>
                <a:schemeClr val="dk1"/>
              </a:solidFill>
              <a:latin typeface="Calibri"/>
              <a:ea typeface="Calibri"/>
              <a:cs typeface="Calibri"/>
              <a:sym typeface="Calibri"/>
            </a:endParaRPr>
          </a:p>
        </p:txBody>
      </p:sp>
      <p:cxnSp>
        <p:nvCxnSpPr>
          <p:cNvPr id="68" name="Google Shape;68;p3"/>
          <p:cNvCxnSpPr/>
          <p:nvPr/>
        </p:nvCxnSpPr>
        <p:spPr>
          <a:xfrm>
            <a:off x="5852160" y="2514600"/>
            <a:ext cx="731520" cy="0"/>
          </a:xfrm>
          <a:prstGeom prst="straightConnector1">
            <a:avLst/>
          </a:prstGeom>
          <a:noFill/>
          <a:ln cap="flat" cmpd="sng" w="31750">
            <a:solidFill>
              <a:srgbClr val="00B4D8"/>
            </a:solidFill>
            <a:prstDash val="solid"/>
            <a:round/>
            <a:headEnd len="sm" w="sm" type="none"/>
            <a:tailEnd len="med" w="med" type="triangle"/>
          </a:ln>
        </p:spPr>
      </p:cxnSp>
      <p:sp>
        <p:nvSpPr>
          <p:cNvPr id="69" name="Google Shape;69;p3"/>
          <p:cNvSpPr/>
          <p:nvPr/>
        </p:nvSpPr>
        <p:spPr>
          <a:xfrm>
            <a:off x="6675120" y="1691640"/>
            <a:ext cx="2194560" cy="1645920"/>
          </a:xfrm>
          <a:prstGeom prst="rect">
            <a:avLst/>
          </a:prstGeom>
          <a:solidFill>
            <a:srgbClr val="132040"/>
          </a:solidFill>
          <a:ln cap="flat" cmpd="sng" w="19050">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6675120" y="1737360"/>
            <a:ext cx="21945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sz="2800">
              <a:solidFill>
                <a:schemeClr val="dk1"/>
              </a:solidFill>
              <a:latin typeface="Calibri"/>
              <a:ea typeface="Calibri"/>
              <a:cs typeface="Calibri"/>
              <a:sym typeface="Calibri"/>
            </a:endParaRPr>
          </a:p>
        </p:txBody>
      </p:sp>
      <p:sp>
        <p:nvSpPr>
          <p:cNvPr id="71" name="Google Shape;71;p3"/>
          <p:cNvSpPr/>
          <p:nvPr/>
        </p:nvSpPr>
        <p:spPr>
          <a:xfrm>
            <a:off x="6675120" y="2240280"/>
            <a:ext cx="21945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D6A0"/>
              </a:buClr>
              <a:buSzPts val="1100"/>
              <a:buFont typeface="Calibri"/>
              <a:buNone/>
            </a:pPr>
            <a:r>
              <a:rPr b="1" lang="en-US" sz="1100">
                <a:solidFill>
                  <a:srgbClr val="06D6A0"/>
                </a:solidFill>
                <a:latin typeface="Calibri"/>
                <a:ea typeface="Calibri"/>
                <a:cs typeface="Calibri"/>
                <a:sym typeface="Calibri"/>
              </a:rPr>
              <a:t>3 PROFESYONEL GÖRSEL</a:t>
            </a:r>
            <a:endParaRPr sz="1100">
              <a:solidFill>
                <a:schemeClr val="dk1"/>
              </a:solidFill>
              <a:latin typeface="Calibri"/>
              <a:ea typeface="Calibri"/>
              <a:cs typeface="Calibri"/>
              <a:sym typeface="Calibri"/>
            </a:endParaRPr>
          </a:p>
        </p:txBody>
      </p:sp>
      <p:sp>
        <p:nvSpPr>
          <p:cNvPr id="72" name="Google Shape;72;p3"/>
          <p:cNvSpPr/>
          <p:nvPr/>
        </p:nvSpPr>
        <p:spPr>
          <a:xfrm>
            <a:off x="6675120" y="2560320"/>
            <a:ext cx="21945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E"/>
              </a:buClr>
              <a:buSzPts val="1000"/>
              <a:buFont typeface="Calibri"/>
              <a:buNone/>
            </a:pPr>
            <a:r>
              <a:rPr lang="en-US" sz="1000">
                <a:solidFill>
                  <a:srgbClr val="B0C4DE"/>
                </a:solidFill>
                <a:latin typeface="Calibri"/>
                <a:ea typeface="Calibri"/>
                <a:cs typeface="Calibri"/>
                <a:sym typeface="Calibri"/>
              </a:rPr>
              <a:t>Ön · Yan · İzometrik</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B0C4DE"/>
              </a:buClr>
              <a:buSzPts val="1000"/>
              <a:buFont typeface="Calibri"/>
              <a:buNone/>
            </a:pPr>
            <a:r>
              <a:rPr lang="en-US" sz="1000">
                <a:solidFill>
                  <a:srgbClr val="B0C4DE"/>
                </a:solidFill>
                <a:latin typeface="Calibri"/>
                <a:ea typeface="Calibri"/>
                <a:cs typeface="Calibri"/>
                <a:sym typeface="Calibri"/>
              </a:rPr>
              <a:t>8K çözünürlük</a:t>
            </a:r>
            <a:endParaRPr sz="1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4"/>
          <p:cNvSpPr/>
          <p:nvPr/>
        </p:nvSpPr>
        <p:spPr>
          <a:xfrm>
            <a:off x="0" y="0"/>
            <a:ext cx="9144000" cy="73152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365760" y="0"/>
            <a:ext cx="8229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LİTERATÜR ARAŞTIRMASI</a:t>
            </a:r>
            <a:endParaRPr sz="2200">
              <a:solidFill>
                <a:schemeClr val="dk1"/>
              </a:solidFill>
              <a:latin typeface="Calibri"/>
              <a:ea typeface="Calibri"/>
              <a:cs typeface="Calibri"/>
              <a:sym typeface="Calibri"/>
            </a:endParaRPr>
          </a:p>
        </p:txBody>
      </p:sp>
      <p:sp>
        <p:nvSpPr>
          <p:cNvPr id="80" name="Google Shape;80;p4"/>
          <p:cNvSpPr/>
          <p:nvPr/>
        </p:nvSpPr>
        <p:spPr>
          <a:xfrm>
            <a:off x="274320" y="914400"/>
            <a:ext cx="4206240" cy="118872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274320" y="914400"/>
            <a:ext cx="64008" cy="118872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457200" y="98755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50"/>
              <a:buFont typeface="Calibri"/>
              <a:buNone/>
            </a:pPr>
            <a:r>
              <a:rPr b="1" lang="en-US" sz="1050">
                <a:solidFill>
                  <a:srgbClr val="0A1628"/>
                </a:solidFill>
                <a:latin typeface="Calibri"/>
                <a:ea typeface="Calibri"/>
                <a:cs typeface="Calibri"/>
                <a:sym typeface="Calibri"/>
              </a:rPr>
              <a:t>Lin ve ark. (2025) — Sell It Before You Make It</a:t>
            </a:r>
            <a:endParaRPr sz="1050">
              <a:solidFill>
                <a:schemeClr val="dk1"/>
              </a:solidFill>
              <a:latin typeface="Calibri"/>
              <a:ea typeface="Calibri"/>
              <a:cs typeface="Calibri"/>
              <a:sym typeface="Calibri"/>
            </a:endParaRPr>
          </a:p>
        </p:txBody>
      </p:sp>
      <p:sp>
        <p:nvSpPr>
          <p:cNvPr id="83" name="Google Shape;83;p4"/>
          <p:cNvSpPr/>
          <p:nvPr/>
        </p:nvSpPr>
        <p:spPr>
          <a:xfrm>
            <a:off x="457200" y="1316736"/>
            <a:ext cx="39319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00"/>
              <a:buFont typeface="Calibri"/>
              <a:buNone/>
            </a:pPr>
            <a:r>
              <a:rPr lang="en-US" sz="1000">
                <a:solidFill>
                  <a:srgbClr val="444444"/>
                </a:solidFill>
                <a:latin typeface="Calibri"/>
                <a:ea typeface="Calibri"/>
                <a:cs typeface="Calibri"/>
                <a:sym typeface="Calibri"/>
              </a:rPr>
              <a:t>PerFusion Reward + Diffusion ile tıklanma oranı %13 arttı.</a:t>
            </a:r>
            <a:endParaRPr sz="1000">
              <a:solidFill>
                <a:schemeClr val="dk1"/>
              </a:solidFill>
              <a:latin typeface="Calibri"/>
              <a:ea typeface="Calibri"/>
              <a:cs typeface="Calibri"/>
              <a:sym typeface="Calibri"/>
            </a:endParaRPr>
          </a:p>
        </p:txBody>
      </p:sp>
      <p:sp>
        <p:nvSpPr>
          <p:cNvPr id="84" name="Google Shape;84;p4"/>
          <p:cNvSpPr/>
          <p:nvPr/>
        </p:nvSpPr>
        <p:spPr>
          <a:xfrm>
            <a:off x="4709160" y="914400"/>
            <a:ext cx="4206240" cy="118872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4709160" y="914400"/>
            <a:ext cx="64008" cy="118872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4892040" y="98755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50"/>
              <a:buFont typeface="Calibri"/>
              <a:buNone/>
            </a:pPr>
            <a:r>
              <a:rPr b="1" lang="en-US" sz="1050">
                <a:solidFill>
                  <a:srgbClr val="0A1628"/>
                </a:solidFill>
                <a:latin typeface="Calibri"/>
                <a:ea typeface="Calibri"/>
                <a:cs typeface="Calibri"/>
                <a:sym typeface="Calibri"/>
              </a:rPr>
              <a:t>Malhi ve ark. (2025) — Preserving Product Fidelity</a:t>
            </a:r>
            <a:endParaRPr sz="1050">
              <a:solidFill>
                <a:schemeClr val="dk1"/>
              </a:solidFill>
              <a:latin typeface="Calibri"/>
              <a:ea typeface="Calibri"/>
              <a:cs typeface="Calibri"/>
              <a:sym typeface="Calibri"/>
            </a:endParaRPr>
          </a:p>
        </p:txBody>
      </p:sp>
      <p:sp>
        <p:nvSpPr>
          <p:cNvPr id="87" name="Google Shape;87;p4"/>
          <p:cNvSpPr/>
          <p:nvPr/>
        </p:nvSpPr>
        <p:spPr>
          <a:xfrm>
            <a:off x="4892040" y="1316736"/>
            <a:ext cx="39319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00"/>
              <a:buFont typeface="Calibri"/>
              <a:buNone/>
            </a:pPr>
            <a:r>
              <a:rPr lang="en-US" sz="1000">
                <a:solidFill>
                  <a:srgbClr val="444444"/>
                </a:solidFill>
                <a:latin typeface="Calibri"/>
                <a:ea typeface="Calibri"/>
                <a:cs typeface="Calibri"/>
                <a:sym typeface="Calibri"/>
              </a:rPr>
              <a:t>ABO veri seti üzerinde ürün kimliğini koruyarak bağlam dönüşümü.</a:t>
            </a:r>
            <a:endParaRPr sz="1000">
              <a:solidFill>
                <a:schemeClr val="dk1"/>
              </a:solidFill>
              <a:latin typeface="Calibri"/>
              <a:ea typeface="Calibri"/>
              <a:cs typeface="Calibri"/>
              <a:sym typeface="Calibri"/>
            </a:endParaRPr>
          </a:p>
        </p:txBody>
      </p:sp>
      <p:sp>
        <p:nvSpPr>
          <p:cNvPr id="88" name="Google Shape;88;p4"/>
          <p:cNvSpPr/>
          <p:nvPr/>
        </p:nvSpPr>
        <p:spPr>
          <a:xfrm>
            <a:off x="274320" y="2240280"/>
            <a:ext cx="4206240" cy="118872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274320" y="2240280"/>
            <a:ext cx="64008" cy="118872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457200" y="231343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50"/>
              <a:buFont typeface="Calibri"/>
              <a:buNone/>
            </a:pPr>
            <a:r>
              <a:rPr b="1" lang="en-US" sz="1050">
                <a:solidFill>
                  <a:srgbClr val="0A1628"/>
                </a:solidFill>
                <a:latin typeface="Calibri"/>
                <a:ea typeface="Calibri"/>
                <a:cs typeface="Calibri"/>
                <a:sym typeface="Calibri"/>
              </a:rPr>
              <a:t>Fan ve ark. (2022) — Automatic Product-Image Sequence</a:t>
            </a:r>
            <a:endParaRPr sz="1050">
              <a:solidFill>
                <a:schemeClr val="dk1"/>
              </a:solidFill>
              <a:latin typeface="Calibri"/>
              <a:ea typeface="Calibri"/>
              <a:cs typeface="Calibri"/>
              <a:sym typeface="Calibri"/>
            </a:endParaRPr>
          </a:p>
        </p:txBody>
      </p:sp>
      <p:sp>
        <p:nvSpPr>
          <p:cNvPr id="91" name="Google Shape;91;p4"/>
          <p:cNvSpPr/>
          <p:nvPr/>
        </p:nvSpPr>
        <p:spPr>
          <a:xfrm>
            <a:off x="457200" y="2642616"/>
            <a:ext cx="39319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00"/>
              <a:buFont typeface="Calibri"/>
              <a:buNone/>
            </a:pPr>
            <a:r>
              <a:rPr lang="en-US" sz="1000">
                <a:solidFill>
                  <a:srgbClr val="444444"/>
                </a:solidFill>
                <a:latin typeface="Calibri"/>
                <a:ea typeface="Calibri"/>
                <a:cs typeface="Calibri"/>
                <a:sym typeface="Calibri"/>
              </a:rPr>
              <a:t>JD.com verisiyle çok modlu görsel sıralama ve kalite değerlendirmesi.</a:t>
            </a:r>
            <a:endParaRPr sz="1000">
              <a:solidFill>
                <a:schemeClr val="dk1"/>
              </a:solidFill>
              <a:latin typeface="Calibri"/>
              <a:ea typeface="Calibri"/>
              <a:cs typeface="Calibri"/>
              <a:sym typeface="Calibri"/>
            </a:endParaRPr>
          </a:p>
        </p:txBody>
      </p:sp>
      <p:sp>
        <p:nvSpPr>
          <p:cNvPr id="92" name="Google Shape;92;p4"/>
          <p:cNvSpPr/>
          <p:nvPr/>
        </p:nvSpPr>
        <p:spPr>
          <a:xfrm>
            <a:off x="4709160" y="2240280"/>
            <a:ext cx="4206240" cy="118872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4709160" y="2240280"/>
            <a:ext cx="64008" cy="118872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4892040" y="231343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50"/>
              <a:buFont typeface="Calibri"/>
              <a:buNone/>
            </a:pPr>
            <a:r>
              <a:rPr b="1" lang="en-US" sz="1050">
                <a:solidFill>
                  <a:srgbClr val="0A1628"/>
                </a:solidFill>
                <a:latin typeface="Calibri"/>
                <a:ea typeface="Calibri"/>
                <a:cs typeface="Calibri"/>
                <a:sym typeface="Calibri"/>
              </a:rPr>
              <a:t>Wang ve ark. (2025) — E-Commerce Background Generation</a:t>
            </a:r>
            <a:endParaRPr sz="1050">
              <a:solidFill>
                <a:schemeClr val="dk1"/>
              </a:solidFill>
              <a:latin typeface="Calibri"/>
              <a:ea typeface="Calibri"/>
              <a:cs typeface="Calibri"/>
              <a:sym typeface="Calibri"/>
            </a:endParaRPr>
          </a:p>
        </p:txBody>
      </p:sp>
      <p:sp>
        <p:nvSpPr>
          <p:cNvPr id="95" name="Google Shape;95;p4"/>
          <p:cNvSpPr/>
          <p:nvPr/>
        </p:nvSpPr>
        <p:spPr>
          <a:xfrm>
            <a:off x="4892040" y="2642616"/>
            <a:ext cx="39319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00"/>
              <a:buFont typeface="Calibri"/>
              <a:buNone/>
            </a:pPr>
            <a:r>
              <a:rPr lang="en-US" sz="1000">
                <a:solidFill>
                  <a:srgbClr val="444444"/>
                </a:solidFill>
                <a:latin typeface="Calibri"/>
                <a:ea typeface="Calibri"/>
                <a:cs typeface="Calibri"/>
                <a:sym typeface="Calibri"/>
              </a:rPr>
              <a:t>Marka stiline uygun arka plan üretimi.</a:t>
            </a:r>
            <a:endParaRPr sz="1000">
              <a:solidFill>
                <a:schemeClr val="dk1"/>
              </a:solidFill>
              <a:latin typeface="Calibri"/>
              <a:ea typeface="Calibri"/>
              <a:cs typeface="Calibri"/>
              <a:sym typeface="Calibri"/>
            </a:endParaRPr>
          </a:p>
        </p:txBody>
      </p:sp>
      <p:sp>
        <p:nvSpPr>
          <p:cNvPr id="96" name="Google Shape;96;p4"/>
          <p:cNvSpPr/>
          <p:nvPr/>
        </p:nvSpPr>
        <p:spPr>
          <a:xfrm>
            <a:off x="274320" y="3566160"/>
            <a:ext cx="4206240" cy="118872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274320" y="3566160"/>
            <a:ext cx="64008" cy="118872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457200" y="363931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50"/>
              <a:buFont typeface="Calibri"/>
              <a:buNone/>
            </a:pPr>
            <a:r>
              <a:rPr b="1" lang="en-US" sz="1050">
                <a:solidFill>
                  <a:srgbClr val="0A1628"/>
                </a:solidFill>
                <a:latin typeface="Calibri"/>
                <a:ea typeface="Calibri"/>
                <a:cs typeface="Calibri"/>
                <a:sym typeface="Calibri"/>
              </a:rPr>
              <a:t>Zhang ve ark. (2025) — MOON: Generative MLLM</a:t>
            </a:r>
            <a:endParaRPr sz="1050">
              <a:solidFill>
                <a:schemeClr val="dk1"/>
              </a:solidFill>
              <a:latin typeface="Calibri"/>
              <a:ea typeface="Calibri"/>
              <a:cs typeface="Calibri"/>
              <a:sym typeface="Calibri"/>
            </a:endParaRPr>
          </a:p>
        </p:txBody>
      </p:sp>
      <p:sp>
        <p:nvSpPr>
          <p:cNvPr id="99" name="Google Shape;99;p4"/>
          <p:cNvSpPr/>
          <p:nvPr/>
        </p:nvSpPr>
        <p:spPr>
          <a:xfrm>
            <a:off x="457200" y="3968496"/>
            <a:ext cx="39319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00"/>
              <a:buFont typeface="Calibri"/>
              <a:buNone/>
            </a:pPr>
            <a:r>
              <a:rPr lang="en-US" sz="1000">
                <a:solidFill>
                  <a:srgbClr val="444444"/>
                </a:solidFill>
                <a:latin typeface="Calibri"/>
                <a:ea typeface="Calibri"/>
                <a:cs typeface="Calibri"/>
                <a:sym typeface="Calibri"/>
              </a:rPr>
              <a:t>Uzman karışımı mimarisiyle kapsamlı ürün anlama.</a:t>
            </a:r>
            <a:endParaRPr sz="1000">
              <a:solidFill>
                <a:schemeClr val="dk1"/>
              </a:solidFill>
              <a:latin typeface="Calibri"/>
              <a:ea typeface="Calibri"/>
              <a:cs typeface="Calibri"/>
              <a:sym typeface="Calibri"/>
            </a:endParaRPr>
          </a:p>
        </p:txBody>
      </p:sp>
      <p:sp>
        <p:nvSpPr>
          <p:cNvPr id="100" name="Google Shape;100;p4"/>
          <p:cNvSpPr/>
          <p:nvPr/>
        </p:nvSpPr>
        <p:spPr>
          <a:xfrm>
            <a:off x="4709160" y="3566160"/>
            <a:ext cx="4206240" cy="118872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4709160" y="3566160"/>
            <a:ext cx="64008" cy="118872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4892040" y="3639312"/>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50"/>
              <a:buFont typeface="Calibri"/>
              <a:buNone/>
            </a:pPr>
            <a:r>
              <a:rPr b="1" lang="en-US" sz="1050">
                <a:solidFill>
                  <a:srgbClr val="0A1628"/>
                </a:solidFill>
                <a:latin typeface="Calibri"/>
                <a:ea typeface="Calibri"/>
                <a:cs typeface="Calibri"/>
                <a:sym typeface="Calibri"/>
              </a:rPr>
              <a:t>Zhao ve ark. (2024) — Automated Product Description</a:t>
            </a:r>
            <a:endParaRPr sz="1050">
              <a:solidFill>
                <a:schemeClr val="dk1"/>
              </a:solidFill>
              <a:latin typeface="Calibri"/>
              <a:ea typeface="Calibri"/>
              <a:cs typeface="Calibri"/>
              <a:sym typeface="Calibri"/>
            </a:endParaRPr>
          </a:p>
        </p:txBody>
      </p:sp>
      <p:sp>
        <p:nvSpPr>
          <p:cNvPr id="103" name="Google Shape;103;p4"/>
          <p:cNvSpPr/>
          <p:nvPr/>
        </p:nvSpPr>
        <p:spPr>
          <a:xfrm>
            <a:off x="4892040" y="3968496"/>
            <a:ext cx="39319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00"/>
              <a:buFont typeface="Calibri"/>
              <a:buNone/>
            </a:pPr>
            <a:r>
              <a:rPr lang="en-US" sz="1000">
                <a:solidFill>
                  <a:srgbClr val="444444"/>
                </a:solidFill>
                <a:latin typeface="Calibri"/>
                <a:ea typeface="Calibri"/>
                <a:cs typeface="Calibri"/>
                <a:sym typeface="Calibri"/>
              </a:rPr>
              <a:t>CLIP/BLIP/OFA ince ayarıyla görsellerden otomatik açıklama üretimi.</a:t>
            </a:r>
            <a:endParaRPr sz="1000">
              <a:solidFill>
                <a:schemeClr val="dk1"/>
              </a:solidFill>
              <a:latin typeface="Calibri"/>
              <a:ea typeface="Calibri"/>
              <a:cs typeface="Calibri"/>
              <a:sym typeface="Calibri"/>
            </a:endParaRPr>
          </a:p>
        </p:txBody>
      </p:sp>
      <p:sp>
        <p:nvSpPr>
          <p:cNvPr id="104" name="Google Shape;104;p4"/>
          <p:cNvSpPr/>
          <p:nvPr/>
        </p:nvSpPr>
        <p:spPr>
          <a:xfrm>
            <a:off x="274320" y="4617720"/>
            <a:ext cx="8595360" cy="41148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457200" y="4617720"/>
            <a:ext cx="84124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100"/>
              <a:buFont typeface="Calibri"/>
              <a:buNone/>
            </a:pPr>
            <a:r>
              <a:rPr b="1" lang="en-US" sz="1100">
                <a:solidFill>
                  <a:srgbClr val="00B4D8"/>
                </a:solidFill>
                <a:latin typeface="Calibri"/>
                <a:ea typeface="Calibri"/>
                <a:cs typeface="Calibri"/>
                <a:sym typeface="Calibri"/>
              </a:rPr>
              <a:t>💡  Temel Bulgu: Çok modlu görsel-dil modelleri, görsel-metin uyumunda geleneksel diffusion modellerinden belirgin biçimde üstündür.</a:t>
            </a:r>
            <a:endParaRPr sz="1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10" name="Shape 110"/>
        <p:cNvGrpSpPr/>
        <p:nvPr/>
      </p:nvGrpSpPr>
      <p:grpSpPr>
        <a:xfrm>
          <a:off x="0" y="0"/>
          <a:ext cx="0" cy="0"/>
          <a:chOff x="0" y="0"/>
          <a:chExt cx="0" cy="0"/>
        </a:xfrm>
      </p:grpSpPr>
      <p:sp>
        <p:nvSpPr>
          <p:cNvPr id="111" name="Google Shape;111;p5"/>
          <p:cNvSpPr/>
          <p:nvPr/>
        </p:nvSpPr>
        <p:spPr>
          <a:xfrm>
            <a:off x="365760" y="182880"/>
            <a:ext cx="84124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1. AŞAMA: STABLE DIFFUSION 1.5 YAKLAŞIMI</a:t>
            </a:r>
            <a:endParaRPr sz="2200">
              <a:solidFill>
                <a:schemeClr val="dk1"/>
              </a:solidFill>
              <a:latin typeface="Calibri"/>
              <a:ea typeface="Calibri"/>
              <a:cs typeface="Calibri"/>
              <a:sym typeface="Calibri"/>
            </a:endParaRPr>
          </a:p>
        </p:txBody>
      </p:sp>
      <p:sp>
        <p:nvSpPr>
          <p:cNvPr id="112" name="Google Shape;112;p5"/>
          <p:cNvSpPr/>
          <p:nvPr/>
        </p:nvSpPr>
        <p:spPr>
          <a:xfrm>
            <a:off x="365760" y="713232"/>
            <a:ext cx="1371600" cy="4572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365760" y="86868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400"/>
              <a:buFont typeface="Calibri"/>
              <a:buNone/>
            </a:pPr>
            <a:r>
              <a:rPr b="1" lang="en-US" sz="1400">
                <a:solidFill>
                  <a:srgbClr val="B0C4DE"/>
                </a:solidFill>
                <a:latin typeface="Calibri"/>
                <a:ea typeface="Calibri"/>
                <a:cs typeface="Calibri"/>
                <a:sym typeface="Calibri"/>
              </a:rPr>
              <a:t>Planlanan 4 Katmanlı Mimari</a:t>
            </a:r>
            <a:endParaRPr sz="1400">
              <a:solidFill>
                <a:schemeClr val="dk1"/>
              </a:solidFill>
              <a:latin typeface="Calibri"/>
              <a:ea typeface="Calibri"/>
              <a:cs typeface="Calibri"/>
              <a:sym typeface="Calibri"/>
            </a:endParaRPr>
          </a:p>
        </p:txBody>
      </p:sp>
      <p:sp>
        <p:nvSpPr>
          <p:cNvPr id="114" name="Google Shape;114;p5"/>
          <p:cNvSpPr/>
          <p:nvPr/>
        </p:nvSpPr>
        <p:spPr>
          <a:xfrm>
            <a:off x="274320" y="1371600"/>
            <a:ext cx="8595360" cy="749808"/>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365760" y="1517904"/>
            <a:ext cx="457200" cy="457200"/>
          </a:xfrm>
          <a:prstGeom prst="ellipse">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365760" y="1517904"/>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400"/>
              <a:buFont typeface="Calibri"/>
              <a:buNone/>
            </a:pPr>
            <a:r>
              <a:rPr b="1" lang="en-US" sz="1400">
                <a:solidFill>
                  <a:srgbClr val="0A1628"/>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sp>
        <p:nvSpPr>
          <p:cNvPr id="117" name="Google Shape;117;p5"/>
          <p:cNvSpPr/>
          <p:nvPr/>
        </p:nvSpPr>
        <p:spPr>
          <a:xfrm>
            <a:off x="960120" y="1444752"/>
            <a:ext cx="76809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İstemci &amp; API Katmanı</a:t>
            </a:r>
            <a:endParaRPr sz="1300">
              <a:solidFill>
                <a:schemeClr val="dk1"/>
              </a:solidFill>
              <a:latin typeface="Calibri"/>
              <a:ea typeface="Calibri"/>
              <a:cs typeface="Calibri"/>
              <a:sym typeface="Calibri"/>
            </a:endParaRPr>
          </a:p>
        </p:txBody>
      </p:sp>
      <p:sp>
        <p:nvSpPr>
          <p:cNvPr id="118" name="Google Shape;118;p5"/>
          <p:cNvSpPr/>
          <p:nvPr/>
        </p:nvSpPr>
        <p:spPr>
          <a:xfrm>
            <a:off x="960120" y="173736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100"/>
              <a:buFont typeface="Calibri"/>
              <a:buNone/>
            </a:pPr>
            <a:r>
              <a:rPr lang="en-US" sz="1100">
                <a:solidFill>
                  <a:srgbClr val="B0C4DE"/>
                </a:solidFill>
                <a:latin typeface="Calibri"/>
                <a:ea typeface="Calibri"/>
                <a:cs typeface="Calibri"/>
                <a:sym typeface="Calibri"/>
              </a:rPr>
              <a:t>Kullanıcı ürün görselini ve talimatı iletir. FastAPI ile yönetilen istek katmanı.</a:t>
            </a:r>
            <a:endParaRPr sz="1100">
              <a:solidFill>
                <a:schemeClr val="dk1"/>
              </a:solidFill>
              <a:latin typeface="Calibri"/>
              <a:ea typeface="Calibri"/>
              <a:cs typeface="Calibri"/>
              <a:sym typeface="Calibri"/>
            </a:endParaRPr>
          </a:p>
        </p:txBody>
      </p:sp>
      <p:sp>
        <p:nvSpPr>
          <p:cNvPr id="119" name="Google Shape;119;p5"/>
          <p:cNvSpPr/>
          <p:nvPr/>
        </p:nvSpPr>
        <p:spPr>
          <a:xfrm>
            <a:off x="274320" y="2240280"/>
            <a:ext cx="8595360" cy="749808"/>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365760" y="2386584"/>
            <a:ext cx="457200" cy="457200"/>
          </a:xfrm>
          <a:prstGeom prst="ellipse">
            <a:avLst/>
          </a:prstGeom>
          <a:solidFill>
            <a:srgbClr val="48CA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365760" y="2386584"/>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400"/>
              <a:buFont typeface="Calibri"/>
              <a:buNone/>
            </a:pPr>
            <a:r>
              <a:rPr b="1" lang="en-US" sz="1400">
                <a:solidFill>
                  <a:srgbClr val="0A1628"/>
                </a:solidFill>
                <a:latin typeface="Calibri"/>
                <a:ea typeface="Calibri"/>
                <a:cs typeface="Calibri"/>
                <a:sym typeface="Calibri"/>
              </a:rPr>
              <a:t>2</a:t>
            </a:r>
            <a:endParaRPr sz="1400">
              <a:solidFill>
                <a:schemeClr val="dk1"/>
              </a:solidFill>
              <a:latin typeface="Calibri"/>
              <a:ea typeface="Calibri"/>
              <a:cs typeface="Calibri"/>
              <a:sym typeface="Calibri"/>
            </a:endParaRPr>
          </a:p>
        </p:txBody>
      </p:sp>
      <p:sp>
        <p:nvSpPr>
          <p:cNvPr id="122" name="Google Shape;122;p5"/>
          <p:cNvSpPr/>
          <p:nvPr/>
        </p:nvSpPr>
        <p:spPr>
          <a:xfrm>
            <a:off x="960120" y="2313432"/>
            <a:ext cx="76809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ComfyUI Katmanı</a:t>
            </a:r>
            <a:endParaRPr sz="1300">
              <a:solidFill>
                <a:schemeClr val="dk1"/>
              </a:solidFill>
              <a:latin typeface="Calibri"/>
              <a:ea typeface="Calibri"/>
              <a:cs typeface="Calibri"/>
              <a:sym typeface="Calibri"/>
            </a:endParaRPr>
          </a:p>
        </p:txBody>
      </p:sp>
      <p:sp>
        <p:nvSpPr>
          <p:cNvPr id="123" name="Google Shape;123;p5"/>
          <p:cNvSpPr/>
          <p:nvPr/>
        </p:nvSpPr>
        <p:spPr>
          <a:xfrm>
            <a:off x="960120" y="260604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100"/>
              <a:buFont typeface="Calibri"/>
              <a:buNone/>
            </a:pPr>
            <a:r>
              <a:rPr lang="en-US" sz="1100">
                <a:solidFill>
                  <a:srgbClr val="B0C4DE"/>
                </a:solidFill>
                <a:latin typeface="Calibri"/>
                <a:ea typeface="Calibri"/>
                <a:cs typeface="Calibri"/>
                <a:sym typeface="Calibri"/>
              </a:rPr>
              <a:t>Diffusion modellerine görsel ve parametre besleyen görsel programlama ortamı. CFG ve denoise ile kontrol.</a:t>
            </a:r>
            <a:endParaRPr sz="1100">
              <a:solidFill>
                <a:schemeClr val="dk1"/>
              </a:solidFill>
              <a:latin typeface="Calibri"/>
              <a:ea typeface="Calibri"/>
              <a:cs typeface="Calibri"/>
              <a:sym typeface="Calibri"/>
            </a:endParaRPr>
          </a:p>
        </p:txBody>
      </p:sp>
      <p:sp>
        <p:nvSpPr>
          <p:cNvPr id="124" name="Google Shape;124;p5"/>
          <p:cNvSpPr/>
          <p:nvPr/>
        </p:nvSpPr>
        <p:spPr>
          <a:xfrm>
            <a:off x="274320" y="3108960"/>
            <a:ext cx="8595360" cy="749808"/>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365760" y="3255264"/>
            <a:ext cx="457200" cy="457200"/>
          </a:xfrm>
          <a:prstGeom prst="ellipse">
            <a:avLst/>
          </a:prstGeom>
          <a:solidFill>
            <a:srgbClr val="B0C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365760" y="3255264"/>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400"/>
              <a:buFont typeface="Calibri"/>
              <a:buNone/>
            </a:pPr>
            <a:r>
              <a:rPr b="1" lang="en-US" sz="1400">
                <a:solidFill>
                  <a:srgbClr val="0A1628"/>
                </a:solidFill>
                <a:latin typeface="Calibri"/>
                <a:ea typeface="Calibri"/>
                <a:cs typeface="Calibri"/>
                <a:sym typeface="Calibri"/>
              </a:rPr>
              <a:t>3</a:t>
            </a:r>
            <a:endParaRPr sz="1400">
              <a:solidFill>
                <a:schemeClr val="dk1"/>
              </a:solidFill>
              <a:latin typeface="Calibri"/>
              <a:ea typeface="Calibri"/>
              <a:cs typeface="Calibri"/>
              <a:sym typeface="Calibri"/>
            </a:endParaRPr>
          </a:p>
        </p:txBody>
      </p:sp>
      <p:sp>
        <p:nvSpPr>
          <p:cNvPr id="127" name="Google Shape;127;p5"/>
          <p:cNvSpPr/>
          <p:nvPr/>
        </p:nvSpPr>
        <p:spPr>
          <a:xfrm>
            <a:off x="960120" y="3182112"/>
            <a:ext cx="76809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Diffusion Modeli Katmanı</a:t>
            </a:r>
            <a:endParaRPr sz="1300">
              <a:solidFill>
                <a:schemeClr val="dk1"/>
              </a:solidFill>
              <a:latin typeface="Calibri"/>
              <a:ea typeface="Calibri"/>
              <a:cs typeface="Calibri"/>
              <a:sym typeface="Calibri"/>
            </a:endParaRPr>
          </a:p>
        </p:txBody>
      </p:sp>
      <p:sp>
        <p:nvSpPr>
          <p:cNvPr id="128" name="Google Shape;128;p5"/>
          <p:cNvSpPr/>
          <p:nvPr/>
        </p:nvSpPr>
        <p:spPr>
          <a:xfrm>
            <a:off x="960120" y="347472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100"/>
              <a:buFont typeface="Calibri"/>
              <a:buNone/>
            </a:pPr>
            <a:r>
              <a:rPr lang="en-US" sz="1100">
                <a:solidFill>
                  <a:srgbClr val="B0C4DE"/>
                </a:solidFill>
                <a:latin typeface="Calibri"/>
                <a:ea typeface="Calibri"/>
                <a:cs typeface="Calibri"/>
                <a:sym typeface="Calibri"/>
              </a:rPr>
              <a:t>Stable Diffusion 1.5 (SD 1.5) ile başlayarak Juggernaut XL gibi özelleştirilmiş modellerle üretim.</a:t>
            </a:r>
            <a:endParaRPr sz="1100">
              <a:solidFill>
                <a:schemeClr val="dk1"/>
              </a:solidFill>
              <a:latin typeface="Calibri"/>
              <a:ea typeface="Calibri"/>
              <a:cs typeface="Calibri"/>
              <a:sym typeface="Calibri"/>
            </a:endParaRPr>
          </a:p>
        </p:txBody>
      </p:sp>
      <p:sp>
        <p:nvSpPr>
          <p:cNvPr id="129" name="Google Shape;129;p5"/>
          <p:cNvSpPr/>
          <p:nvPr/>
        </p:nvSpPr>
        <p:spPr>
          <a:xfrm>
            <a:off x="274320" y="3977640"/>
            <a:ext cx="8595360" cy="749808"/>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365760" y="4123944"/>
            <a:ext cx="457200" cy="457200"/>
          </a:xfrm>
          <a:prstGeom prst="ellipse">
            <a:avLst/>
          </a:prstGeom>
          <a:solidFill>
            <a:srgbClr val="9DB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365760" y="4123944"/>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400"/>
              <a:buFont typeface="Calibri"/>
              <a:buNone/>
            </a:pPr>
            <a:r>
              <a:rPr b="1" lang="en-US" sz="1400">
                <a:solidFill>
                  <a:srgbClr val="0A1628"/>
                </a:solidFill>
                <a:latin typeface="Calibri"/>
                <a:ea typeface="Calibri"/>
                <a:cs typeface="Calibri"/>
                <a:sym typeface="Calibri"/>
              </a:rPr>
              <a:t>4</a:t>
            </a:r>
            <a:endParaRPr sz="1400">
              <a:solidFill>
                <a:schemeClr val="dk1"/>
              </a:solidFill>
              <a:latin typeface="Calibri"/>
              <a:ea typeface="Calibri"/>
              <a:cs typeface="Calibri"/>
              <a:sym typeface="Calibri"/>
            </a:endParaRPr>
          </a:p>
        </p:txBody>
      </p:sp>
      <p:sp>
        <p:nvSpPr>
          <p:cNvPr id="132" name="Google Shape;132;p5"/>
          <p:cNvSpPr/>
          <p:nvPr/>
        </p:nvSpPr>
        <p:spPr>
          <a:xfrm>
            <a:off x="960120" y="4050792"/>
            <a:ext cx="76809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LoRA Katmanı</a:t>
            </a:r>
            <a:endParaRPr sz="1300">
              <a:solidFill>
                <a:schemeClr val="dk1"/>
              </a:solidFill>
              <a:latin typeface="Calibri"/>
              <a:ea typeface="Calibri"/>
              <a:cs typeface="Calibri"/>
              <a:sym typeface="Calibri"/>
            </a:endParaRPr>
          </a:p>
        </p:txBody>
      </p:sp>
      <p:sp>
        <p:nvSpPr>
          <p:cNvPr id="133" name="Google Shape;133;p5"/>
          <p:cNvSpPr/>
          <p:nvPr/>
        </p:nvSpPr>
        <p:spPr>
          <a:xfrm>
            <a:off x="960120" y="434340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100"/>
              <a:buFont typeface="Calibri"/>
              <a:buNone/>
            </a:pPr>
            <a:r>
              <a:rPr lang="en-US" sz="1100">
                <a:solidFill>
                  <a:srgbClr val="B0C4DE"/>
                </a:solidFill>
                <a:latin typeface="Calibri"/>
                <a:ea typeface="Calibri"/>
                <a:cs typeface="Calibri"/>
                <a:sym typeface="Calibri"/>
              </a:rPr>
              <a:t>Ana model ağırlıklarını değiştirmeksizin ürün tipine özgü stüdyo tarzı öğrenen adaptör dosyaları.</a:t>
            </a:r>
            <a:endParaRPr sz="1100">
              <a:solidFill>
                <a:schemeClr val="dk1"/>
              </a:solidFill>
              <a:latin typeface="Calibri"/>
              <a:ea typeface="Calibri"/>
              <a:cs typeface="Calibri"/>
              <a:sym typeface="Calibri"/>
            </a:endParaRPr>
          </a:p>
        </p:txBody>
      </p:sp>
      <p:sp>
        <p:nvSpPr>
          <p:cNvPr id="134" name="Google Shape;134;p5"/>
          <p:cNvSpPr/>
          <p:nvPr/>
        </p:nvSpPr>
        <p:spPr>
          <a:xfrm>
            <a:off x="365760" y="4818888"/>
            <a:ext cx="8412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8EAE"/>
              </a:buClr>
              <a:buSzPts val="1100"/>
              <a:buFont typeface="Calibri"/>
              <a:buNone/>
            </a:pPr>
            <a:r>
              <a:rPr i="1" lang="en-US" sz="1100">
                <a:solidFill>
                  <a:srgbClr val="6B8EAE"/>
                </a:solidFill>
                <a:latin typeface="Calibri"/>
                <a:ea typeface="Calibri"/>
                <a:cs typeface="Calibri"/>
                <a:sym typeface="Calibri"/>
              </a:rPr>
              <a:t>Değerlendirme kriterleri: FID (düşük = iyi) ve CLIP Score (yüksek = iyi)</a:t>
            </a:r>
            <a:endParaRPr sz="11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6"/>
          <p:cNvSpPr/>
          <p:nvPr/>
        </p:nvSpPr>
        <p:spPr>
          <a:xfrm>
            <a:off x="0" y="0"/>
            <a:ext cx="9144000" cy="731520"/>
          </a:xfrm>
          <a:prstGeom prst="rect">
            <a:avLst/>
          </a:prstGeom>
          <a:solidFill>
            <a:srgbClr val="7B00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365760" y="0"/>
            <a:ext cx="8229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DENEY SONUÇLARI: SD 1.5 YETERSİZ KALDI</a:t>
            </a:r>
            <a:endParaRPr sz="2000">
              <a:solidFill>
                <a:schemeClr val="dk1"/>
              </a:solidFill>
              <a:latin typeface="Calibri"/>
              <a:ea typeface="Calibri"/>
              <a:cs typeface="Calibri"/>
              <a:sym typeface="Calibri"/>
            </a:endParaRPr>
          </a:p>
        </p:txBody>
      </p:sp>
      <p:sp>
        <p:nvSpPr>
          <p:cNvPr id="142" name="Google Shape;142;p6"/>
          <p:cNvSpPr/>
          <p:nvPr/>
        </p:nvSpPr>
        <p:spPr>
          <a:xfrm>
            <a:off x="228600" y="914400"/>
            <a:ext cx="4251960" cy="1737360"/>
          </a:xfrm>
          <a:prstGeom prst="rect">
            <a:avLst/>
          </a:prstGeom>
          <a:solidFill>
            <a:srgbClr val="FFF5F5"/>
          </a:solidFill>
          <a:ln cap="flat" cmpd="sng" w="19050">
            <a:solidFill>
              <a:srgbClr val="FFCDD2"/>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228600" y="914400"/>
            <a:ext cx="73152" cy="1737360"/>
          </a:xfrm>
          <a:prstGeom prst="rect">
            <a:avLst/>
          </a:prstGeom>
          <a:solidFill>
            <a:srgbClr val="EF23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411480" y="1005840"/>
            <a:ext cx="3977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0020"/>
              </a:buClr>
              <a:buSzPts val="1200"/>
              <a:buFont typeface="Calibri"/>
              <a:buNone/>
            </a:pPr>
            <a:r>
              <a:rPr b="1" lang="en-US" sz="1200">
                <a:solidFill>
                  <a:srgbClr val="B00020"/>
                </a:solidFill>
                <a:latin typeface="Calibri"/>
                <a:ea typeface="Calibri"/>
                <a:cs typeface="Calibri"/>
                <a:sym typeface="Calibri"/>
              </a:rPr>
              <a:t>⚠️  Gürültü Problemi</a:t>
            </a:r>
            <a:endParaRPr sz="1200">
              <a:solidFill>
                <a:schemeClr val="dk1"/>
              </a:solidFill>
              <a:latin typeface="Calibri"/>
              <a:ea typeface="Calibri"/>
              <a:cs typeface="Calibri"/>
              <a:sym typeface="Calibri"/>
            </a:endParaRPr>
          </a:p>
        </p:txBody>
      </p:sp>
      <p:sp>
        <p:nvSpPr>
          <p:cNvPr id="145" name="Google Shape;145;p6"/>
          <p:cNvSpPr/>
          <p:nvPr/>
        </p:nvSpPr>
        <p:spPr>
          <a:xfrm>
            <a:off x="411480" y="1353312"/>
            <a:ext cx="39776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050"/>
              <a:buFont typeface="Calibri"/>
              <a:buNone/>
            </a:pPr>
            <a:r>
              <a:rPr lang="en-US" sz="1050">
                <a:solidFill>
                  <a:srgbClr val="333333"/>
                </a:solidFill>
                <a:latin typeface="Calibri"/>
                <a:ea typeface="Calibri"/>
                <a:cs typeface="Calibri"/>
                <a:sym typeface="Calibri"/>
              </a:rPr>
              <a:t>Denoise değeri yüksek tutulduğunda model girdi görselinden fazlasıyla uzaklaşarak yüksek gürültü oranlı, tanımsız çıktılar üretiyor. Ürünle ilgisi kalmayan görseller elde ediliyor.</a:t>
            </a:r>
            <a:endParaRPr sz="1050">
              <a:solidFill>
                <a:schemeClr val="dk1"/>
              </a:solidFill>
              <a:latin typeface="Calibri"/>
              <a:ea typeface="Calibri"/>
              <a:cs typeface="Calibri"/>
              <a:sym typeface="Calibri"/>
            </a:endParaRPr>
          </a:p>
        </p:txBody>
      </p:sp>
      <p:sp>
        <p:nvSpPr>
          <p:cNvPr id="146" name="Google Shape;146;p6"/>
          <p:cNvSpPr/>
          <p:nvPr/>
        </p:nvSpPr>
        <p:spPr>
          <a:xfrm>
            <a:off x="411480" y="2240280"/>
            <a:ext cx="3931920" cy="292608"/>
          </a:xfrm>
          <a:prstGeom prst="rect">
            <a:avLst/>
          </a:prstGeom>
          <a:solidFill>
            <a:srgbClr val="FF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457200" y="2240280"/>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0000"/>
              </a:buClr>
              <a:buSzPts val="1000"/>
              <a:buFont typeface="Calibri"/>
              <a:buNone/>
            </a:pPr>
            <a:r>
              <a:rPr b="1" lang="en-US" sz="1000">
                <a:solidFill>
                  <a:srgbClr val="990000"/>
                </a:solidFill>
                <a:latin typeface="Calibri"/>
                <a:ea typeface="Calibri"/>
                <a:cs typeface="Calibri"/>
                <a:sym typeface="Calibri"/>
              </a:rPr>
              <a:t>Denoise düşürüldü →  Dönüşüm yetersiz kaldı</a:t>
            </a:r>
            <a:endParaRPr sz="1000">
              <a:solidFill>
                <a:schemeClr val="dk1"/>
              </a:solidFill>
              <a:latin typeface="Calibri"/>
              <a:ea typeface="Calibri"/>
              <a:cs typeface="Calibri"/>
              <a:sym typeface="Calibri"/>
            </a:endParaRPr>
          </a:p>
        </p:txBody>
      </p:sp>
      <p:sp>
        <p:nvSpPr>
          <p:cNvPr id="148" name="Google Shape;148;p6"/>
          <p:cNvSpPr/>
          <p:nvPr/>
        </p:nvSpPr>
        <p:spPr>
          <a:xfrm>
            <a:off x="4709160" y="914400"/>
            <a:ext cx="4251960" cy="1737360"/>
          </a:xfrm>
          <a:prstGeom prst="rect">
            <a:avLst/>
          </a:prstGeom>
          <a:solidFill>
            <a:srgbClr val="FFF5F5"/>
          </a:solidFill>
          <a:ln cap="flat" cmpd="sng" w="19050">
            <a:solidFill>
              <a:srgbClr val="FFCDD2"/>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4709160" y="914400"/>
            <a:ext cx="73152" cy="1737360"/>
          </a:xfrm>
          <a:prstGeom prst="rect">
            <a:avLst/>
          </a:prstGeom>
          <a:solidFill>
            <a:srgbClr val="EF23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4892040" y="1005840"/>
            <a:ext cx="3977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0020"/>
              </a:buClr>
              <a:buSzPts val="1200"/>
              <a:buFont typeface="Calibri"/>
              <a:buNone/>
            </a:pPr>
            <a:r>
              <a:rPr b="1" lang="en-US" sz="1200">
                <a:solidFill>
                  <a:srgbClr val="B00020"/>
                </a:solidFill>
                <a:latin typeface="Calibri"/>
                <a:ea typeface="Calibri"/>
                <a:cs typeface="Calibri"/>
                <a:sym typeface="Calibri"/>
              </a:rPr>
              <a:t>⚠️  CFG Hassasiyet Sorunu</a:t>
            </a:r>
            <a:endParaRPr sz="1200">
              <a:solidFill>
                <a:schemeClr val="dk1"/>
              </a:solidFill>
              <a:latin typeface="Calibri"/>
              <a:ea typeface="Calibri"/>
              <a:cs typeface="Calibri"/>
              <a:sym typeface="Calibri"/>
            </a:endParaRPr>
          </a:p>
        </p:txBody>
      </p:sp>
      <p:sp>
        <p:nvSpPr>
          <p:cNvPr id="151" name="Google Shape;151;p6"/>
          <p:cNvSpPr/>
          <p:nvPr/>
        </p:nvSpPr>
        <p:spPr>
          <a:xfrm>
            <a:off x="4892040" y="1353312"/>
            <a:ext cx="39776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050"/>
              <a:buFont typeface="Calibri"/>
              <a:buNone/>
            </a:pPr>
            <a:r>
              <a:rPr lang="en-US" sz="1050">
                <a:solidFill>
                  <a:srgbClr val="333333"/>
                </a:solidFill>
                <a:latin typeface="Calibri"/>
                <a:ea typeface="Calibri"/>
                <a:cs typeface="Calibri"/>
                <a:sym typeface="Calibri"/>
              </a:rPr>
              <a:t>CFG çok düşük → model metin talimatını yoksayıyor, yalnızca girdi görseliine bağlı kalıyor. CFG çok yüksek → aşırı renk doygunluğu, yapay görünüm, ürün kimliği bozuluyor.</a:t>
            </a:r>
            <a:endParaRPr sz="1050">
              <a:solidFill>
                <a:schemeClr val="dk1"/>
              </a:solidFill>
              <a:latin typeface="Calibri"/>
              <a:ea typeface="Calibri"/>
              <a:cs typeface="Calibri"/>
              <a:sym typeface="Calibri"/>
            </a:endParaRPr>
          </a:p>
        </p:txBody>
      </p:sp>
      <p:sp>
        <p:nvSpPr>
          <p:cNvPr id="152" name="Google Shape;152;p6"/>
          <p:cNvSpPr/>
          <p:nvPr/>
        </p:nvSpPr>
        <p:spPr>
          <a:xfrm>
            <a:off x="4892040" y="2240280"/>
            <a:ext cx="3931920" cy="292608"/>
          </a:xfrm>
          <a:prstGeom prst="rect">
            <a:avLst/>
          </a:prstGeom>
          <a:solidFill>
            <a:srgbClr val="FF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4937760" y="2240280"/>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0000"/>
              </a:buClr>
              <a:buSzPts val="1000"/>
              <a:buFont typeface="Calibri"/>
              <a:buNone/>
            </a:pPr>
            <a:r>
              <a:rPr b="1" lang="en-US" sz="1000">
                <a:solidFill>
                  <a:srgbClr val="990000"/>
                </a:solidFill>
                <a:latin typeface="Calibri"/>
                <a:ea typeface="Calibri"/>
                <a:cs typeface="Calibri"/>
                <a:sym typeface="Calibri"/>
              </a:rPr>
              <a:t>Optimal nokta →  Hiçbir zaman bulunamadı</a:t>
            </a:r>
            <a:endParaRPr sz="1000">
              <a:solidFill>
                <a:schemeClr val="dk1"/>
              </a:solidFill>
              <a:latin typeface="Calibri"/>
              <a:ea typeface="Calibri"/>
              <a:cs typeface="Calibri"/>
              <a:sym typeface="Calibri"/>
            </a:endParaRPr>
          </a:p>
        </p:txBody>
      </p:sp>
      <p:sp>
        <p:nvSpPr>
          <p:cNvPr id="154" name="Google Shape;154;p6"/>
          <p:cNvSpPr/>
          <p:nvPr/>
        </p:nvSpPr>
        <p:spPr>
          <a:xfrm>
            <a:off x="228600" y="2880360"/>
            <a:ext cx="4251960" cy="1737360"/>
          </a:xfrm>
          <a:prstGeom prst="rect">
            <a:avLst/>
          </a:prstGeom>
          <a:solidFill>
            <a:srgbClr val="FFF5F5"/>
          </a:solidFill>
          <a:ln cap="flat" cmpd="sng" w="19050">
            <a:solidFill>
              <a:srgbClr val="FFCDD2"/>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228600" y="2880360"/>
            <a:ext cx="73152" cy="1737360"/>
          </a:xfrm>
          <a:prstGeom prst="rect">
            <a:avLst/>
          </a:prstGeom>
          <a:solidFill>
            <a:srgbClr val="EF23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411480" y="2971800"/>
            <a:ext cx="3977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0020"/>
              </a:buClr>
              <a:buSzPts val="1200"/>
              <a:buFont typeface="Calibri"/>
              <a:buNone/>
            </a:pPr>
            <a:r>
              <a:rPr b="1" lang="en-US" sz="1200">
                <a:solidFill>
                  <a:srgbClr val="B00020"/>
                </a:solidFill>
                <a:latin typeface="Calibri"/>
                <a:ea typeface="Calibri"/>
                <a:cs typeface="Calibri"/>
                <a:sym typeface="Calibri"/>
              </a:rPr>
              <a:t>⚠️  Mimari Uyumsuzluğu</a:t>
            </a:r>
            <a:endParaRPr sz="1200">
              <a:solidFill>
                <a:schemeClr val="dk1"/>
              </a:solidFill>
              <a:latin typeface="Calibri"/>
              <a:ea typeface="Calibri"/>
              <a:cs typeface="Calibri"/>
              <a:sym typeface="Calibri"/>
            </a:endParaRPr>
          </a:p>
        </p:txBody>
      </p:sp>
      <p:sp>
        <p:nvSpPr>
          <p:cNvPr id="157" name="Google Shape;157;p6"/>
          <p:cNvSpPr/>
          <p:nvPr/>
        </p:nvSpPr>
        <p:spPr>
          <a:xfrm>
            <a:off x="411480" y="3319272"/>
            <a:ext cx="39776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050"/>
              <a:buFont typeface="Calibri"/>
              <a:buNone/>
            </a:pPr>
            <a:r>
              <a:rPr lang="en-US" sz="1050">
                <a:solidFill>
                  <a:srgbClr val="333333"/>
                </a:solidFill>
                <a:latin typeface="Calibri"/>
                <a:ea typeface="Calibri"/>
                <a:cs typeface="Calibri"/>
                <a:sym typeface="Calibri"/>
              </a:rPr>
              <a:t>SD 1.5, görsel dönüştürme (image-to-image with identity preservation) görevi için tasarlanmamıştır. Ürün kimliğini korurken çevreyi yeniden yorumlama kapasitesi yapısal olarak kısıtlıdır.</a:t>
            </a:r>
            <a:endParaRPr sz="1050">
              <a:solidFill>
                <a:schemeClr val="dk1"/>
              </a:solidFill>
              <a:latin typeface="Calibri"/>
              <a:ea typeface="Calibri"/>
              <a:cs typeface="Calibri"/>
              <a:sym typeface="Calibri"/>
            </a:endParaRPr>
          </a:p>
        </p:txBody>
      </p:sp>
      <p:sp>
        <p:nvSpPr>
          <p:cNvPr id="158" name="Google Shape;158;p6"/>
          <p:cNvSpPr/>
          <p:nvPr/>
        </p:nvSpPr>
        <p:spPr>
          <a:xfrm>
            <a:off x="411480" y="4206240"/>
            <a:ext cx="3931920" cy="292608"/>
          </a:xfrm>
          <a:prstGeom prst="rect">
            <a:avLst/>
          </a:prstGeom>
          <a:solidFill>
            <a:srgbClr val="FF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457200" y="4206240"/>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0000"/>
              </a:buClr>
              <a:buSzPts val="1000"/>
              <a:buFont typeface="Calibri"/>
              <a:buNone/>
            </a:pPr>
            <a:r>
              <a:rPr b="1" lang="en-US" sz="1000">
                <a:solidFill>
                  <a:srgbClr val="990000"/>
                </a:solidFill>
                <a:latin typeface="Calibri"/>
                <a:ea typeface="Calibri"/>
                <a:cs typeface="Calibri"/>
                <a:sym typeface="Calibri"/>
              </a:rPr>
              <a:t>Model değiştirildi →  Flux / Qwen denenecek</a:t>
            </a:r>
            <a:endParaRPr sz="1000">
              <a:solidFill>
                <a:schemeClr val="dk1"/>
              </a:solidFill>
              <a:latin typeface="Calibri"/>
              <a:ea typeface="Calibri"/>
              <a:cs typeface="Calibri"/>
              <a:sym typeface="Calibri"/>
            </a:endParaRPr>
          </a:p>
        </p:txBody>
      </p:sp>
      <p:sp>
        <p:nvSpPr>
          <p:cNvPr id="160" name="Google Shape;160;p6"/>
          <p:cNvSpPr/>
          <p:nvPr/>
        </p:nvSpPr>
        <p:spPr>
          <a:xfrm>
            <a:off x="4709160" y="2880360"/>
            <a:ext cx="4251960" cy="1737360"/>
          </a:xfrm>
          <a:prstGeom prst="rect">
            <a:avLst/>
          </a:prstGeom>
          <a:solidFill>
            <a:srgbClr val="FFF5F5"/>
          </a:solidFill>
          <a:ln cap="flat" cmpd="sng" w="19050">
            <a:solidFill>
              <a:srgbClr val="FFCDD2"/>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p:nvPr/>
        </p:nvSpPr>
        <p:spPr>
          <a:xfrm>
            <a:off x="4709160" y="2880360"/>
            <a:ext cx="73152" cy="1737360"/>
          </a:xfrm>
          <a:prstGeom prst="rect">
            <a:avLst/>
          </a:prstGeom>
          <a:solidFill>
            <a:srgbClr val="EF23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4892040" y="2971800"/>
            <a:ext cx="39776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0020"/>
              </a:buClr>
              <a:buSzPts val="1200"/>
              <a:buFont typeface="Calibri"/>
              <a:buNone/>
            </a:pPr>
            <a:r>
              <a:rPr b="1" lang="en-US" sz="1200">
                <a:solidFill>
                  <a:srgbClr val="B00020"/>
                </a:solidFill>
                <a:latin typeface="Calibri"/>
                <a:ea typeface="Calibri"/>
                <a:cs typeface="Calibri"/>
                <a:sym typeface="Calibri"/>
              </a:rPr>
              <a:t>⚠️  Donanım Kısıtı</a:t>
            </a:r>
            <a:endParaRPr sz="1200">
              <a:solidFill>
                <a:schemeClr val="dk1"/>
              </a:solidFill>
              <a:latin typeface="Calibri"/>
              <a:ea typeface="Calibri"/>
              <a:cs typeface="Calibri"/>
              <a:sym typeface="Calibri"/>
            </a:endParaRPr>
          </a:p>
        </p:txBody>
      </p:sp>
      <p:sp>
        <p:nvSpPr>
          <p:cNvPr id="163" name="Google Shape;163;p6"/>
          <p:cNvSpPr/>
          <p:nvPr/>
        </p:nvSpPr>
        <p:spPr>
          <a:xfrm>
            <a:off x="4892040" y="3319272"/>
            <a:ext cx="39776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050"/>
              <a:buFont typeface="Calibri"/>
              <a:buNone/>
            </a:pPr>
            <a:r>
              <a:rPr lang="en-US" sz="1050">
                <a:solidFill>
                  <a:srgbClr val="333333"/>
                </a:solidFill>
                <a:latin typeface="Calibri"/>
                <a:ea typeface="Calibri"/>
                <a:cs typeface="Calibri"/>
                <a:sym typeface="Calibri"/>
              </a:rPr>
              <a:t>Flux Dev, Qwen Image Edit ve z-image-turbo modelleri indirildi ancak mevcut GPU kapasitesi bu büyük modelleri barındırmaya yetmedi. Anlamlı deney yürütülemedi.</a:t>
            </a:r>
            <a:endParaRPr sz="1050">
              <a:solidFill>
                <a:schemeClr val="dk1"/>
              </a:solidFill>
              <a:latin typeface="Calibri"/>
              <a:ea typeface="Calibri"/>
              <a:cs typeface="Calibri"/>
              <a:sym typeface="Calibri"/>
            </a:endParaRPr>
          </a:p>
        </p:txBody>
      </p:sp>
      <p:sp>
        <p:nvSpPr>
          <p:cNvPr id="164" name="Google Shape;164;p6"/>
          <p:cNvSpPr/>
          <p:nvPr/>
        </p:nvSpPr>
        <p:spPr>
          <a:xfrm>
            <a:off x="4892040" y="4206240"/>
            <a:ext cx="3931920" cy="292608"/>
          </a:xfrm>
          <a:prstGeom prst="rect">
            <a:avLst/>
          </a:prstGeom>
          <a:solidFill>
            <a:srgbClr val="FF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4937760" y="4206240"/>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0000"/>
              </a:buClr>
              <a:buSzPts val="1000"/>
              <a:buFont typeface="Calibri"/>
              <a:buNone/>
            </a:pPr>
            <a:r>
              <a:rPr b="1" lang="en-US" sz="1000">
                <a:solidFill>
                  <a:srgbClr val="990000"/>
                </a:solidFill>
                <a:latin typeface="Calibri"/>
                <a:ea typeface="Calibri"/>
                <a:cs typeface="Calibri"/>
                <a:sym typeface="Calibri"/>
              </a:rPr>
              <a:t>Karar →  Daha güçlü donanıma geçildi</a:t>
            </a:r>
            <a:endParaRPr sz="1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70" name="Shape 170"/>
        <p:cNvGrpSpPr/>
        <p:nvPr/>
      </p:nvGrpSpPr>
      <p:grpSpPr>
        <a:xfrm>
          <a:off x="0" y="0"/>
          <a:ext cx="0" cy="0"/>
          <a:chOff x="0" y="0"/>
          <a:chExt cx="0" cy="0"/>
        </a:xfrm>
      </p:grpSpPr>
      <p:sp>
        <p:nvSpPr>
          <p:cNvPr id="171" name="Google Shape;171;p7"/>
          <p:cNvSpPr/>
          <p:nvPr/>
        </p:nvSpPr>
        <p:spPr>
          <a:xfrm>
            <a:off x="365760" y="182880"/>
            <a:ext cx="84124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YÖNTEM DEĞİŞİKLİĞİ VE YENİ YAKLAŞIM</a:t>
            </a:r>
            <a:endParaRPr sz="2200">
              <a:solidFill>
                <a:schemeClr val="dk1"/>
              </a:solidFill>
              <a:latin typeface="Calibri"/>
              <a:ea typeface="Calibri"/>
              <a:cs typeface="Calibri"/>
              <a:sym typeface="Calibri"/>
            </a:endParaRPr>
          </a:p>
        </p:txBody>
      </p:sp>
      <p:sp>
        <p:nvSpPr>
          <p:cNvPr id="172" name="Google Shape;172;p7"/>
          <p:cNvSpPr/>
          <p:nvPr/>
        </p:nvSpPr>
        <p:spPr>
          <a:xfrm>
            <a:off x="365760" y="713232"/>
            <a:ext cx="1371600" cy="4572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274320" y="914400"/>
            <a:ext cx="3931920" cy="3474720"/>
          </a:xfrm>
          <a:prstGeom prst="rect">
            <a:avLst/>
          </a:prstGeom>
          <a:solidFill>
            <a:srgbClr val="1A0A0A"/>
          </a:solidFill>
          <a:ln cap="flat" cmpd="sng" w="25400">
            <a:solidFill>
              <a:srgbClr val="EF2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274320" y="960120"/>
            <a:ext cx="393192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F233C"/>
              </a:buClr>
              <a:buSzPts val="1300"/>
              <a:buFont typeface="Calibri"/>
              <a:buNone/>
            </a:pPr>
            <a:r>
              <a:rPr b="1" lang="en-US" sz="1300">
                <a:solidFill>
                  <a:srgbClr val="EF233C"/>
                </a:solidFill>
                <a:latin typeface="Calibri"/>
                <a:ea typeface="Calibri"/>
                <a:cs typeface="Calibri"/>
                <a:sym typeface="Calibri"/>
              </a:rPr>
              <a:t>❌  ÖNCEKI YAKLAŞIM</a:t>
            </a:r>
            <a:endParaRPr sz="1300">
              <a:solidFill>
                <a:schemeClr val="dk1"/>
              </a:solidFill>
              <a:latin typeface="Calibri"/>
              <a:ea typeface="Calibri"/>
              <a:cs typeface="Calibri"/>
              <a:sym typeface="Calibri"/>
            </a:endParaRPr>
          </a:p>
        </p:txBody>
      </p:sp>
      <p:sp>
        <p:nvSpPr>
          <p:cNvPr id="175" name="Google Shape;175;p7"/>
          <p:cNvSpPr/>
          <p:nvPr/>
        </p:nvSpPr>
        <p:spPr>
          <a:xfrm>
            <a:off x="457200" y="1463040"/>
            <a:ext cx="3566160" cy="26517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B0C4DE"/>
              </a:buClr>
              <a:buSzPts val="1200"/>
              <a:buFont typeface="Calibri"/>
              <a:buChar char="•"/>
            </a:pPr>
            <a:r>
              <a:rPr lang="en-US" sz="1200">
                <a:solidFill>
                  <a:srgbClr val="B0C4DE"/>
                </a:solidFill>
                <a:latin typeface="Calibri"/>
                <a:ea typeface="Calibri"/>
                <a:cs typeface="Calibri"/>
                <a:sym typeface="Calibri"/>
              </a:rPr>
              <a:t>Stable Diffusion 1.5 mimarisi</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B0C4DE"/>
              </a:buClr>
              <a:buSzPts val="1200"/>
              <a:buFont typeface="Calibri"/>
              <a:buChar char="•"/>
            </a:pPr>
            <a:r>
              <a:rPr lang="en-US" sz="1200">
                <a:solidFill>
                  <a:srgbClr val="B0C4DE"/>
                </a:solidFill>
                <a:latin typeface="Calibri"/>
                <a:ea typeface="Calibri"/>
                <a:cs typeface="Calibri"/>
                <a:sym typeface="Calibri"/>
              </a:rPr>
              <a:t>Görsel kimlik koruma yeteneği yok</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B0C4DE"/>
              </a:buClr>
              <a:buSzPts val="1200"/>
              <a:buFont typeface="Calibri"/>
              <a:buChar char="•"/>
            </a:pPr>
            <a:r>
              <a:rPr lang="en-US" sz="1200">
                <a:solidFill>
                  <a:srgbClr val="B0C4DE"/>
                </a:solidFill>
                <a:latin typeface="Calibri"/>
                <a:ea typeface="Calibri"/>
                <a:cs typeface="Calibri"/>
                <a:sym typeface="Calibri"/>
              </a:rPr>
              <a:t>Denoise / CFG dengesizliği</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B0C4DE"/>
              </a:buClr>
              <a:buSzPts val="1200"/>
              <a:buFont typeface="Calibri"/>
              <a:buChar char="•"/>
            </a:pPr>
            <a:r>
              <a:rPr lang="en-US" sz="1200">
                <a:solidFill>
                  <a:srgbClr val="B0C4DE"/>
                </a:solidFill>
                <a:latin typeface="Calibri"/>
                <a:ea typeface="Calibri"/>
                <a:cs typeface="Calibri"/>
                <a:sym typeface="Calibri"/>
              </a:rPr>
              <a:t>20–30 adım gereksinimi</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B0C4DE"/>
              </a:buClr>
              <a:buSzPts val="1200"/>
              <a:buFont typeface="Calibri"/>
              <a:buChar char="•"/>
            </a:pPr>
            <a:r>
              <a:rPr lang="en-US" sz="1200">
                <a:solidFill>
                  <a:srgbClr val="B0C4DE"/>
                </a:solidFill>
                <a:latin typeface="Calibri"/>
                <a:ea typeface="Calibri"/>
                <a:cs typeface="Calibri"/>
                <a:sym typeface="Calibri"/>
              </a:rPr>
              <a:t>Yetersiz donanımda takılı kalındı</a:t>
            </a:r>
            <a:endParaRPr sz="1200">
              <a:solidFill>
                <a:schemeClr val="dk1"/>
              </a:solidFill>
              <a:latin typeface="Calibri"/>
              <a:ea typeface="Calibri"/>
              <a:cs typeface="Calibri"/>
              <a:sym typeface="Calibri"/>
            </a:endParaRPr>
          </a:p>
        </p:txBody>
      </p:sp>
      <p:cxnSp>
        <p:nvCxnSpPr>
          <p:cNvPr id="176" name="Google Shape;176;p7"/>
          <p:cNvCxnSpPr/>
          <p:nvPr/>
        </p:nvCxnSpPr>
        <p:spPr>
          <a:xfrm>
            <a:off x="4343400" y="2651760"/>
            <a:ext cx="457200" cy="0"/>
          </a:xfrm>
          <a:prstGeom prst="straightConnector1">
            <a:avLst/>
          </a:prstGeom>
          <a:noFill/>
          <a:ln cap="flat" cmpd="sng" w="38100">
            <a:solidFill>
              <a:srgbClr val="00B4D8"/>
            </a:solidFill>
            <a:prstDash val="solid"/>
            <a:round/>
            <a:headEnd len="sm" w="sm" type="none"/>
            <a:tailEnd len="med" w="med" type="triangle"/>
          </a:ln>
        </p:spPr>
      </p:cxnSp>
      <p:sp>
        <p:nvSpPr>
          <p:cNvPr id="177" name="Google Shape;177;p7"/>
          <p:cNvSpPr/>
          <p:nvPr/>
        </p:nvSpPr>
        <p:spPr>
          <a:xfrm>
            <a:off x="4937760" y="914400"/>
            <a:ext cx="3931920" cy="3474720"/>
          </a:xfrm>
          <a:prstGeom prst="rect">
            <a:avLst/>
          </a:prstGeom>
          <a:solidFill>
            <a:srgbClr val="001A0F"/>
          </a:solidFill>
          <a:ln cap="flat" cmpd="sng" w="25400">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4937760" y="960120"/>
            <a:ext cx="393192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D6A0"/>
              </a:buClr>
              <a:buSzPts val="1300"/>
              <a:buFont typeface="Calibri"/>
              <a:buNone/>
            </a:pPr>
            <a:r>
              <a:rPr b="1" lang="en-US" sz="1300">
                <a:solidFill>
                  <a:srgbClr val="06D6A0"/>
                </a:solidFill>
                <a:latin typeface="Calibri"/>
                <a:ea typeface="Calibri"/>
                <a:cs typeface="Calibri"/>
                <a:sym typeface="Calibri"/>
              </a:rPr>
              <a:t>✅  YENİ YAKLAŞIM</a:t>
            </a:r>
            <a:endParaRPr sz="1300">
              <a:solidFill>
                <a:schemeClr val="dk1"/>
              </a:solidFill>
              <a:latin typeface="Calibri"/>
              <a:ea typeface="Calibri"/>
              <a:cs typeface="Calibri"/>
              <a:sym typeface="Calibri"/>
            </a:endParaRPr>
          </a:p>
        </p:txBody>
      </p:sp>
      <p:sp>
        <p:nvSpPr>
          <p:cNvPr id="179" name="Google Shape;179;p7"/>
          <p:cNvSpPr/>
          <p:nvPr/>
        </p:nvSpPr>
        <p:spPr>
          <a:xfrm>
            <a:off x="5120640" y="1463040"/>
            <a:ext cx="3566160" cy="26517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B0C4DE"/>
              </a:buClr>
              <a:buSzPts val="1200"/>
              <a:buFont typeface="Calibri"/>
              <a:buChar char="•"/>
            </a:pPr>
            <a:r>
              <a:rPr lang="en-US" sz="1200">
                <a:solidFill>
                  <a:srgbClr val="B0C4DE"/>
                </a:solidFill>
                <a:latin typeface="Calibri"/>
                <a:ea typeface="Calibri"/>
                <a:cs typeface="Calibri"/>
                <a:sym typeface="Calibri"/>
              </a:rPr>
              <a:t>Qwen Image Edit (Alibaba / Qwen 2.5 VL)</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B0C4DE"/>
              </a:buClr>
              <a:buSzPts val="1200"/>
              <a:buFont typeface="Calibri"/>
              <a:buChar char="•"/>
            </a:pPr>
            <a:r>
              <a:rPr lang="en-US" sz="1200">
                <a:solidFill>
                  <a:srgbClr val="B0C4DE"/>
                </a:solidFill>
                <a:latin typeface="Calibri"/>
                <a:ea typeface="Calibri"/>
                <a:cs typeface="Calibri"/>
                <a:sym typeface="Calibri"/>
              </a:rPr>
              <a:t>Görsel-dil anlama + kimlik koruma</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B0C4DE"/>
              </a:buClr>
              <a:buSzPts val="1200"/>
              <a:buFont typeface="Calibri"/>
              <a:buChar char="•"/>
            </a:pPr>
            <a:r>
              <a:rPr lang="en-US" sz="1200">
                <a:solidFill>
                  <a:srgbClr val="B0C4DE"/>
                </a:solidFill>
                <a:latin typeface="Calibri"/>
                <a:ea typeface="Calibri"/>
                <a:cs typeface="Calibri"/>
                <a:sym typeface="Calibri"/>
              </a:rPr>
              <a:t>Lightning LoRA ile 4 adımda üretim</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B0C4DE"/>
              </a:buClr>
              <a:buSzPts val="1200"/>
              <a:buFont typeface="Calibri"/>
              <a:buChar char="•"/>
            </a:pPr>
            <a:r>
              <a:rPr lang="en-US" sz="1200">
                <a:solidFill>
                  <a:srgbClr val="B0C4DE"/>
                </a:solidFill>
                <a:latin typeface="Calibri"/>
                <a:ea typeface="Calibri"/>
                <a:cs typeface="Calibri"/>
                <a:sym typeface="Calibri"/>
              </a:rPr>
              <a:t>Daha güçlü GPU'ya geçiş yapıldı</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B0C4DE"/>
              </a:buClr>
              <a:buSzPts val="1200"/>
              <a:buFont typeface="Calibri"/>
              <a:buChar char="•"/>
            </a:pPr>
            <a:r>
              <a:rPr lang="en-US" sz="1200">
                <a:solidFill>
                  <a:srgbClr val="B0C4DE"/>
                </a:solidFill>
                <a:latin typeface="Calibri"/>
                <a:ea typeface="Calibri"/>
                <a:cs typeface="Calibri"/>
                <a:sym typeface="Calibri"/>
              </a:rPr>
              <a:t>ComfyUI ile optimize edilmiş pipeline</a:t>
            </a:r>
            <a:endParaRPr sz="1200">
              <a:solidFill>
                <a:schemeClr val="dk1"/>
              </a:solidFill>
              <a:latin typeface="Calibri"/>
              <a:ea typeface="Calibri"/>
              <a:cs typeface="Calibri"/>
              <a:sym typeface="Calibri"/>
            </a:endParaRPr>
          </a:p>
        </p:txBody>
      </p:sp>
      <p:sp>
        <p:nvSpPr>
          <p:cNvPr id="180" name="Google Shape;180;p7"/>
          <p:cNvSpPr/>
          <p:nvPr/>
        </p:nvSpPr>
        <p:spPr>
          <a:xfrm>
            <a:off x="365760" y="4572000"/>
            <a:ext cx="84124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8EAE"/>
              </a:buClr>
              <a:buSzPts val="1200"/>
              <a:buFont typeface="Calibri"/>
              <a:buNone/>
            </a:pPr>
            <a:r>
              <a:rPr i="1" lang="en-US" sz="1200">
                <a:solidFill>
                  <a:srgbClr val="6B8EAE"/>
                </a:solidFill>
                <a:latin typeface="Calibri"/>
                <a:ea typeface="Calibri"/>
                <a:cs typeface="Calibri"/>
                <a:sym typeface="Calibri"/>
              </a:rPr>
              <a:t>M</a:t>
            </a:r>
            <a:r>
              <a:rPr i="1" lang="en-US" sz="1200">
                <a:solidFill>
                  <a:srgbClr val="6B8EAE"/>
                </a:solidFill>
                <a:latin typeface="Calibri"/>
                <a:ea typeface="Calibri"/>
                <a:cs typeface="Calibri"/>
                <a:sym typeface="Calibri"/>
              </a:rPr>
              <a:t>odel ve mimari değişikliği ile proje ikinci aşamaya taşındı</a:t>
            </a: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8"/>
          <p:cNvSpPr/>
          <p:nvPr/>
        </p:nvSpPr>
        <p:spPr>
          <a:xfrm>
            <a:off x="0" y="0"/>
            <a:ext cx="9144000" cy="73152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365760" y="0"/>
            <a:ext cx="8229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QWEN IMAGE EDIT MODELİ</a:t>
            </a:r>
            <a:endParaRPr sz="2200">
              <a:solidFill>
                <a:schemeClr val="dk1"/>
              </a:solidFill>
              <a:latin typeface="Calibri"/>
              <a:ea typeface="Calibri"/>
              <a:cs typeface="Calibri"/>
              <a:sym typeface="Calibri"/>
            </a:endParaRPr>
          </a:p>
        </p:txBody>
      </p:sp>
      <p:sp>
        <p:nvSpPr>
          <p:cNvPr id="188" name="Google Shape;188;p8"/>
          <p:cNvSpPr/>
          <p:nvPr/>
        </p:nvSpPr>
        <p:spPr>
          <a:xfrm>
            <a:off x="365760" y="868680"/>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600"/>
              <a:buFont typeface="Calibri"/>
              <a:buNone/>
            </a:pPr>
            <a:r>
              <a:rPr b="1" lang="en-US" sz="1600">
                <a:solidFill>
                  <a:srgbClr val="0A1628"/>
                </a:solidFill>
                <a:latin typeface="Calibri"/>
                <a:ea typeface="Calibri"/>
                <a:cs typeface="Calibri"/>
                <a:sym typeface="Calibri"/>
              </a:rPr>
              <a:t>Nedir?</a:t>
            </a:r>
            <a:endParaRPr sz="1600">
              <a:solidFill>
                <a:schemeClr val="dk1"/>
              </a:solidFill>
              <a:latin typeface="Calibri"/>
              <a:ea typeface="Calibri"/>
              <a:cs typeface="Calibri"/>
              <a:sym typeface="Calibri"/>
            </a:endParaRPr>
          </a:p>
        </p:txBody>
      </p:sp>
      <p:sp>
        <p:nvSpPr>
          <p:cNvPr id="189" name="Google Shape;189;p8"/>
          <p:cNvSpPr/>
          <p:nvPr/>
        </p:nvSpPr>
        <p:spPr>
          <a:xfrm>
            <a:off x="365760" y="1234440"/>
            <a:ext cx="512064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50"/>
              <a:buFont typeface="Calibri"/>
              <a:buNone/>
            </a:pPr>
            <a:r>
              <a:rPr lang="en-US" sz="1250">
                <a:solidFill>
                  <a:srgbClr val="333333"/>
                </a:solidFill>
                <a:latin typeface="Calibri"/>
                <a:ea typeface="Calibri"/>
                <a:cs typeface="Calibri"/>
                <a:sym typeface="Calibri"/>
              </a:rPr>
              <a:t>Qwen Image Edit, Alibaba'nın Qwen 2.5 Vision-Language modelinden türetilmiş bir görsel düzenleme yapay zekasıdır. Model bir görsel ve metin talimatı aldığında, görseli talimata uygun biçimde ürün kimliğini koruyarak yeniden oluşturur.</a:t>
            </a:r>
            <a:endParaRPr sz="1250">
              <a:solidFill>
                <a:schemeClr val="dk1"/>
              </a:solidFill>
              <a:latin typeface="Calibri"/>
              <a:ea typeface="Calibri"/>
              <a:cs typeface="Calibri"/>
              <a:sym typeface="Calibri"/>
            </a:endParaRPr>
          </a:p>
        </p:txBody>
      </p:sp>
      <p:sp>
        <p:nvSpPr>
          <p:cNvPr id="190" name="Google Shape;190;p8"/>
          <p:cNvSpPr/>
          <p:nvPr/>
        </p:nvSpPr>
        <p:spPr>
          <a:xfrm>
            <a:off x="365760" y="2331720"/>
            <a:ext cx="5120640" cy="731520"/>
          </a:xfrm>
          <a:prstGeom prst="rect">
            <a:avLst/>
          </a:prstGeom>
          <a:solidFill>
            <a:srgbClr val="F0F4FF"/>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548640" y="2377440"/>
            <a:ext cx="48463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  Temel Hedef: Ürünün şekli, rengi, logosu ve dokusu korunurken arkaplan, ışıklandırma ve kompozisyon tamamen yeniden yaratılabilir.</a:t>
            </a:r>
            <a:endParaRPr sz="1200">
              <a:solidFill>
                <a:schemeClr val="dk1"/>
              </a:solidFill>
              <a:latin typeface="Calibri"/>
              <a:ea typeface="Calibri"/>
              <a:cs typeface="Calibri"/>
              <a:sym typeface="Calibri"/>
            </a:endParaRPr>
          </a:p>
        </p:txBody>
      </p:sp>
      <p:sp>
        <p:nvSpPr>
          <p:cNvPr id="192" name="Google Shape;192;p8"/>
          <p:cNvSpPr/>
          <p:nvPr/>
        </p:nvSpPr>
        <p:spPr>
          <a:xfrm>
            <a:off x="365760" y="3200400"/>
            <a:ext cx="51206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400"/>
              <a:buFont typeface="Calibri"/>
              <a:buNone/>
            </a:pPr>
            <a:r>
              <a:rPr b="1" lang="en-US" sz="1400">
                <a:solidFill>
                  <a:srgbClr val="0A1628"/>
                </a:solidFill>
                <a:latin typeface="Calibri"/>
                <a:ea typeface="Calibri"/>
                <a:cs typeface="Calibri"/>
                <a:sym typeface="Calibri"/>
              </a:rPr>
              <a:t>Neden SD 1.5'ten Üstün?</a:t>
            </a:r>
            <a:endParaRPr sz="1400">
              <a:solidFill>
                <a:schemeClr val="dk1"/>
              </a:solidFill>
              <a:latin typeface="Calibri"/>
              <a:ea typeface="Calibri"/>
              <a:cs typeface="Calibri"/>
              <a:sym typeface="Calibri"/>
            </a:endParaRPr>
          </a:p>
        </p:txBody>
      </p:sp>
      <p:sp>
        <p:nvSpPr>
          <p:cNvPr id="193" name="Google Shape;193;p8"/>
          <p:cNvSpPr/>
          <p:nvPr/>
        </p:nvSpPr>
        <p:spPr>
          <a:xfrm>
            <a:off x="365760" y="3584448"/>
            <a:ext cx="5120640" cy="11887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3333"/>
              </a:buClr>
              <a:buSzPts val="1200"/>
              <a:buFont typeface="Calibri"/>
              <a:buChar char="•"/>
            </a:pPr>
            <a:r>
              <a:rPr lang="en-US" sz="1200">
                <a:solidFill>
                  <a:srgbClr val="333333"/>
                </a:solidFill>
                <a:latin typeface="Calibri"/>
                <a:ea typeface="Calibri"/>
                <a:cs typeface="Calibri"/>
                <a:sym typeface="Calibri"/>
              </a:rPr>
              <a:t>Metin talimatını tam bir dil modeli kapasitesiyle anlar</a:t>
            </a:r>
            <a:endParaRPr sz="1200">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200"/>
              <a:buFont typeface="Calibri"/>
              <a:buChar char="•"/>
            </a:pPr>
            <a:r>
              <a:rPr lang="en-US" sz="1200">
                <a:solidFill>
                  <a:srgbClr val="333333"/>
                </a:solidFill>
                <a:latin typeface="Calibri"/>
                <a:ea typeface="Calibri"/>
                <a:cs typeface="Calibri"/>
                <a:sym typeface="Calibri"/>
              </a:rPr>
              <a:t>Referans görseli içerik referansı olarak işler, salt başlangıç noktası değil</a:t>
            </a:r>
            <a:endParaRPr sz="1200">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200"/>
              <a:buFont typeface="Calibri"/>
              <a:buChar char="•"/>
            </a:pPr>
            <a:r>
              <a:rPr lang="en-US" sz="1200">
                <a:solidFill>
                  <a:srgbClr val="333333"/>
                </a:solidFill>
                <a:latin typeface="Calibri"/>
                <a:ea typeface="Calibri"/>
                <a:cs typeface="Calibri"/>
                <a:sym typeface="Calibri"/>
              </a:rPr>
              <a:t>4 adımda yüksek kaliteli üretim (Lightning LoRA ile)</a:t>
            </a:r>
            <a:endParaRPr sz="1200">
              <a:solidFill>
                <a:schemeClr val="dk1"/>
              </a:solidFill>
              <a:latin typeface="Calibri"/>
              <a:ea typeface="Calibri"/>
              <a:cs typeface="Calibri"/>
              <a:sym typeface="Calibri"/>
            </a:endParaRPr>
          </a:p>
        </p:txBody>
      </p:sp>
      <p:sp>
        <p:nvSpPr>
          <p:cNvPr id="194" name="Google Shape;194;p8"/>
          <p:cNvSpPr/>
          <p:nvPr/>
        </p:nvSpPr>
        <p:spPr>
          <a:xfrm>
            <a:off x="5852160" y="822960"/>
            <a:ext cx="3063240" cy="4114800"/>
          </a:xfrm>
          <a:prstGeom prst="rect">
            <a:avLst/>
          </a:prstGeom>
          <a:solidFill>
            <a:srgbClr val="0A1628"/>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a:off x="6035040" y="960120"/>
            <a:ext cx="26517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100"/>
              <a:buFont typeface="Calibri"/>
              <a:buNone/>
            </a:pPr>
            <a:r>
              <a:rPr b="1" lang="en-US" sz="1100">
                <a:solidFill>
                  <a:srgbClr val="00B4D8"/>
                </a:solidFill>
                <a:latin typeface="Calibri"/>
                <a:ea typeface="Calibri"/>
                <a:cs typeface="Calibri"/>
                <a:sym typeface="Calibri"/>
              </a:rPr>
              <a:t>MODEL BİLGİSİ</a:t>
            </a:r>
            <a:endParaRPr sz="1100">
              <a:solidFill>
                <a:schemeClr val="dk1"/>
              </a:solidFill>
              <a:latin typeface="Calibri"/>
              <a:ea typeface="Calibri"/>
              <a:cs typeface="Calibri"/>
              <a:sym typeface="Calibri"/>
            </a:endParaRPr>
          </a:p>
        </p:txBody>
      </p:sp>
      <p:sp>
        <p:nvSpPr>
          <p:cNvPr id="196" name="Google Shape;196;p8"/>
          <p:cNvSpPr/>
          <p:nvPr/>
        </p:nvSpPr>
        <p:spPr>
          <a:xfrm>
            <a:off x="5989320" y="1417320"/>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8EAE"/>
              </a:buClr>
              <a:buSzPts val="1000"/>
              <a:buFont typeface="Calibri"/>
              <a:buNone/>
            </a:pPr>
            <a:r>
              <a:rPr lang="en-US" sz="1000">
                <a:solidFill>
                  <a:srgbClr val="6B8EAE"/>
                </a:solidFill>
                <a:latin typeface="Calibri"/>
                <a:ea typeface="Calibri"/>
                <a:cs typeface="Calibri"/>
                <a:sym typeface="Calibri"/>
              </a:rPr>
              <a:t>Geliştirici</a:t>
            </a:r>
            <a:endParaRPr sz="1000">
              <a:solidFill>
                <a:schemeClr val="dk1"/>
              </a:solidFill>
              <a:latin typeface="Calibri"/>
              <a:ea typeface="Calibri"/>
              <a:cs typeface="Calibri"/>
              <a:sym typeface="Calibri"/>
            </a:endParaRPr>
          </a:p>
        </p:txBody>
      </p:sp>
      <p:sp>
        <p:nvSpPr>
          <p:cNvPr id="197" name="Google Shape;197;p8"/>
          <p:cNvSpPr/>
          <p:nvPr/>
        </p:nvSpPr>
        <p:spPr>
          <a:xfrm>
            <a:off x="7360920" y="1417320"/>
            <a:ext cx="14173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Alibaba / Qwen Team</a:t>
            </a:r>
            <a:endParaRPr sz="1050">
              <a:solidFill>
                <a:schemeClr val="dk1"/>
              </a:solidFill>
              <a:latin typeface="Calibri"/>
              <a:ea typeface="Calibri"/>
              <a:cs typeface="Calibri"/>
              <a:sym typeface="Calibri"/>
            </a:endParaRPr>
          </a:p>
        </p:txBody>
      </p:sp>
      <p:sp>
        <p:nvSpPr>
          <p:cNvPr id="198" name="Google Shape;198;p8"/>
          <p:cNvSpPr/>
          <p:nvPr/>
        </p:nvSpPr>
        <p:spPr>
          <a:xfrm>
            <a:off x="5989320" y="1874520"/>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8EAE"/>
              </a:buClr>
              <a:buSzPts val="1000"/>
              <a:buFont typeface="Calibri"/>
              <a:buNone/>
            </a:pPr>
            <a:r>
              <a:rPr lang="en-US" sz="1000">
                <a:solidFill>
                  <a:srgbClr val="6B8EAE"/>
                </a:solidFill>
                <a:latin typeface="Calibri"/>
                <a:ea typeface="Calibri"/>
                <a:cs typeface="Calibri"/>
                <a:sym typeface="Calibri"/>
              </a:rPr>
              <a:t>Temel mimari</a:t>
            </a:r>
            <a:endParaRPr sz="1000">
              <a:solidFill>
                <a:schemeClr val="dk1"/>
              </a:solidFill>
              <a:latin typeface="Calibri"/>
              <a:ea typeface="Calibri"/>
              <a:cs typeface="Calibri"/>
              <a:sym typeface="Calibri"/>
            </a:endParaRPr>
          </a:p>
        </p:txBody>
      </p:sp>
      <p:sp>
        <p:nvSpPr>
          <p:cNvPr id="199" name="Google Shape;199;p8"/>
          <p:cNvSpPr/>
          <p:nvPr/>
        </p:nvSpPr>
        <p:spPr>
          <a:xfrm>
            <a:off x="7360920" y="1874520"/>
            <a:ext cx="14173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Qwen 2.5-VL 7B</a:t>
            </a:r>
            <a:endParaRPr sz="1050">
              <a:solidFill>
                <a:schemeClr val="dk1"/>
              </a:solidFill>
              <a:latin typeface="Calibri"/>
              <a:ea typeface="Calibri"/>
              <a:cs typeface="Calibri"/>
              <a:sym typeface="Calibri"/>
            </a:endParaRPr>
          </a:p>
        </p:txBody>
      </p:sp>
      <p:sp>
        <p:nvSpPr>
          <p:cNvPr id="200" name="Google Shape;200;p8"/>
          <p:cNvSpPr/>
          <p:nvPr/>
        </p:nvSpPr>
        <p:spPr>
          <a:xfrm>
            <a:off x="5989320" y="2331720"/>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8EAE"/>
              </a:buClr>
              <a:buSzPts val="1000"/>
              <a:buFont typeface="Calibri"/>
              <a:buNone/>
            </a:pPr>
            <a:r>
              <a:rPr lang="en-US" sz="1000">
                <a:solidFill>
                  <a:srgbClr val="6B8EAE"/>
                </a:solidFill>
                <a:latin typeface="Calibri"/>
                <a:ea typeface="Calibri"/>
                <a:cs typeface="Calibri"/>
                <a:sym typeface="Calibri"/>
              </a:rPr>
              <a:t>Parametreler</a:t>
            </a:r>
            <a:endParaRPr sz="1000">
              <a:solidFill>
                <a:schemeClr val="dk1"/>
              </a:solidFill>
              <a:latin typeface="Calibri"/>
              <a:ea typeface="Calibri"/>
              <a:cs typeface="Calibri"/>
              <a:sym typeface="Calibri"/>
            </a:endParaRPr>
          </a:p>
        </p:txBody>
      </p:sp>
      <p:sp>
        <p:nvSpPr>
          <p:cNvPr id="201" name="Google Shape;201;p8"/>
          <p:cNvSpPr/>
          <p:nvPr/>
        </p:nvSpPr>
        <p:spPr>
          <a:xfrm>
            <a:off x="7360920" y="2331720"/>
            <a:ext cx="14173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~7 Milyar</a:t>
            </a:r>
            <a:endParaRPr sz="1050">
              <a:solidFill>
                <a:schemeClr val="dk1"/>
              </a:solidFill>
              <a:latin typeface="Calibri"/>
              <a:ea typeface="Calibri"/>
              <a:cs typeface="Calibri"/>
              <a:sym typeface="Calibri"/>
            </a:endParaRPr>
          </a:p>
        </p:txBody>
      </p:sp>
      <p:sp>
        <p:nvSpPr>
          <p:cNvPr id="202" name="Google Shape;202;p8"/>
          <p:cNvSpPr/>
          <p:nvPr/>
        </p:nvSpPr>
        <p:spPr>
          <a:xfrm>
            <a:off x="5989320" y="2788920"/>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8EAE"/>
              </a:buClr>
              <a:buSzPts val="1000"/>
              <a:buFont typeface="Calibri"/>
              <a:buNone/>
            </a:pPr>
            <a:r>
              <a:rPr lang="en-US" sz="1000">
                <a:solidFill>
                  <a:srgbClr val="6B8EAE"/>
                </a:solidFill>
                <a:latin typeface="Calibri"/>
                <a:ea typeface="Calibri"/>
                <a:cs typeface="Calibri"/>
                <a:sym typeface="Calibri"/>
              </a:rPr>
              <a:t>Format</a:t>
            </a:r>
            <a:endParaRPr sz="1000">
              <a:solidFill>
                <a:schemeClr val="dk1"/>
              </a:solidFill>
              <a:latin typeface="Calibri"/>
              <a:ea typeface="Calibri"/>
              <a:cs typeface="Calibri"/>
              <a:sym typeface="Calibri"/>
            </a:endParaRPr>
          </a:p>
        </p:txBody>
      </p:sp>
      <p:sp>
        <p:nvSpPr>
          <p:cNvPr id="203" name="Google Shape;203;p8"/>
          <p:cNvSpPr/>
          <p:nvPr/>
        </p:nvSpPr>
        <p:spPr>
          <a:xfrm>
            <a:off x="7360920" y="2788920"/>
            <a:ext cx="14173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FP8 niceleme</a:t>
            </a:r>
            <a:endParaRPr sz="1050">
              <a:solidFill>
                <a:schemeClr val="dk1"/>
              </a:solidFill>
              <a:latin typeface="Calibri"/>
              <a:ea typeface="Calibri"/>
              <a:cs typeface="Calibri"/>
              <a:sym typeface="Calibri"/>
            </a:endParaRPr>
          </a:p>
        </p:txBody>
      </p:sp>
      <p:sp>
        <p:nvSpPr>
          <p:cNvPr id="204" name="Google Shape;204;p8"/>
          <p:cNvSpPr/>
          <p:nvPr/>
        </p:nvSpPr>
        <p:spPr>
          <a:xfrm>
            <a:off x="5989320" y="3246120"/>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8EAE"/>
              </a:buClr>
              <a:buSzPts val="1000"/>
              <a:buFont typeface="Calibri"/>
              <a:buNone/>
            </a:pPr>
            <a:r>
              <a:rPr lang="en-US" sz="1000">
                <a:solidFill>
                  <a:srgbClr val="6B8EAE"/>
                </a:solidFill>
                <a:latin typeface="Calibri"/>
                <a:ea typeface="Calibri"/>
                <a:cs typeface="Calibri"/>
                <a:sym typeface="Calibri"/>
              </a:rPr>
              <a:t>LoRA</a:t>
            </a:r>
            <a:endParaRPr sz="1000">
              <a:solidFill>
                <a:schemeClr val="dk1"/>
              </a:solidFill>
              <a:latin typeface="Calibri"/>
              <a:ea typeface="Calibri"/>
              <a:cs typeface="Calibri"/>
              <a:sym typeface="Calibri"/>
            </a:endParaRPr>
          </a:p>
        </p:txBody>
      </p:sp>
      <p:sp>
        <p:nvSpPr>
          <p:cNvPr id="205" name="Google Shape;205;p8"/>
          <p:cNvSpPr/>
          <p:nvPr/>
        </p:nvSpPr>
        <p:spPr>
          <a:xfrm>
            <a:off x="7360920" y="3246120"/>
            <a:ext cx="14173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Lightning 4-adım</a:t>
            </a:r>
            <a:endParaRPr sz="1050">
              <a:solidFill>
                <a:schemeClr val="dk1"/>
              </a:solidFill>
              <a:latin typeface="Calibri"/>
              <a:ea typeface="Calibri"/>
              <a:cs typeface="Calibri"/>
              <a:sym typeface="Calibri"/>
            </a:endParaRPr>
          </a:p>
        </p:txBody>
      </p:sp>
      <p:sp>
        <p:nvSpPr>
          <p:cNvPr id="206" name="Google Shape;206;p8"/>
          <p:cNvSpPr/>
          <p:nvPr/>
        </p:nvSpPr>
        <p:spPr>
          <a:xfrm>
            <a:off x="5989320" y="3703320"/>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8EAE"/>
              </a:buClr>
              <a:buSzPts val="1000"/>
              <a:buFont typeface="Calibri"/>
              <a:buNone/>
            </a:pPr>
            <a:r>
              <a:rPr lang="en-US" sz="1000">
                <a:solidFill>
                  <a:srgbClr val="6B8EAE"/>
                </a:solidFill>
                <a:latin typeface="Calibri"/>
                <a:ea typeface="Calibri"/>
                <a:cs typeface="Calibri"/>
                <a:sym typeface="Calibri"/>
              </a:rPr>
              <a:t>Örnekleme</a:t>
            </a:r>
            <a:endParaRPr sz="1000">
              <a:solidFill>
                <a:schemeClr val="dk1"/>
              </a:solidFill>
              <a:latin typeface="Calibri"/>
              <a:ea typeface="Calibri"/>
              <a:cs typeface="Calibri"/>
              <a:sym typeface="Calibri"/>
            </a:endParaRPr>
          </a:p>
        </p:txBody>
      </p:sp>
      <p:sp>
        <p:nvSpPr>
          <p:cNvPr id="207" name="Google Shape;207;p8"/>
          <p:cNvSpPr/>
          <p:nvPr/>
        </p:nvSpPr>
        <p:spPr>
          <a:xfrm>
            <a:off x="7360920" y="3703320"/>
            <a:ext cx="14173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Euler / AuraFlow</a:t>
            </a:r>
            <a:endParaRPr sz="1050">
              <a:solidFill>
                <a:schemeClr val="dk1"/>
              </a:solidFill>
              <a:latin typeface="Calibri"/>
              <a:ea typeface="Calibri"/>
              <a:cs typeface="Calibri"/>
              <a:sym typeface="Calibri"/>
            </a:endParaRPr>
          </a:p>
        </p:txBody>
      </p:sp>
      <p:sp>
        <p:nvSpPr>
          <p:cNvPr id="208" name="Google Shape;208;p8"/>
          <p:cNvSpPr/>
          <p:nvPr/>
        </p:nvSpPr>
        <p:spPr>
          <a:xfrm>
            <a:off x="5989320" y="4160520"/>
            <a:ext cx="1371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8EAE"/>
              </a:buClr>
              <a:buSzPts val="1000"/>
              <a:buFont typeface="Calibri"/>
              <a:buNone/>
            </a:pPr>
            <a:r>
              <a:rPr lang="en-US" sz="1000">
                <a:solidFill>
                  <a:srgbClr val="6B8EAE"/>
                </a:solidFill>
                <a:latin typeface="Calibri"/>
                <a:ea typeface="Calibri"/>
                <a:cs typeface="Calibri"/>
                <a:sym typeface="Calibri"/>
              </a:rPr>
              <a:t>VRAM</a:t>
            </a:r>
            <a:endParaRPr sz="1000">
              <a:solidFill>
                <a:schemeClr val="dk1"/>
              </a:solidFill>
              <a:latin typeface="Calibri"/>
              <a:ea typeface="Calibri"/>
              <a:cs typeface="Calibri"/>
              <a:sym typeface="Calibri"/>
            </a:endParaRPr>
          </a:p>
        </p:txBody>
      </p:sp>
      <p:sp>
        <p:nvSpPr>
          <p:cNvPr id="209" name="Google Shape;209;p8"/>
          <p:cNvSpPr/>
          <p:nvPr/>
        </p:nvSpPr>
        <p:spPr>
          <a:xfrm>
            <a:off x="7360920" y="4160520"/>
            <a:ext cx="14173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6–8 GB minimum</a:t>
            </a:r>
            <a:endParaRPr sz="10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14" name="Shape 214"/>
        <p:cNvGrpSpPr/>
        <p:nvPr/>
      </p:nvGrpSpPr>
      <p:grpSpPr>
        <a:xfrm>
          <a:off x="0" y="0"/>
          <a:ext cx="0" cy="0"/>
          <a:chOff x="0" y="0"/>
          <a:chExt cx="0" cy="0"/>
        </a:xfrm>
      </p:grpSpPr>
      <p:sp>
        <p:nvSpPr>
          <p:cNvPr id="215" name="Google Shape;215;p9"/>
          <p:cNvSpPr/>
          <p:nvPr/>
        </p:nvSpPr>
        <p:spPr>
          <a:xfrm>
            <a:off x="365760" y="18288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DÖRT MODEL BİLEŞENİ</a:t>
            </a:r>
            <a:endParaRPr sz="2200">
              <a:solidFill>
                <a:schemeClr val="dk1"/>
              </a:solidFill>
              <a:latin typeface="Calibri"/>
              <a:ea typeface="Calibri"/>
              <a:cs typeface="Calibri"/>
              <a:sym typeface="Calibri"/>
            </a:endParaRPr>
          </a:p>
        </p:txBody>
      </p:sp>
      <p:sp>
        <p:nvSpPr>
          <p:cNvPr id="216" name="Google Shape;216;p9"/>
          <p:cNvSpPr/>
          <p:nvPr/>
        </p:nvSpPr>
        <p:spPr>
          <a:xfrm>
            <a:off x="365760" y="685800"/>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300"/>
              <a:buFont typeface="Calibri"/>
              <a:buNone/>
            </a:pPr>
            <a:r>
              <a:rPr i="1" lang="en-US" sz="1300">
                <a:solidFill>
                  <a:srgbClr val="B0C4DE"/>
                </a:solidFill>
                <a:latin typeface="Calibri"/>
                <a:ea typeface="Calibri"/>
                <a:cs typeface="Calibri"/>
                <a:sym typeface="Calibri"/>
              </a:rPr>
              <a:t>Sistem çalışabilmesi için birbiriyle koordineli 4 farklı model dosyasına ihtiyaç duyar</a:t>
            </a:r>
            <a:endParaRPr sz="1300">
              <a:solidFill>
                <a:schemeClr val="dk1"/>
              </a:solidFill>
              <a:latin typeface="Calibri"/>
              <a:ea typeface="Calibri"/>
              <a:cs typeface="Calibri"/>
              <a:sym typeface="Calibri"/>
            </a:endParaRPr>
          </a:p>
        </p:txBody>
      </p:sp>
      <p:sp>
        <p:nvSpPr>
          <p:cNvPr id="217" name="Google Shape;217;p9"/>
          <p:cNvSpPr/>
          <p:nvPr/>
        </p:nvSpPr>
        <p:spPr>
          <a:xfrm>
            <a:off x="274320" y="1143000"/>
            <a:ext cx="8595360" cy="841248"/>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p:nvPr/>
        </p:nvSpPr>
        <p:spPr>
          <a:xfrm>
            <a:off x="274320" y="1143000"/>
            <a:ext cx="64008" cy="841248"/>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457200" y="1371600"/>
            <a:ext cx="4572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000"/>
              <a:buFont typeface="Calibri"/>
              <a:buNone/>
            </a:pPr>
            <a:r>
              <a:rPr b="1" lang="en-US" sz="1000">
                <a:solidFill>
                  <a:srgbClr val="00B4D8"/>
                </a:solidFill>
                <a:latin typeface="Calibri"/>
                <a:ea typeface="Calibri"/>
                <a:cs typeface="Calibri"/>
                <a:sym typeface="Calibri"/>
              </a:rPr>
              <a:t>01</a:t>
            </a:r>
            <a:endParaRPr sz="1000">
              <a:solidFill>
                <a:schemeClr val="dk1"/>
              </a:solidFill>
              <a:latin typeface="Calibri"/>
              <a:ea typeface="Calibri"/>
              <a:cs typeface="Calibri"/>
              <a:sym typeface="Calibri"/>
            </a:endParaRPr>
          </a:p>
        </p:txBody>
      </p:sp>
      <p:sp>
        <p:nvSpPr>
          <p:cNvPr id="220" name="Google Shape;220;p9"/>
          <p:cNvSpPr/>
          <p:nvPr/>
        </p:nvSpPr>
        <p:spPr>
          <a:xfrm>
            <a:off x="1005840" y="1197864"/>
            <a:ext cx="5029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 UNET — Ana Diffusion Modeli</a:t>
            </a:r>
            <a:endParaRPr sz="1300">
              <a:solidFill>
                <a:schemeClr val="dk1"/>
              </a:solidFill>
              <a:latin typeface="Calibri"/>
              <a:ea typeface="Calibri"/>
              <a:cs typeface="Calibri"/>
              <a:sym typeface="Calibri"/>
            </a:endParaRPr>
          </a:p>
        </p:txBody>
      </p:sp>
      <p:sp>
        <p:nvSpPr>
          <p:cNvPr id="221" name="Google Shape;221;p9"/>
          <p:cNvSpPr/>
          <p:nvPr/>
        </p:nvSpPr>
        <p:spPr>
          <a:xfrm>
            <a:off x="1005840" y="1527048"/>
            <a:ext cx="45720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900"/>
              <a:buFont typeface="Consolas"/>
              <a:buNone/>
            </a:pPr>
            <a:r>
              <a:rPr lang="en-US" sz="900">
                <a:solidFill>
                  <a:srgbClr val="00B4D8"/>
                </a:solidFill>
                <a:latin typeface="Consolas"/>
                <a:ea typeface="Consolas"/>
                <a:cs typeface="Consolas"/>
                <a:sym typeface="Consolas"/>
              </a:rPr>
              <a:t>qwen_image_edit_2509_fp8_e4m3fn.safetensors</a:t>
            </a:r>
            <a:endParaRPr sz="900">
              <a:solidFill>
                <a:schemeClr val="dk1"/>
              </a:solidFill>
              <a:latin typeface="Calibri"/>
              <a:ea typeface="Calibri"/>
              <a:cs typeface="Calibri"/>
              <a:sym typeface="Calibri"/>
            </a:endParaRPr>
          </a:p>
        </p:txBody>
      </p:sp>
      <p:sp>
        <p:nvSpPr>
          <p:cNvPr id="222" name="Google Shape;222;p9"/>
          <p:cNvSpPr/>
          <p:nvPr/>
        </p:nvSpPr>
        <p:spPr>
          <a:xfrm>
            <a:off x="5760720" y="1216152"/>
            <a:ext cx="3017520" cy="6949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00"/>
              <a:buFont typeface="Calibri"/>
              <a:buNone/>
            </a:pPr>
            <a:r>
              <a:rPr lang="en-US" sz="1000">
                <a:solidFill>
                  <a:srgbClr val="B0C4DE"/>
                </a:solidFill>
                <a:latin typeface="Calibri"/>
                <a:ea typeface="Calibri"/>
                <a:cs typeface="Calibri"/>
                <a:sym typeface="Calibri"/>
              </a:rPr>
              <a:t>Sistemin çekirdeği. Latent uzayda gürültüyü adım adım azaltarak anlamlı görsel inşa eder. FP8 formatı sayesinde VRAM gereksinimi minimuma indirilmiştir.</a:t>
            </a:r>
            <a:endParaRPr sz="1000">
              <a:solidFill>
                <a:schemeClr val="dk1"/>
              </a:solidFill>
              <a:latin typeface="Calibri"/>
              <a:ea typeface="Calibri"/>
              <a:cs typeface="Calibri"/>
              <a:sym typeface="Calibri"/>
            </a:endParaRPr>
          </a:p>
        </p:txBody>
      </p:sp>
      <p:sp>
        <p:nvSpPr>
          <p:cNvPr id="223" name="Google Shape;223;p9"/>
          <p:cNvSpPr/>
          <p:nvPr/>
        </p:nvSpPr>
        <p:spPr>
          <a:xfrm>
            <a:off x="274320" y="2103120"/>
            <a:ext cx="8595360" cy="841248"/>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p:nvPr/>
        </p:nvSpPr>
        <p:spPr>
          <a:xfrm>
            <a:off x="274320" y="2103120"/>
            <a:ext cx="64008" cy="841248"/>
          </a:xfrm>
          <a:prstGeom prst="rect">
            <a:avLst/>
          </a:prstGeom>
          <a:solidFill>
            <a:srgbClr val="48CA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p:nvPr/>
        </p:nvSpPr>
        <p:spPr>
          <a:xfrm>
            <a:off x="457200" y="2331720"/>
            <a:ext cx="4572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8CAE4"/>
              </a:buClr>
              <a:buSzPts val="1000"/>
              <a:buFont typeface="Calibri"/>
              <a:buNone/>
            </a:pPr>
            <a:r>
              <a:rPr b="1" lang="en-US" sz="1000">
                <a:solidFill>
                  <a:srgbClr val="48CAE4"/>
                </a:solidFill>
                <a:latin typeface="Calibri"/>
                <a:ea typeface="Calibri"/>
                <a:cs typeface="Calibri"/>
                <a:sym typeface="Calibri"/>
              </a:rPr>
              <a:t>02</a:t>
            </a:r>
            <a:endParaRPr sz="1000">
              <a:solidFill>
                <a:schemeClr val="dk1"/>
              </a:solidFill>
              <a:latin typeface="Calibri"/>
              <a:ea typeface="Calibri"/>
              <a:cs typeface="Calibri"/>
              <a:sym typeface="Calibri"/>
            </a:endParaRPr>
          </a:p>
        </p:txBody>
      </p:sp>
      <p:sp>
        <p:nvSpPr>
          <p:cNvPr id="226" name="Google Shape;226;p9"/>
          <p:cNvSpPr/>
          <p:nvPr/>
        </p:nvSpPr>
        <p:spPr>
          <a:xfrm>
            <a:off x="1005840" y="2157984"/>
            <a:ext cx="5029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 CLIP — Metin Anlama Modeli</a:t>
            </a:r>
            <a:endParaRPr sz="1300">
              <a:solidFill>
                <a:schemeClr val="dk1"/>
              </a:solidFill>
              <a:latin typeface="Calibri"/>
              <a:ea typeface="Calibri"/>
              <a:cs typeface="Calibri"/>
              <a:sym typeface="Calibri"/>
            </a:endParaRPr>
          </a:p>
        </p:txBody>
      </p:sp>
      <p:sp>
        <p:nvSpPr>
          <p:cNvPr id="227" name="Google Shape;227;p9"/>
          <p:cNvSpPr/>
          <p:nvPr/>
        </p:nvSpPr>
        <p:spPr>
          <a:xfrm>
            <a:off x="1005840" y="2487168"/>
            <a:ext cx="45720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8CAE4"/>
              </a:buClr>
              <a:buSzPts val="900"/>
              <a:buFont typeface="Consolas"/>
              <a:buNone/>
            </a:pPr>
            <a:r>
              <a:rPr lang="en-US" sz="900">
                <a:solidFill>
                  <a:srgbClr val="48CAE4"/>
                </a:solidFill>
                <a:latin typeface="Consolas"/>
                <a:ea typeface="Consolas"/>
                <a:cs typeface="Consolas"/>
                <a:sym typeface="Consolas"/>
              </a:rPr>
              <a:t>qwen_2.5_vl_7b_fp8_scaled.safetensors</a:t>
            </a:r>
            <a:endParaRPr sz="900">
              <a:solidFill>
                <a:schemeClr val="dk1"/>
              </a:solidFill>
              <a:latin typeface="Calibri"/>
              <a:ea typeface="Calibri"/>
              <a:cs typeface="Calibri"/>
              <a:sym typeface="Calibri"/>
            </a:endParaRPr>
          </a:p>
        </p:txBody>
      </p:sp>
      <p:sp>
        <p:nvSpPr>
          <p:cNvPr id="228" name="Google Shape;228;p9"/>
          <p:cNvSpPr/>
          <p:nvPr/>
        </p:nvSpPr>
        <p:spPr>
          <a:xfrm>
            <a:off x="5760720" y="2176272"/>
            <a:ext cx="3017520" cy="6949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00"/>
              <a:buFont typeface="Calibri"/>
              <a:buNone/>
            </a:pPr>
            <a:r>
              <a:rPr lang="en-US" sz="1000">
                <a:solidFill>
                  <a:srgbClr val="B0C4DE"/>
                </a:solidFill>
                <a:latin typeface="Calibri"/>
                <a:ea typeface="Calibri"/>
                <a:cs typeface="Calibri"/>
                <a:sym typeface="Calibri"/>
              </a:rPr>
              <a:t>7 milyar parametreli görsel-dil modeli. Metin talimatını ve referans görseli birlikte işleyerek modele yönlendirici embedding vektörleri üretir.</a:t>
            </a:r>
            <a:endParaRPr sz="1000">
              <a:solidFill>
                <a:schemeClr val="dk1"/>
              </a:solidFill>
              <a:latin typeface="Calibri"/>
              <a:ea typeface="Calibri"/>
              <a:cs typeface="Calibri"/>
              <a:sym typeface="Calibri"/>
            </a:endParaRPr>
          </a:p>
        </p:txBody>
      </p:sp>
      <p:sp>
        <p:nvSpPr>
          <p:cNvPr id="229" name="Google Shape;229;p9"/>
          <p:cNvSpPr/>
          <p:nvPr/>
        </p:nvSpPr>
        <p:spPr>
          <a:xfrm>
            <a:off x="274320" y="3063240"/>
            <a:ext cx="8595360" cy="841248"/>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274320" y="3063240"/>
            <a:ext cx="64008" cy="841248"/>
          </a:xfrm>
          <a:prstGeom prst="rect">
            <a:avLst/>
          </a:prstGeom>
          <a:solidFill>
            <a:srgbClr val="B0C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457200" y="3291840"/>
            <a:ext cx="4572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E"/>
              </a:buClr>
              <a:buSzPts val="1000"/>
              <a:buFont typeface="Calibri"/>
              <a:buNone/>
            </a:pPr>
            <a:r>
              <a:rPr b="1" lang="en-US" sz="1000">
                <a:solidFill>
                  <a:srgbClr val="B0C4DE"/>
                </a:solidFill>
                <a:latin typeface="Calibri"/>
                <a:ea typeface="Calibri"/>
                <a:cs typeface="Calibri"/>
                <a:sym typeface="Calibri"/>
              </a:rPr>
              <a:t>03</a:t>
            </a:r>
            <a:endParaRPr sz="1000">
              <a:solidFill>
                <a:schemeClr val="dk1"/>
              </a:solidFill>
              <a:latin typeface="Calibri"/>
              <a:ea typeface="Calibri"/>
              <a:cs typeface="Calibri"/>
              <a:sym typeface="Calibri"/>
            </a:endParaRPr>
          </a:p>
        </p:txBody>
      </p:sp>
      <p:sp>
        <p:nvSpPr>
          <p:cNvPr id="232" name="Google Shape;232;p9"/>
          <p:cNvSpPr/>
          <p:nvPr/>
        </p:nvSpPr>
        <p:spPr>
          <a:xfrm>
            <a:off x="1005840" y="3118104"/>
            <a:ext cx="5029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 VAE — Görsel Sıkıştırma Modeli</a:t>
            </a:r>
            <a:endParaRPr sz="1300">
              <a:solidFill>
                <a:schemeClr val="dk1"/>
              </a:solidFill>
              <a:latin typeface="Calibri"/>
              <a:ea typeface="Calibri"/>
              <a:cs typeface="Calibri"/>
              <a:sym typeface="Calibri"/>
            </a:endParaRPr>
          </a:p>
        </p:txBody>
      </p:sp>
      <p:sp>
        <p:nvSpPr>
          <p:cNvPr id="233" name="Google Shape;233;p9"/>
          <p:cNvSpPr/>
          <p:nvPr/>
        </p:nvSpPr>
        <p:spPr>
          <a:xfrm>
            <a:off x="1005840" y="3447288"/>
            <a:ext cx="45720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900"/>
              <a:buFont typeface="Consolas"/>
              <a:buNone/>
            </a:pPr>
            <a:r>
              <a:rPr lang="en-US" sz="900">
                <a:solidFill>
                  <a:srgbClr val="B0C4DE"/>
                </a:solidFill>
                <a:latin typeface="Consolas"/>
                <a:ea typeface="Consolas"/>
                <a:cs typeface="Consolas"/>
                <a:sym typeface="Consolas"/>
              </a:rPr>
              <a:t>qwen_image_vae.safetensors</a:t>
            </a:r>
            <a:endParaRPr sz="900">
              <a:solidFill>
                <a:schemeClr val="dk1"/>
              </a:solidFill>
              <a:latin typeface="Calibri"/>
              <a:ea typeface="Calibri"/>
              <a:cs typeface="Calibri"/>
              <a:sym typeface="Calibri"/>
            </a:endParaRPr>
          </a:p>
        </p:txBody>
      </p:sp>
      <p:sp>
        <p:nvSpPr>
          <p:cNvPr id="234" name="Google Shape;234;p9"/>
          <p:cNvSpPr/>
          <p:nvPr/>
        </p:nvSpPr>
        <p:spPr>
          <a:xfrm>
            <a:off x="5760720" y="3136392"/>
            <a:ext cx="3017520" cy="6949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00"/>
              <a:buFont typeface="Calibri"/>
              <a:buNone/>
            </a:pPr>
            <a:r>
              <a:rPr lang="en-US" sz="1000">
                <a:solidFill>
                  <a:srgbClr val="B0C4DE"/>
                </a:solidFill>
                <a:latin typeface="Calibri"/>
                <a:ea typeface="Calibri"/>
                <a:cs typeface="Calibri"/>
                <a:sym typeface="Calibri"/>
              </a:rPr>
              <a:t>Piksel uzayı ↔ latent uzay dönüşümü sağlar. Giriş görselini sıkıştırılmış matematiksel temsile çevirir; üretim sonrası tekrar piksel görseline dönüştürür.</a:t>
            </a:r>
            <a:endParaRPr sz="1000">
              <a:solidFill>
                <a:schemeClr val="dk1"/>
              </a:solidFill>
              <a:latin typeface="Calibri"/>
              <a:ea typeface="Calibri"/>
              <a:cs typeface="Calibri"/>
              <a:sym typeface="Calibri"/>
            </a:endParaRPr>
          </a:p>
        </p:txBody>
      </p:sp>
      <p:sp>
        <p:nvSpPr>
          <p:cNvPr id="235" name="Google Shape;235;p9"/>
          <p:cNvSpPr/>
          <p:nvPr/>
        </p:nvSpPr>
        <p:spPr>
          <a:xfrm>
            <a:off x="274320" y="4023360"/>
            <a:ext cx="8595360" cy="841248"/>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274320" y="4023360"/>
            <a:ext cx="64008" cy="841248"/>
          </a:xfrm>
          <a:prstGeom prst="rect">
            <a:avLst/>
          </a:prstGeom>
          <a:solidFill>
            <a:srgbClr val="06D6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a:off x="457200" y="4251960"/>
            <a:ext cx="4572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D6A0"/>
              </a:buClr>
              <a:buSzPts val="1000"/>
              <a:buFont typeface="Calibri"/>
              <a:buNone/>
            </a:pPr>
            <a:r>
              <a:rPr b="1" lang="en-US" sz="1000">
                <a:solidFill>
                  <a:srgbClr val="06D6A0"/>
                </a:solidFill>
                <a:latin typeface="Calibri"/>
                <a:ea typeface="Calibri"/>
                <a:cs typeface="Calibri"/>
                <a:sym typeface="Calibri"/>
              </a:rPr>
              <a:t>04</a:t>
            </a:r>
            <a:endParaRPr sz="1000">
              <a:solidFill>
                <a:schemeClr val="dk1"/>
              </a:solidFill>
              <a:latin typeface="Calibri"/>
              <a:ea typeface="Calibri"/>
              <a:cs typeface="Calibri"/>
              <a:sym typeface="Calibri"/>
            </a:endParaRPr>
          </a:p>
        </p:txBody>
      </p:sp>
      <p:sp>
        <p:nvSpPr>
          <p:cNvPr id="238" name="Google Shape;238;p9"/>
          <p:cNvSpPr/>
          <p:nvPr/>
        </p:nvSpPr>
        <p:spPr>
          <a:xfrm>
            <a:off x="1005840" y="4078224"/>
            <a:ext cx="5029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 Lightning LoRA — Hız Optimizasyonu</a:t>
            </a:r>
            <a:endParaRPr sz="1300">
              <a:solidFill>
                <a:schemeClr val="dk1"/>
              </a:solidFill>
              <a:latin typeface="Calibri"/>
              <a:ea typeface="Calibri"/>
              <a:cs typeface="Calibri"/>
              <a:sym typeface="Calibri"/>
            </a:endParaRPr>
          </a:p>
        </p:txBody>
      </p:sp>
      <p:sp>
        <p:nvSpPr>
          <p:cNvPr id="239" name="Google Shape;239;p9"/>
          <p:cNvSpPr/>
          <p:nvPr/>
        </p:nvSpPr>
        <p:spPr>
          <a:xfrm>
            <a:off x="1005840" y="4407408"/>
            <a:ext cx="45720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900"/>
              <a:buFont typeface="Consolas"/>
              <a:buNone/>
            </a:pPr>
            <a:r>
              <a:rPr lang="en-US" sz="900">
                <a:solidFill>
                  <a:srgbClr val="06D6A0"/>
                </a:solidFill>
                <a:latin typeface="Consolas"/>
                <a:ea typeface="Consolas"/>
                <a:cs typeface="Consolas"/>
                <a:sym typeface="Consolas"/>
              </a:rPr>
              <a:t>Qwen-Image-Edit-2509-Lightning-4steps-V1.0-bf16.safetensors</a:t>
            </a:r>
            <a:endParaRPr sz="900">
              <a:solidFill>
                <a:schemeClr val="dk1"/>
              </a:solidFill>
              <a:latin typeface="Calibri"/>
              <a:ea typeface="Calibri"/>
              <a:cs typeface="Calibri"/>
              <a:sym typeface="Calibri"/>
            </a:endParaRPr>
          </a:p>
        </p:txBody>
      </p:sp>
      <p:sp>
        <p:nvSpPr>
          <p:cNvPr id="240" name="Google Shape;240;p9"/>
          <p:cNvSpPr/>
          <p:nvPr/>
        </p:nvSpPr>
        <p:spPr>
          <a:xfrm>
            <a:off x="5760720" y="4096512"/>
            <a:ext cx="3017520" cy="6949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00"/>
              <a:buFont typeface="Calibri"/>
              <a:buNone/>
            </a:pPr>
            <a:r>
              <a:rPr lang="en-US" sz="1000">
                <a:solidFill>
                  <a:srgbClr val="B0C4DE"/>
                </a:solidFill>
                <a:latin typeface="Calibri"/>
                <a:ea typeface="Calibri"/>
                <a:cs typeface="Calibri"/>
                <a:sym typeface="Calibri"/>
              </a:rPr>
              <a:t>Normalde 20+ adım gereken üretimi 4 adıma indiren adaptör. Ana model ağırlıklarına dokunmadan üzerine eklenir. BF16 formatında, küçük boyutlu.</a:t>
            </a:r>
            <a:endParaRPr sz="1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0"/>
          <p:cNvSpPr/>
          <p:nvPr/>
        </p:nvSpPr>
        <p:spPr>
          <a:xfrm>
            <a:off x="0" y="0"/>
            <a:ext cx="9144000" cy="73152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0"/>
          <p:cNvSpPr/>
          <p:nvPr/>
        </p:nvSpPr>
        <p:spPr>
          <a:xfrm>
            <a:off x="365760" y="0"/>
            <a:ext cx="8229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DİFFUSION SÜRECİ NASIL ÇALIŞIR?</a:t>
            </a:r>
            <a:endParaRPr sz="2200">
              <a:solidFill>
                <a:schemeClr val="dk1"/>
              </a:solidFill>
              <a:latin typeface="Calibri"/>
              <a:ea typeface="Calibri"/>
              <a:cs typeface="Calibri"/>
              <a:sym typeface="Calibri"/>
            </a:endParaRPr>
          </a:p>
        </p:txBody>
      </p:sp>
      <p:sp>
        <p:nvSpPr>
          <p:cNvPr id="248" name="Google Shape;248;p10"/>
          <p:cNvSpPr/>
          <p:nvPr/>
        </p:nvSpPr>
        <p:spPr>
          <a:xfrm>
            <a:off x="274320" y="841248"/>
            <a:ext cx="8595360" cy="685800"/>
          </a:xfrm>
          <a:prstGeom prst="rect">
            <a:avLst/>
          </a:prstGeom>
          <a:solidFill>
            <a:srgbClr val="F0F4FF"/>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0"/>
          <p:cNvSpPr/>
          <p:nvPr/>
        </p:nvSpPr>
        <p:spPr>
          <a:xfrm>
            <a:off x="457200" y="886968"/>
            <a:ext cx="82296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250"/>
              <a:buFont typeface="Calibri"/>
              <a:buNone/>
            </a:pPr>
            <a:r>
              <a:rPr lang="en-US" sz="1250">
                <a:solidFill>
                  <a:srgbClr val="0A1628"/>
                </a:solidFill>
                <a:latin typeface="Calibri"/>
                <a:ea typeface="Calibri"/>
                <a:cs typeface="Calibri"/>
                <a:sym typeface="Calibri"/>
              </a:rPr>
              <a:t>🎨  Analoji: Model, tuvale giderek artan miktarda gürültü (parazit) eklenerek bozulan bir resmin, orijinaline dönme yolunu öğrenir. Sonra bu süreci tersine çevirerek saf gürültüden anlamlı görsel üretir.</a:t>
            </a:r>
            <a:endParaRPr sz="1250">
              <a:solidFill>
                <a:schemeClr val="dk1"/>
              </a:solidFill>
              <a:latin typeface="Calibri"/>
              <a:ea typeface="Calibri"/>
              <a:cs typeface="Calibri"/>
              <a:sym typeface="Calibri"/>
            </a:endParaRPr>
          </a:p>
        </p:txBody>
      </p:sp>
      <p:sp>
        <p:nvSpPr>
          <p:cNvPr id="250" name="Google Shape;250;p10"/>
          <p:cNvSpPr/>
          <p:nvPr/>
        </p:nvSpPr>
        <p:spPr>
          <a:xfrm>
            <a:off x="274320" y="1691640"/>
            <a:ext cx="2011680" cy="310896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p:nvPr/>
        </p:nvSpPr>
        <p:spPr>
          <a:xfrm>
            <a:off x="1005840" y="1783080"/>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p:nvPr/>
        </p:nvSpPr>
        <p:spPr>
          <a:xfrm>
            <a:off x="1005840" y="178308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600"/>
              <a:buFont typeface="Calibri"/>
              <a:buNone/>
            </a:pPr>
            <a:r>
              <a:rPr b="1" lang="en-US" sz="1600">
                <a:solidFill>
                  <a:srgbClr val="00B4D8"/>
                </a:solidFill>
                <a:latin typeface="Calibri"/>
                <a:ea typeface="Calibri"/>
                <a:cs typeface="Calibri"/>
                <a:sym typeface="Calibri"/>
              </a:rPr>
              <a:t>1</a:t>
            </a:r>
            <a:endParaRPr sz="1600">
              <a:solidFill>
                <a:schemeClr val="dk1"/>
              </a:solidFill>
              <a:latin typeface="Calibri"/>
              <a:ea typeface="Calibri"/>
              <a:cs typeface="Calibri"/>
              <a:sym typeface="Calibri"/>
            </a:endParaRPr>
          </a:p>
        </p:txBody>
      </p:sp>
      <p:sp>
        <p:nvSpPr>
          <p:cNvPr id="253" name="Google Shape;253;p10"/>
          <p:cNvSpPr/>
          <p:nvPr/>
        </p:nvSpPr>
        <p:spPr>
          <a:xfrm>
            <a:off x="365760" y="2423160"/>
            <a:ext cx="1828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Latent Kodlama</a:t>
            </a:r>
            <a:endParaRPr sz="1200">
              <a:solidFill>
                <a:schemeClr val="dk1"/>
              </a:solidFill>
              <a:latin typeface="Calibri"/>
              <a:ea typeface="Calibri"/>
              <a:cs typeface="Calibri"/>
              <a:sym typeface="Calibri"/>
            </a:endParaRPr>
          </a:p>
        </p:txBody>
      </p:sp>
      <p:sp>
        <p:nvSpPr>
          <p:cNvPr id="254" name="Google Shape;254;p10"/>
          <p:cNvSpPr/>
          <p:nvPr/>
        </p:nvSpPr>
        <p:spPr>
          <a:xfrm>
            <a:off x="365760" y="2926080"/>
            <a:ext cx="1828800" cy="1737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050"/>
              <a:buFont typeface="Calibri"/>
              <a:buNone/>
            </a:pPr>
            <a:r>
              <a:rPr lang="en-US" sz="1050">
                <a:solidFill>
                  <a:srgbClr val="333333"/>
                </a:solidFill>
                <a:latin typeface="Calibri"/>
                <a:ea typeface="Calibri"/>
                <a:cs typeface="Calibri"/>
                <a:sym typeface="Calibri"/>
              </a:rPr>
              <a:t>VAE, girdi görselini piksel uzayından sıkıştırılmış latent tensöre dönüştürür (örn. 768×768 → 96×96). Hesaplama yükü dramatik biçimde azalır.</a:t>
            </a:r>
            <a:endParaRPr sz="1050">
              <a:solidFill>
                <a:schemeClr val="dk1"/>
              </a:solidFill>
              <a:latin typeface="Calibri"/>
              <a:ea typeface="Calibri"/>
              <a:cs typeface="Calibri"/>
              <a:sym typeface="Calibri"/>
            </a:endParaRPr>
          </a:p>
        </p:txBody>
      </p:sp>
      <p:sp>
        <p:nvSpPr>
          <p:cNvPr id="255" name="Google Shape;255;p10"/>
          <p:cNvSpPr/>
          <p:nvPr/>
        </p:nvSpPr>
        <p:spPr>
          <a:xfrm>
            <a:off x="2441448" y="1691640"/>
            <a:ext cx="2011680" cy="310896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
          <p:cNvSpPr/>
          <p:nvPr/>
        </p:nvSpPr>
        <p:spPr>
          <a:xfrm>
            <a:off x="3172968" y="1783080"/>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p:nvPr/>
        </p:nvSpPr>
        <p:spPr>
          <a:xfrm>
            <a:off x="3172968" y="178308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600"/>
              <a:buFont typeface="Calibri"/>
              <a:buNone/>
            </a:pPr>
            <a:r>
              <a:rPr b="1" lang="en-US" sz="1600">
                <a:solidFill>
                  <a:srgbClr val="00B4D8"/>
                </a:solidFill>
                <a:latin typeface="Calibri"/>
                <a:ea typeface="Calibri"/>
                <a:cs typeface="Calibri"/>
                <a:sym typeface="Calibri"/>
              </a:rPr>
              <a:t>2</a:t>
            </a:r>
            <a:endParaRPr sz="1600">
              <a:solidFill>
                <a:schemeClr val="dk1"/>
              </a:solidFill>
              <a:latin typeface="Calibri"/>
              <a:ea typeface="Calibri"/>
              <a:cs typeface="Calibri"/>
              <a:sym typeface="Calibri"/>
            </a:endParaRPr>
          </a:p>
        </p:txBody>
      </p:sp>
      <p:sp>
        <p:nvSpPr>
          <p:cNvPr id="258" name="Google Shape;258;p10"/>
          <p:cNvSpPr/>
          <p:nvPr/>
        </p:nvSpPr>
        <p:spPr>
          <a:xfrm>
            <a:off x="2532888" y="2423160"/>
            <a:ext cx="1828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Gürültü Ekleme</a:t>
            </a:r>
            <a:endParaRPr sz="1200">
              <a:solidFill>
                <a:schemeClr val="dk1"/>
              </a:solidFill>
              <a:latin typeface="Calibri"/>
              <a:ea typeface="Calibri"/>
              <a:cs typeface="Calibri"/>
              <a:sym typeface="Calibri"/>
            </a:endParaRPr>
          </a:p>
        </p:txBody>
      </p:sp>
      <p:sp>
        <p:nvSpPr>
          <p:cNvPr id="259" name="Google Shape;259;p10"/>
          <p:cNvSpPr/>
          <p:nvPr/>
        </p:nvSpPr>
        <p:spPr>
          <a:xfrm>
            <a:off x="2532888" y="2926080"/>
            <a:ext cx="1828800" cy="1737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050"/>
              <a:buFont typeface="Calibri"/>
              <a:buNone/>
            </a:pPr>
            <a:r>
              <a:rPr lang="en-US" sz="1050">
                <a:solidFill>
                  <a:srgbClr val="333333"/>
                </a:solidFill>
                <a:latin typeface="Calibri"/>
                <a:ea typeface="Calibri"/>
                <a:cs typeface="Calibri"/>
                <a:sym typeface="Calibri"/>
              </a:rPr>
              <a:t>Denoise=1.0 parametresiyle latent tensörün üzerine tam düzeyde Gaussian gürültüsü eklenir. Bu, modelin içeriği 'unutarak' talimatı özgürce yorumlamasını sağlar.</a:t>
            </a:r>
            <a:endParaRPr sz="1050">
              <a:solidFill>
                <a:schemeClr val="dk1"/>
              </a:solidFill>
              <a:latin typeface="Calibri"/>
              <a:ea typeface="Calibri"/>
              <a:cs typeface="Calibri"/>
              <a:sym typeface="Calibri"/>
            </a:endParaRPr>
          </a:p>
        </p:txBody>
      </p:sp>
      <p:sp>
        <p:nvSpPr>
          <p:cNvPr id="260" name="Google Shape;260;p10"/>
          <p:cNvSpPr/>
          <p:nvPr/>
        </p:nvSpPr>
        <p:spPr>
          <a:xfrm>
            <a:off x="4608576" y="1691640"/>
            <a:ext cx="2011680" cy="310896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p:nvPr/>
        </p:nvSpPr>
        <p:spPr>
          <a:xfrm>
            <a:off x="5340096" y="1783080"/>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p:nvPr/>
        </p:nvSpPr>
        <p:spPr>
          <a:xfrm>
            <a:off x="5340096" y="178308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600"/>
              <a:buFont typeface="Calibri"/>
              <a:buNone/>
            </a:pPr>
            <a:r>
              <a:rPr b="1" lang="en-US" sz="1600">
                <a:solidFill>
                  <a:srgbClr val="00B4D8"/>
                </a:solidFill>
                <a:latin typeface="Calibri"/>
                <a:ea typeface="Calibri"/>
                <a:cs typeface="Calibri"/>
                <a:sym typeface="Calibri"/>
              </a:rPr>
              <a:t>3</a:t>
            </a:r>
            <a:endParaRPr sz="1600">
              <a:solidFill>
                <a:schemeClr val="dk1"/>
              </a:solidFill>
              <a:latin typeface="Calibri"/>
              <a:ea typeface="Calibri"/>
              <a:cs typeface="Calibri"/>
              <a:sym typeface="Calibri"/>
            </a:endParaRPr>
          </a:p>
        </p:txBody>
      </p:sp>
      <p:sp>
        <p:nvSpPr>
          <p:cNvPr id="263" name="Google Shape;263;p10"/>
          <p:cNvSpPr/>
          <p:nvPr/>
        </p:nvSpPr>
        <p:spPr>
          <a:xfrm>
            <a:off x="4700016" y="2423160"/>
            <a:ext cx="1828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4 Adımlı Rafine</a:t>
            </a:r>
            <a:endParaRPr sz="1200">
              <a:solidFill>
                <a:schemeClr val="dk1"/>
              </a:solidFill>
              <a:latin typeface="Calibri"/>
              <a:ea typeface="Calibri"/>
              <a:cs typeface="Calibri"/>
              <a:sym typeface="Calibri"/>
            </a:endParaRPr>
          </a:p>
        </p:txBody>
      </p:sp>
      <p:sp>
        <p:nvSpPr>
          <p:cNvPr id="264" name="Google Shape;264;p10"/>
          <p:cNvSpPr/>
          <p:nvPr/>
        </p:nvSpPr>
        <p:spPr>
          <a:xfrm>
            <a:off x="4700016" y="2926080"/>
            <a:ext cx="1828800" cy="1737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050"/>
              <a:buFont typeface="Calibri"/>
              <a:buNone/>
            </a:pPr>
            <a:r>
              <a:rPr lang="en-US" sz="1050">
                <a:solidFill>
                  <a:srgbClr val="333333"/>
                </a:solidFill>
                <a:latin typeface="Calibri"/>
                <a:ea typeface="Calibri"/>
                <a:cs typeface="Calibri"/>
                <a:sym typeface="Calibri"/>
              </a:rPr>
              <a:t>Euler örnekleyicisi her adımda: metin embedding'i, referans görsel bilgisi ve AuraFlow gürültü çizelgesini kullanarak latent tensörü rafine eder.</a:t>
            </a:r>
            <a:endParaRPr sz="1050">
              <a:solidFill>
                <a:schemeClr val="dk1"/>
              </a:solidFill>
              <a:latin typeface="Calibri"/>
              <a:ea typeface="Calibri"/>
              <a:cs typeface="Calibri"/>
              <a:sym typeface="Calibri"/>
            </a:endParaRPr>
          </a:p>
        </p:txBody>
      </p:sp>
      <p:sp>
        <p:nvSpPr>
          <p:cNvPr id="265" name="Google Shape;265;p10"/>
          <p:cNvSpPr/>
          <p:nvPr/>
        </p:nvSpPr>
        <p:spPr>
          <a:xfrm>
            <a:off x="6775704" y="1691640"/>
            <a:ext cx="2011680" cy="310896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7507224" y="1783080"/>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7507224" y="178308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600"/>
              <a:buFont typeface="Calibri"/>
              <a:buNone/>
            </a:pPr>
            <a:r>
              <a:rPr b="1" lang="en-US" sz="1600">
                <a:solidFill>
                  <a:srgbClr val="00B4D8"/>
                </a:solidFill>
                <a:latin typeface="Calibri"/>
                <a:ea typeface="Calibri"/>
                <a:cs typeface="Calibri"/>
                <a:sym typeface="Calibri"/>
              </a:rPr>
              <a:t>4</a:t>
            </a:r>
            <a:endParaRPr sz="1600">
              <a:solidFill>
                <a:schemeClr val="dk1"/>
              </a:solidFill>
              <a:latin typeface="Calibri"/>
              <a:ea typeface="Calibri"/>
              <a:cs typeface="Calibri"/>
              <a:sym typeface="Calibri"/>
            </a:endParaRPr>
          </a:p>
        </p:txBody>
      </p:sp>
      <p:sp>
        <p:nvSpPr>
          <p:cNvPr id="268" name="Google Shape;268;p10"/>
          <p:cNvSpPr/>
          <p:nvPr/>
        </p:nvSpPr>
        <p:spPr>
          <a:xfrm>
            <a:off x="6867144" y="2423160"/>
            <a:ext cx="1828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Piksel Çözme</a:t>
            </a:r>
            <a:endParaRPr sz="1200">
              <a:solidFill>
                <a:schemeClr val="dk1"/>
              </a:solidFill>
              <a:latin typeface="Calibri"/>
              <a:ea typeface="Calibri"/>
              <a:cs typeface="Calibri"/>
              <a:sym typeface="Calibri"/>
            </a:endParaRPr>
          </a:p>
        </p:txBody>
      </p:sp>
      <p:sp>
        <p:nvSpPr>
          <p:cNvPr id="269" name="Google Shape;269;p10"/>
          <p:cNvSpPr/>
          <p:nvPr/>
        </p:nvSpPr>
        <p:spPr>
          <a:xfrm>
            <a:off x="6867144" y="2926080"/>
            <a:ext cx="1828800" cy="1737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050"/>
              <a:buFont typeface="Calibri"/>
              <a:buNone/>
            </a:pPr>
            <a:r>
              <a:rPr lang="en-US" sz="1050">
                <a:solidFill>
                  <a:srgbClr val="333333"/>
                </a:solidFill>
                <a:latin typeface="Calibri"/>
                <a:ea typeface="Calibri"/>
                <a:cs typeface="Calibri"/>
                <a:sym typeface="Calibri"/>
              </a:rPr>
              <a:t>VAE Decode, nihai latent tensörü tam çözünürlüklü piksel görseline dönüştürür. Sonuç PNG formatında kaydedilir.</a:t>
            </a:r>
            <a:endParaRPr sz="1050">
              <a:solidFill>
                <a:schemeClr val="dk1"/>
              </a:solidFill>
              <a:latin typeface="Calibri"/>
              <a:ea typeface="Calibri"/>
              <a:cs typeface="Calibri"/>
              <a:sym typeface="Calibri"/>
            </a:endParaRPr>
          </a:p>
        </p:txBody>
      </p:sp>
      <p:sp>
        <p:nvSpPr>
          <p:cNvPr id="270" name="Google Shape;270;p10"/>
          <p:cNvSpPr/>
          <p:nvPr/>
        </p:nvSpPr>
        <p:spPr>
          <a:xfrm>
            <a:off x="274320" y="4818888"/>
            <a:ext cx="859536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100"/>
              <a:buFont typeface="Calibri"/>
              <a:buNone/>
            </a:pPr>
            <a:r>
              <a:rPr i="1" lang="en-US" sz="1100">
                <a:solidFill>
                  <a:srgbClr val="00B4D8"/>
                </a:solidFill>
                <a:latin typeface="Calibri"/>
                <a:ea typeface="Calibri"/>
                <a:cs typeface="Calibri"/>
                <a:sym typeface="Calibri"/>
              </a:rPr>
              <a:t>Lightning LoRA sayesinde standart 20+ adım yerine yalnızca 4 adımda tamamlanır — 5–8× hız kazanımı</a:t>
            </a:r>
            <a:endParaRPr sz="1100">
              <a:solidFill>
                <a:schemeClr val="dk1"/>
              </a:solidFill>
              <a:latin typeface="Calibri"/>
              <a:ea typeface="Calibri"/>
              <a:cs typeface="Calibri"/>
              <a:sym typeface="Calibri"/>
            </a:endParaRPr>
          </a:p>
        </p:txBody>
      </p:sp>
      <p:cxnSp>
        <p:nvCxnSpPr>
          <p:cNvPr id="271" name="Google Shape;271;p10"/>
          <p:cNvCxnSpPr/>
          <p:nvPr/>
        </p:nvCxnSpPr>
        <p:spPr>
          <a:xfrm>
            <a:off x="2277404" y="3246120"/>
            <a:ext cx="73200" cy="0"/>
          </a:xfrm>
          <a:prstGeom prst="straightConnector1">
            <a:avLst/>
          </a:prstGeom>
          <a:noFill/>
          <a:ln cap="flat" cmpd="sng" w="25400">
            <a:solidFill>
              <a:srgbClr val="00B4D8"/>
            </a:solidFill>
            <a:prstDash val="solid"/>
            <a:round/>
            <a:headEnd len="sm" w="sm" type="none"/>
            <a:tailEnd len="med" w="med" type="triangle"/>
          </a:ln>
        </p:spPr>
      </p:cxnSp>
      <p:cxnSp>
        <p:nvCxnSpPr>
          <p:cNvPr id="272" name="Google Shape;272;p10"/>
          <p:cNvCxnSpPr/>
          <p:nvPr/>
        </p:nvCxnSpPr>
        <p:spPr>
          <a:xfrm>
            <a:off x="4432527" y="3246120"/>
            <a:ext cx="73200" cy="0"/>
          </a:xfrm>
          <a:prstGeom prst="straightConnector1">
            <a:avLst/>
          </a:prstGeom>
          <a:noFill/>
          <a:ln cap="flat" cmpd="sng" w="25400">
            <a:solidFill>
              <a:srgbClr val="00B4D8"/>
            </a:solidFill>
            <a:prstDash val="solid"/>
            <a:round/>
            <a:headEnd len="sm" w="sm" type="none"/>
            <a:tailEnd len="med" w="med" type="triangle"/>
          </a:ln>
        </p:spPr>
      </p:cxnSp>
      <p:cxnSp>
        <p:nvCxnSpPr>
          <p:cNvPr id="273" name="Google Shape;273;p10"/>
          <p:cNvCxnSpPr/>
          <p:nvPr/>
        </p:nvCxnSpPr>
        <p:spPr>
          <a:xfrm>
            <a:off x="6624525" y="3246120"/>
            <a:ext cx="73200" cy="0"/>
          </a:xfrm>
          <a:prstGeom prst="straightConnector1">
            <a:avLst/>
          </a:prstGeom>
          <a:noFill/>
          <a:ln cap="flat" cmpd="sng" w="25400">
            <a:solidFill>
              <a:srgbClr val="00B4D8"/>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78" name="Shape 278"/>
        <p:cNvGrpSpPr/>
        <p:nvPr/>
      </p:nvGrpSpPr>
      <p:grpSpPr>
        <a:xfrm>
          <a:off x="0" y="0"/>
          <a:ext cx="0" cy="0"/>
          <a:chOff x="0" y="0"/>
          <a:chExt cx="0" cy="0"/>
        </a:xfrm>
      </p:grpSpPr>
      <p:sp>
        <p:nvSpPr>
          <p:cNvPr id="279" name="Google Shape;279;p11"/>
          <p:cNvSpPr/>
          <p:nvPr/>
        </p:nvSpPr>
        <p:spPr>
          <a:xfrm>
            <a:off x="365760" y="18288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COMFYUİ İŞ AKIŞI — PIPELINE YAPISI</a:t>
            </a:r>
            <a:endParaRPr sz="2200">
              <a:solidFill>
                <a:schemeClr val="dk1"/>
              </a:solidFill>
              <a:latin typeface="Calibri"/>
              <a:ea typeface="Calibri"/>
              <a:cs typeface="Calibri"/>
              <a:sym typeface="Calibri"/>
            </a:endParaRPr>
          </a:p>
        </p:txBody>
      </p:sp>
      <p:sp>
        <p:nvSpPr>
          <p:cNvPr id="280" name="Google Shape;280;p11"/>
          <p:cNvSpPr/>
          <p:nvPr/>
        </p:nvSpPr>
        <p:spPr>
          <a:xfrm>
            <a:off x="365760" y="685800"/>
            <a:ext cx="8412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300"/>
              <a:buFont typeface="Calibri"/>
              <a:buNone/>
            </a:pPr>
            <a:r>
              <a:rPr i="1" lang="en-US" sz="1300">
                <a:solidFill>
                  <a:srgbClr val="B0C4DE"/>
                </a:solidFill>
                <a:latin typeface="Calibri"/>
                <a:ea typeface="Calibri"/>
                <a:cs typeface="Calibri"/>
                <a:sym typeface="Calibri"/>
              </a:rPr>
              <a:t>Tek girdi görsel → 3 bağımsız üretim zinciri → 3 profesyonel çıktı</a:t>
            </a:r>
            <a:endParaRPr sz="1300">
              <a:solidFill>
                <a:schemeClr val="dk1"/>
              </a:solidFill>
              <a:latin typeface="Calibri"/>
              <a:ea typeface="Calibri"/>
              <a:cs typeface="Calibri"/>
              <a:sym typeface="Calibri"/>
            </a:endParaRPr>
          </a:p>
        </p:txBody>
      </p:sp>
      <p:sp>
        <p:nvSpPr>
          <p:cNvPr id="281" name="Google Shape;281;p11"/>
          <p:cNvSpPr/>
          <p:nvPr/>
        </p:nvSpPr>
        <p:spPr>
          <a:xfrm>
            <a:off x="274320" y="1097280"/>
            <a:ext cx="1828800" cy="3474720"/>
          </a:xfrm>
          <a:prstGeom prst="rect">
            <a:avLst/>
          </a:prstGeom>
          <a:solidFill>
            <a:srgbClr val="132040"/>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
          <p:cNvSpPr/>
          <p:nvPr/>
        </p:nvSpPr>
        <p:spPr>
          <a:xfrm>
            <a:off x="274320" y="1170432"/>
            <a:ext cx="18288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000"/>
              <a:buFont typeface="Calibri"/>
              <a:buNone/>
            </a:pPr>
            <a:r>
              <a:rPr b="1" lang="en-US" sz="1000">
                <a:solidFill>
                  <a:srgbClr val="00B4D8"/>
                </a:solidFill>
                <a:latin typeface="Calibri"/>
                <a:ea typeface="Calibri"/>
                <a:cs typeface="Calibri"/>
                <a:sym typeface="Calibri"/>
              </a:rPr>
              <a:t>PAYLAŞILAN</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00B4D8"/>
              </a:buClr>
              <a:buSzPts val="1000"/>
              <a:buFont typeface="Calibri"/>
              <a:buNone/>
            </a:pPr>
            <a:r>
              <a:rPr b="1" lang="en-US" sz="1000">
                <a:solidFill>
                  <a:srgbClr val="00B4D8"/>
                </a:solidFill>
                <a:latin typeface="Calibri"/>
                <a:ea typeface="Calibri"/>
                <a:cs typeface="Calibri"/>
                <a:sym typeface="Calibri"/>
              </a:rPr>
              <a:t>BİLEŞENLER</a:t>
            </a:r>
            <a:endParaRPr sz="1000">
              <a:solidFill>
                <a:schemeClr val="dk1"/>
              </a:solidFill>
              <a:latin typeface="Calibri"/>
              <a:ea typeface="Calibri"/>
              <a:cs typeface="Calibri"/>
              <a:sym typeface="Calibri"/>
            </a:endParaRPr>
          </a:p>
        </p:txBody>
      </p:sp>
      <p:sp>
        <p:nvSpPr>
          <p:cNvPr id="283" name="Google Shape;283;p11"/>
          <p:cNvSpPr/>
          <p:nvPr/>
        </p:nvSpPr>
        <p:spPr>
          <a:xfrm>
            <a:off x="320040" y="1719072"/>
            <a:ext cx="1691640" cy="2697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950"/>
              <a:buFont typeface="Calibri"/>
              <a:buNone/>
            </a:pPr>
            <a:r>
              <a:rPr lang="en-US" sz="950">
                <a:solidFill>
                  <a:srgbClr val="B0C4DE"/>
                </a:solidFill>
                <a:latin typeface="Calibri"/>
                <a:ea typeface="Calibri"/>
                <a:cs typeface="Calibri"/>
                <a:sym typeface="Calibri"/>
              </a:rPr>
              <a:t>📷 Görsel Yükleme</a:t>
            </a:r>
            <a:endParaRPr sz="950">
              <a:solidFill>
                <a:schemeClr val="dk1"/>
              </a:solidFill>
              <a:latin typeface="Calibri"/>
              <a:ea typeface="Calibri"/>
              <a:cs typeface="Calibri"/>
              <a:sym typeface="Calibri"/>
            </a:endParaRPr>
          </a:p>
          <a:p>
            <a:pPr indent="0" lvl="0" marL="0" marR="0" rtl="0" algn="l">
              <a:spcBef>
                <a:spcPts val="200"/>
              </a:spcBef>
              <a:spcAft>
                <a:spcPts val="0"/>
              </a:spcAft>
              <a:buClr>
                <a:srgbClr val="B0C4DE"/>
              </a:buClr>
              <a:buSzPts val="950"/>
              <a:buFont typeface="Calibri"/>
              <a:buNone/>
            </a:pPr>
            <a:r>
              <a:rPr lang="en-US" sz="950">
                <a:solidFill>
                  <a:srgbClr val="B0C4DE"/>
                </a:solidFill>
                <a:latin typeface="Calibri"/>
                <a:ea typeface="Calibri"/>
                <a:cs typeface="Calibri"/>
                <a:sym typeface="Calibri"/>
              </a:rPr>
              <a:t>📏 Ölçekleme (1MP)</a:t>
            </a:r>
            <a:endParaRPr sz="950">
              <a:solidFill>
                <a:schemeClr val="dk1"/>
              </a:solidFill>
              <a:latin typeface="Calibri"/>
              <a:ea typeface="Calibri"/>
              <a:cs typeface="Calibri"/>
              <a:sym typeface="Calibri"/>
            </a:endParaRPr>
          </a:p>
          <a:p>
            <a:pPr indent="0" lvl="0" marL="0" marR="0" rtl="0" algn="l">
              <a:spcBef>
                <a:spcPts val="200"/>
              </a:spcBef>
              <a:spcAft>
                <a:spcPts val="0"/>
              </a:spcAft>
              <a:buClr>
                <a:srgbClr val="B0C4DE"/>
              </a:buClr>
              <a:buSzPts val="950"/>
              <a:buFont typeface="Calibri"/>
              <a:buNone/>
            </a:pPr>
            <a:r>
              <a:rPr lang="en-US" sz="950">
                <a:solidFill>
                  <a:srgbClr val="B0C4DE"/>
                </a:solidFill>
                <a:latin typeface="Calibri"/>
                <a:ea typeface="Calibri"/>
                <a:cs typeface="Calibri"/>
                <a:sym typeface="Calibri"/>
              </a:rPr>
              <a:t>🔢 VAE Encode</a:t>
            </a:r>
            <a:endParaRPr sz="950">
              <a:solidFill>
                <a:schemeClr val="dk1"/>
              </a:solidFill>
              <a:latin typeface="Calibri"/>
              <a:ea typeface="Calibri"/>
              <a:cs typeface="Calibri"/>
              <a:sym typeface="Calibri"/>
            </a:endParaRPr>
          </a:p>
          <a:p>
            <a:pPr indent="0" lvl="0" marL="0" marR="0" rtl="0" algn="l">
              <a:spcBef>
                <a:spcPts val="200"/>
              </a:spcBef>
              <a:spcAft>
                <a:spcPts val="0"/>
              </a:spcAft>
              <a:buClr>
                <a:srgbClr val="B0C4DE"/>
              </a:buClr>
              <a:buSzPts val="950"/>
              <a:buFont typeface="Calibri"/>
              <a:buNone/>
            </a:pPr>
            <a:r>
              <a:rPr lang="en-US" sz="950">
                <a:solidFill>
                  <a:srgbClr val="B0C4DE"/>
                </a:solidFill>
                <a:latin typeface="Calibri"/>
                <a:ea typeface="Calibri"/>
                <a:cs typeface="Calibri"/>
                <a:sym typeface="Calibri"/>
              </a:rPr>
              <a:t>🔑 VAE Loader</a:t>
            </a:r>
            <a:endParaRPr sz="950">
              <a:solidFill>
                <a:schemeClr val="dk1"/>
              </a:solidFill>
              <a:latin typeface="Calibri"/>
              <a:ea typeface="Calibri"/>
              <a:cs typeface="Calibri"/>
              <a:sym typeface="Calibri"/>
            </a:endParaRPr>
          </a:p>
          <a:p>
            <a:pPr indent="0" lvl="0" marL="0" marR="0" rtl="0" algn="l">
              <a:spcBef>
                <a:spcPts val="200"/>
              </a:spcBef>
              <a:spcAft>
                <a:spcPts val="0"/>
              </a:spcAft>
              <a:buClr>
                <a:srgbClr val="B0C4DE"/>
              </a:buClr>
              <a:buSzPts val="950"/>
              <a:buFont typeface="Calibri"/>
              <a:buNone/>
            </a:pPr>
            <a:r>
              <a:rPr lang="en-US" sz="950">
                <a:solidFill>
                  <a:srgbClr val="B0C4DE"/>
                </a:solidFill>
                <a:latin typeface="Calibri"/>
                <a:ea typeface="Calibri"/>
                <a:cs typeface="Calibri"/>
                <a:sym typeface="Calibri"/>
              </a:rPr>
              <a:t>💬 CLIP Loader</a:t>
            </a:r>
            <a:endParaRPr sz="950">
              <a:solidFill>
                <a:schemeClr val="dk1"/>
              </a:solidFill>
              <a:latin typeface="Calibri"/>
              <a:ea typeface="Calibri"/>
              <a:cs typeface="Calibri"/>
              <a:sym typeface="Calibri"/>
            </a:endParaRPr>
          </a:p>
          <a:p>
            <a:pPr indent="0" lvl="0" marL="0" marR="0" rtl="0" algn="l">
              <a:spcBef>
                <a:spcPts val="200"/>
              </a:spcBef>
              <a:spcAft>
                <a:spcPts val="0"/>
              </a:spcAft>
              <a:buClr>
                <a:srgbClr val="B0C4DE"/>
              </a:buClr>
              <a:buSzPts val="950"/>
              <a:buFont typeface="Calibri"/>
              <a:buNone/>
            </a:pPr>
            <a:r>
              <a:rPr lang="en-US" sz="950">
                <a:solidFill>
                  <a:srgbClr val="B0C4DE"/>
                </a:solidFill>
                <a:latin typeface="Calibri"/>
                <a:ea typeface="Calibri"/>
                <a:cs typeface="Calibri"/>
                <a:sym typeface="Calibri"/>
              </a:rPr>
              <a:t>🧠 UNET Loader</a:t>
            </a:r>
            <a:endParaRPr sz="950">
              <a:solidFill>
                <a:schemeClr val="dk1"/>
              </a:solidFill>
              <a:latin typeface="Calibri"/>
              <a:ea typeface="Calibri"/>
              <a:cs typeface="Calibri"/>
              <a:sym typeface="Calibri"/>
            </a:endParaRPr>
          </a:p>
          <a:p>
            <a:pPr indent="0" lvl="0" marL="0" marR="0" rtl="0" algn="l">
              <a:spcBef>
                <a:spcPts val="200"/>
              </a:spcBef>
              <a:spcAft>
                <a:spcPts val="0"/>
              </a:spcAft>
              <a:buClr>
                <a:srgbClr val="B0C4DE"/>
              </a:buClr>
              <a:buSzPts val="950"/>
              <a:buFont typeface="Calibri"/>
              <a:buNone/>
            </a:pPr>
            <a:r>
              <a:rPr lang="en-US" sz="950">
                <a:solidFill>
                  <a:srgbClr val="B0C4DE"/>
                </a:solidFill>
                <a:latin typeface="Calibri"/>
                <a:ea typeface="Calibri"/>
                <a:cs typeface="Calibri"/>
                <a:sym typeface="Calibri"/>
              </a:rPr>
              <a:t>✨ LoRA Yükleme</a:t>
            </a:r>
            <a:endParaRPr sz="950">
              <a:solidFill>
                <a:schemeClr val="dk1"/>
              </a:solidFill>
              <a:latin typeface="Calibri"/>
              <a:ea typeface="Calibri"/>
              <a:cs typeface="Calibri"/>
              <a:sym typeface="Calibri"/>
            </a:endParaRPr>
          </a:p>
          <a:p>
            <a:pPr indent="0" lvl="0" marL="0" marR="0" rtl="0" algn="l">
              <a:spcBef>
                <a:spcPts val="200"/>
              </a:spcBef>
              <a:spcAft>
                <a:spcPts val="0"/>
              </a:spcAft>
              <a:buClr>
                <a:srgbClr val="B0C4DE"/>
              </a:buClr>
              <a:buSzPts val="950"/>
              <a:buFont typeface="Calibri"/>
              <a:buNone/>
            </a:pPr>
            <a:r>
              <a:rPr lang="en-US" sz="950">
                <a:solidFill>
                  <a:srgbClr val="B0C4DE"/>
                </a:solidFill>
                <a:latin typeface="Calibri"/>
                <a:ea typeface="Calibri"/>
                <a:cs typeface="Calibri"/>
                <a:sym typeface="Calibri"/>
              </a:rPr>
              <a:t>⚙️ AuraFlow Setup</a:t>
            </a:r>
            <a:endParaRPr sz="950">
              <a:solidFill>
                <a:schemeClr val="dk1"/>
              </a:solidFill>
              <a:latin typeface="Calibri"/>
              <a:ea typeface="Calibri"/>
              <a:cs typeface="Calibri"/>
              <a:sym typeface="Calibri"/>
            </a:endParaRPr>
          </a:p>
          <a:p>
            <a:pPr indent="0" lvl="0" marL="0" marR="0" rtl="0" algn="l">
              <a:spcBef>
                <a:spcPts val="200"/>
              </a:spcBef>
              <a:spcAft>
                <a:spcPts val="0"/>
              </a:spcAft>
              <a:buClr>
                <a:srgbClr val="B0C4DE"/>
              </a:buClr>
              <a:buSzPts val="950"/>
              <a:buFont typeface="Calibri"/>
              <a:buNone/>
            </a:pPr>
            <a:r>
              <a:rPr lang="en-US" sz="950">
                <a:solidFill>
                  <a:srgbClr val="B0C4DE"/>
                </a:solidFill>
                <a:latin typeface="Calibri"/>
                <a:ea typeface="Calibri"/>
                <a:cs typeface="Calibri"/>
                <a:sym typeface="Calibri"/>
              </a:rPr>
              <a:t>🔧 CFGNorm</a:t>
            </a:r>
            <a:endParaRPr sz="950">
              <a:solidFill>
                <a:schemeClr val="dk1"/>
              </a:solidFill>
              <a:latin typeface="Calibri"/>
              <a:ea typeface="Calibri"/>
              <a:cs typeface="Calibri"/>
              <a:sym typeface="Calibri"/>
            </a:endParaRPr>
          </a:p>
        </p:txBody>
      </p:sp>
      <p:cxnSp>
        <p:nvCxnSpPr>
          <p:cNvPr id="284" name="Google Shape;284;p11"/>
          <p:cNvCxnSpPr/>
          <p:nvPr/>
        </p:nvCxnSpPr>
        <p:spPr>
          <a:xfrm>
            <a:off x="2194560" y="2834640"/>
            <a:ext cx="548640" cy="0"/>
          </a:xfrm>
          <a:prstGeom prst="straightConnector1">
            <a:avLst/>
          </a:prstGeom>
          <a:noFill/>
          <a:ln cap="flat" cmpd="sng" w="25400">
            <a:solidFill>
              <a:srgbClr val="00B4D8"/>
            </a:solidFill>
            <a:prstDash val="solid"/>
            <a:round/>
            <a:headEnd len="sm" w="sm" type="none"/>
            <a:tailEnd len="med" w="med" type="triangle"/>
          </a:ln>
        </p:spPr>
      </p:cxnSp>
      <p:sp>
        <p:nvSpPr>
          <p:cNvPr id="285" name="Google Shape;285;p11"/>
          <p:cNvSpPr/>
          <p:nvPr/>
        </p:nvSpPr>
        <p:spPr>
          <a:xfrm>
            <a:off x="2880360" y="1097280"/>
            <a:ext cx="5989320" cy="960120"/>
          </a:xfrm>
          <a:prstGeom prst="rect">
            <a:avLst/>
          </a:prstGeom>
          <a:solidFill>
            <a:srgbClr val="1C2E50"/>
          </a:solidFill>
          <a:ln cap="flat" cmpd="sng" w="1905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p:nvPr/>
        </p:nvSpPr>
        <p:spPr>
          <a:xfrm>
            <a:off x="2880360" y="1097280"/>
            <a:ext cx="64008" cy="96012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1"/>
          <p:cNvSpPr/>
          <p:nvPr/>
        </p:nvSpPr>
        <p:spPr>
          <a:xfrm>
            <a:off x="3063240" y="1143000"/>
            <a:ext cx="1371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000"/>
              <a:buFont typeface="Calibri"/>
              <a:buNone/>
            </a:pPr>
            <a:r>
              <a:rPr b="1" lang="en-US" sz="1000">
                <a:solidFill>
                  <a:srgbClr val="00B4D8"/>
                </a:solidFill>
                <a:latin typeface="Calibri"/>
                <a:ea typeface="Calibri"/>
                <a:cs typeface="Calibri"/>
                <a:sym typeface="Calibri"/>
              </a:rPr>
              <a:t>ÖN GÖRÜNÜM</a:t>
            </a:r>
            <a:endParaRPr sz="1000">
              <a:solidFill>
                <a:schemeClr val="dk1"/>
              </a:solidFill>
              <a:latin typeface="Calibri"/>
              <a:ea typeface="Calibri"/>
              <a:cs typeface="Calibri"/>
              <a:sym typeface="Calibri"/>
            </a:endParaRPr>
          </a:p>
        </p:txBody>
      </p:sp>
      <p:sp>
        <p:nvSpPr>
          <p:cNvPr id="288" name="Google Shape;288;p11"/>
          <p:cNvSpPr/>
          <p:nvPr/>
        </p:nvSpPr>
        <p:spPr>
          <a:xfrm>
            <a:off x="3017520" y="1554480"/>
            <a:ext cx="1298448" cy="384048"/>
          </a:xfrm>
          <a:prstGeom prst="rect">
            <a:avLst/>
          </a:prstGeom>
          <a:solidFill>
            <a:srgbClr val="0A1628"/>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1"/>
          <p:cNvSpPr/>
          <p:nvPr/>
        </p:nvSpPr>
        <p:spPr>
          <a:xfrm>
            <a:off x="3017520" y="1554480"/>
            <a:ext cx="12984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Prompt</a:t>
            </a:r>
            <a:r>
              <a:rPr lang="en-US" sz="900">
                <a:solidFill>
                  <a:srgbClr val="FFFFFF"/>
                </a:solidFill>
                <a:latin typeface="Calibri"/>
                <a:ea typeface="Calibri"/>
                <a:cs typeface="Calibri"/>
                <a:sym typeface="Calibri"/>
              </a:rPr>
              <a:t>(+/-)</a:t>
            </a:r>
            <a:endParaRPr sz="900">
              <a:solidFill>
                <a:schemeClr val="dk1"/>
              </a:solidFill>
              <a:latin typeface="Calibri"/>
              <a:ea typeface="Calibri"/>
              <a:cs typeface="Calibri"/>
              <a:sym typeface="Calibri"/>
            </a:endParaRPr>
          </a:p>
        </p:txBody>
      </p:sp>
      <p:cxnSp>
        <p:nvCxnSpPr>
          <p:cNvPr id="290" name="Google Shape;290;p11"/>
          <p:cNvCxnSpPr/>
          <p:nvPr/>
        </p:nvCxnSpPr>
        <p:spPr>
          <a:xfrm>
            <a:off x="4325112" y="1746504"/>
            <a:ext cx="73152" cy="0"/>
          </a:xfrm>
          <a:prstGeom prst="straightConnector1">
            <a:avLst/>
          </a:prstGeom>
          <a:noFill/>
          <a:ln cap="flat" cmpd="sng" w="19050">
            <a:solidFill>
              <a:srgbClr val="00B4D8"/>
            </a:solidFill>
            <a:prstDash val="solid"/>
            <a:round/>
            <a:headEnd len="sm" w="sm" type="none"/>
            <a:tailEnd len="med" w="med" type="triangle"/>
          </a:ln>
        </p:spPr>
      </p:cxnSp>
      <p:sp>
        <p:nvSpPr>
          <p:cNvPr id="291" name="Google Shape;291;p11"/>
          <p:cNvSpPr/>
          <p:nvPr/>
        </p:nvSpPr>
        <p:spPr>
          <a:xfrm>
            <a:off x="4416552" y="1554480"/>
            <a:ext cx="1298448" cy="384048"/>
          </a:xfrm>
          <a:prstGeom prst="rect">
            <a:avLst/>
          </a:prstGeom>
          <a:solidFill>
            <a:srgbClr val="0A1628"/>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1"/>
          <p:cNvSpPr/>
          <p:nvPr/>
        </p:nvSpPr>
        <p:spPr>
          <a:xfrm>
            <a:off x="4416552" y="1554480"/>
            <a:ext cx="12984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KSampler (4 adım)</a:t>
            </a:r>
            <a:endParaRPr sz="900">
              <a:solidFill>
                <a:schemeClr val="dk1"/>
              </a:solidFill>
              <a:latin typeface="Calibri"/>
              <a:ea typeface="Calibri"/>
              <a:cs typeface="Calibri"/>
              <a:sym typeface="Calibri"/>
            </a:endParaRPr>
          </a:p>
        </p:txBody>
      </p:sp>
      <p:cxnSp>
        <p:nvCxnSpPr>
          <p:cNvPr id="293" name="Google Shape;293;p11"/>
          <p:cNvCxnSpPr/>
          <p:nvPr/>
        </p:nvCxnSpPr>
        <p:spPr>
          <a:xfrm>
            <a:off x="5724144" y="1746504"/>
            <a:ext cx="73152" cy="0"/>
          </a:xfrm>
          <a:prstGeom prst="straightConnector1">
            <a:avLst/>
          </a:prstGeom>
          <a:noFill/>
          <a:ln cap="flat" cmpd="sng" w="19050">
            <a:solidFill>
              <a:srgbClr val="00B4D8"/>
            </a:solidFill>
            <a:prstDash val="solid"/>
            <a:round/>
            <a:headEnd len="sm" w="sm" type="none"/>
            <a:tailEnd len="med" w="med" type="triangle"/>
          </a:ln>
        </p:spPr>
      </p:cxnSp>
      <p:sp>
        <p:nvSpPr>
          <p:cNvPr id="294" name="Google Shape;294;p11"/>
          <p:cNvSpPr/>
          <p:nvPr/>
        </p:nvSpPr>
        <p:spPr>
          <a:xfrm>
            <a:off x="5815584" y="1554480"/>
            <a:ext cx="1298448" cy="384048"/>
          </a:xfrm>
          <a:prstGeom prst="rect">
            <a:avLst/>
          </a:prstGeom>
          <a:solidFill>
            <a:srgbClr val="0A1628"/>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a:off x="5815584" y="1554480"/>
            <a:ext cx="12984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VAE Decode</a:t>
            </a:r>
            <a:endParaRPr sz="900">
              <a:solidFill>
                <a:schemeClr val="dk1"/>
              </a:solidFill>
              <a:latin typeface="Calibri"/>
              <a:ea typeface="Calibri"/>
              <a:cs typeface="Calibri"/>
              <a:sym typeface="Calibri"/>
            </a:endParaRPr>
          </a:p>
        </p:txBody>
      </p:sp>
      <p:cxnSp>
        <p:nvCxnSpPr>
          <p:cNvPr id="296" name="Google Shape;296;p11"/>
          <p:cNvCxnSpPr/>
          <p:nvPr/>
        </p:nvCxnSpPr>
        <p:spPr>
          <a:xfrm>
            <a:off x="7123176" y="1746504"/>
            <a:ext cx="73152" cy="0"/>
          </a:xfrm>
          <a:prstGeom prst="straightConnector1">
            <a:avLst/>
          </a:prstGeom>
          <a:noFill/>
          <a:ln cap="flat" cmpd="sng" w="19050">
            <a:solidFill>
              <a:srgbClr val="00B4D8"/>
            </a:solidFill>
            <a:prstDash val="solid"/>
            <a:round/>
            <a:headEnd len="sm" w="sm" type="none"/>
            <a:tailEnd len="med" w="med" type="triangle"/>
          </a:ln>
        </p:spPr>
      </p:cxnSp>
      <p:sp>
        <p:nvSpPr>
          <p:cNvPr id="297" name="Google Shape;297;p11"/>
          <p:cNvSpPr/>
          <p:nvPr/>
        </p:nvSpPr>
        <p:spPr>
          <a:xfrm>
            <a:off x="7214616" y="1554480"/>
            <a:ext cx="1298448" cy="384048"/>
          </a:xfrm>
          <a:prstGeom prst="rect">
            <a:avLst/>
          </a:prstGeom>
          <a:solidFill>
            <a:srgbClr val="0A1628"/>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7214616" y="1554480"/>
            <a:ext cx="12984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Kaydet</a:t>
            </a:r>
            <a:endParaRPr sz="900">
              <a:solidFill>
                <a:schemeClr val="dk1"/>
              </a:solidFill>
              <a:latin typeface="Calibri"/>
              <a:ea typeface="Calibri"/>
              <a:cs typeface="Calibri"/>
              <a:sym typeface="Calibri"/>
            </a:endParaRPr>
          </a:p>
        </p:txBody>
      </p:sp>
      <p:sp>
        <p:nvSpPr>
          <p:cNvPr id="299" name="Google Shape;299;p11"/>
          <p:cNvSpPr/>
          <p:nvPr/>
        </p:nvSpPr>
        <p:spPr>
          <a:xfrm>
            <a:off x="2880360" y="2286000"/>
            <a:ext cx="5989320" cy="960120"/>
          </a:xfrm>
          <a:prstGeom prst="rect">
            <a:avLst/>
          </a:prstGeom>
          <a:solidFill>
            <a:srgbClr val="1C2E50"/>
          </a:solidFill>
          <a:ln cap="flat" cmpd="sng" w="19050">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2880360" y="2286000"/>
            <a:ext cx="64008" cy="960120"/>
          </a:xfrm>
          <a:prstGeom prst="rect">
            <a:avLst/>
          </a:prstGeom>
          <a:solidFill>
            <a:srgbClr val="06D6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
          <p:cNvSpPr/>
          <p:nvPr/>
        </p:nvSpPr>
        <p:spPr>
          <a:xfrm>
            <a:off x="3063240" y="2331720"/>
            <a:ext cx="1371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1000"/>
              <a:buFont typeface="Calibri"/>
              <a:buNone/>
            </a:pPr>
            <a:r>
              <a:rPr b="1" lang="en-US" sz="1000">
                <a:solidFill>
                  <a:srgbClr val="06D6A0"/>
                </a:solidFill>
                <a:latin typeface="Calibri"/>
                <a:ea typeface="Calibri"/>
                <a:cs typeface="Calibri"/>
                <a:sym typeface="Calibri"/>
              </a:rPr>
              <a:t>YAN PROFİL</a:t>
            </a:r>
            <a:endParaRPr sz="1000">
              <a:solidFill>
                <a:schemeClr val="dk1"/>
              </a:solidFill>
              <a:latin typeface="Calibri"/>
              <a:ea typeface="Calibri"/>
              <a:cs typeface="Calibri"/>
              <a:sym typeface="Calibri"/>
            </a:endParaRPr>
          </a:p>
        </p:txBody>
      </p:sp>
      <p:sp>
        <p:nvSpPr>
          <p:cNvPr id="302" name="Google Shape;302;p11"/>
          <p:cNvSpPr/>
          <p:nvPr/>
        </p:nvSpPr>
        <p:spPr>
          <a:xfrm>
            <a:off x="3017520" y="2743200"/>
            <a:ext cx="1298448" cy="384048"/>
          </a:xfrm>
          <a:prstGeom prst="rect">
            <a:avLst/>
          </a:prstGeom>
          <a:solidFill>
            <a:srgbClr val="0A1628"/>
          </a:solidFill>
          <a:ln cap="flat" cmpd="sng" w="9525">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3017520" y="2743200"/>
            <a:ext cx="12984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Prompt</a:t>
            </a:r>
            <a:r>
              <a:rPr lang="en-US" sz="900">
                <a:solidFill>
                  <a:srgbClr val="FFFFFF"/>
                </a:solidFill>
                <a:latin typeface="Calibri"/>
                <a:ea typeface="Calibri"/>
                <a:cs typeface="Calibri"/>
                <a:sym typeface="Calibri"/>
              </a:rPr>
              <a:t>(+/-)</a:t>
            </a:r>
            <a:endParaRPr sz="900">
              <a:solidFill>
                <a:schemeClr val="dk1"/>
              </a:solidFill>
              <a:latin typeface="Calibri"/>
              <a:ea typeface="Calibri"/>
              <a:cs typeface="Calibri"/>
              <a:sym typeface="Calibri"/>
            </a:endParaRPr>
          </a:p>
        </p:txBody>
      </p:sp>
      <p:cxnSp>
        <p:nvCxnSpPr>
          <p:cNvPr id="304" name="Google Shape;304;p11"/>
          <p:cNvCxnSpPr/>
          <p:nvPr/>
        </p:nvCxnSpPr>
        <p:spPr>
          <a:xfrm>
            <a:off x="4325112" y="2935224"/>
            <a:ext cx="73152" cy="0"/>
          </a:xfrm>
          <a:prstGeom prst="straightConnector1">
            <a:avLst/>
          </a:prstGeom>
          <a:noFill/>
          <a:ln cap="flat" cmpd="sng" w="19050">
            <a:solidFill>
              <a:srgbClr val="06D6A0"/>
            </a:solidFill>
            <a:prstDash val="solid"/>
            <a:round/>
            <a:headEnd len="sm" w="sm" type="none"/>
            <a:tailEnd len="med" w="med" type="triangle"/>
          </a:ln>
        </p:spPr>
      </p:cxnSp>
      <p:sp>
        <p:nvSpPr>
          <p:cNvPr id="305" name="Google Shape;305;p11"/>
          <p:cNvSpPr/>
          <p:nvPr/>
        </p:nvSpPr>
        <p:spPr>
          <a:xfrm>
            <a:off x="4416552" y="2743200"/>
            <a:ext cx="1298448" cy="384048"/>
          </a:xfrm>
          <a:prstGeom prst="rect">
            <a:avLst/>
          </a:prstGeom>
          <a:solidFill>
            <a:srgbClr val="0A1628"/>
          </a:solidFill>
          <a:ln cap="flat" cmpd="sng" w="9525">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4416552" y="2743200"/>
            <a:ext cx="12984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KSampler (4 adım)</a:t>
            </a:r>
            <a:endParaRPr sz="900">
              <a:solidFill>
                <a:schemeClr val="dk1"/>
              </a:solidFill>
              <a:latin typeface="Calibri"/>
              <a:ea typeface="Calibri"/>
              <a:cs typeface="Calibri"/>
              <a:sym typeface="Calibri"/>
            </a:endParaRPr>
          </a:p>
        </p:txBody>
      </p:sp>
      <p:cxnSp>
        <p:nvCxnSpPr>
          <p:cNvPr id="307" name="Google Shape;307;p11"/>
          <p:cNvCxnSpPr/>
          <p:nvPr/>
        </p:nvCxnSpPr>
        <p:spPr>
          <a:xfrm>
            <a:off x="5724144" y="2935224"/>
            <a:ext cx="73152" cy="0"/>
          </a:xfrm>
          <a:prstGeom prst="straightConnector1">
            <a:avLst/>
          </a:prstGeom>
          <a:noFill/>
          <a:ln cap="flat" cmpd="sng" w="19050">
            <a:solidFill>
              <a:srgbClr val="06D6A0"/>
            </a:solidFill>
            <a:prstDash val="solid"/>
            <a:round/>
            <a:headEnd len="sm" w="sm" type="none"/>
            <a:tailEnd len="med" w="med" type="triangle"/>
          </a:ln>
        </p:spPr>
      </p:cxnSp>
      <p:sp>
        <p:nvSpPr>
          <p:cNvPr id="308" name="Google Shape;308;p11"/>
          <p:cNvSpPr/>
          <p:nvPr/>
        </p:nvSpPr>
        <p:spPr>
          <a:xfrm>
            <a:off x="5815584" y="2743200"/>
            <a:ext cx="1298448" cy="384048"/>
          </a:xfrm>
          <a:prstGeom prst="rect">
            <a:avLst/>
          </a:prstGeom>
          <a:solidFill>
            <a:srgbClr val="0A1628"/>
          </a:solidFill>
          <a:ln cap="flat" cmpd="sng" w="9525">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5815584" y="2743200"/>
            <a:ext cx="12984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VAE Decode</a:t>
            </a:r>
            <a:endParaRPr sz="900">
              <a:solidFill>
                <a:schemeClr val="dk1"/>
              </a:solidFill>
              <a:latin typeface="Calibri"/>
              <a:ea typeface="Calibri"/>
              <a:cs typeface="Calibri"/>
              <a:sym typeface="Calibri"/>
            </a:endParaRPr>
          </a:p>
        </p:txBody>
      </p:sp>
      <p:cxnSp>
        <p:nvCxnSpPr>
          <p:cNvPr id="310" name="Google Shape;310;p11"/>
          <p:cNvCxnSpPr/>
          <p:nvPr/>
        </p:nvCxnSpPr>
        <p:spPr>
          <a:xfrm>
            <a:off x="7123176" y="2935224"/>
            <a:ext cx="73152" cy="0"/>
          </a:xfrm>
          <a:prstGeom prst="straightConnector1">
            <a:avLst/>
          </a:prstGeom>
          <a:noFill/>
          <a:ln cap="flat" cmpd="sng" w="19050">
            <a:solidFill>
              <a:srgbClr val="06D6A0"/>
            </a:solidFill>
            <a:prstDash val="solid"/>
            <a:round/>
            <a:headEnd len="sm" w="sm" type="none"/>
            <a:tailEnd len="med" w="med" type="triangle"/>
          </a:ln>
        </p:spPr>
      </p:cxnSp>
      <p:sp>
        <p:nvSpPr>
          <p:cNvPr id="311" name="Google Shape;311;p11"/>
          <p:cNvSpPr/>
          <p:nvPr/>
        </p:nvSpPr>
        <p:spPr>
          <a:xfrm>
            <a:off x="7214616" y="2743200"/>
            <a:ext cx="1298448" cy="384048"/>
          </a:xfrm>
          <a:prstGeom prst="rect">
            <a:avLst/>
          </a:prstGeom>
          <a:solidFill>
            <a:srgbClr val="0A1628"/>
          </a:solidFill>
          <a:ln cap="flat" cmpd="sng" w="9525">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7214616" y="2743200"/>
            <a:ext cx="12984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Kaydet</a:t>
            </a:r>
            <a:endParaRPr sz="900">
              <a:solidFill>
                <a:schemeClr val="dk1"/>
              </a:solidFill>
              <a:latin typeface="Calibri"/>
              <a:ea typeface="Calibri"/>
              <a:cs typeface="Calibri"/>
              <a:sym typeface="Calibri"/>
            </a:endParaRPr>
          </a:p>
        </p:txBody>
      </p:sp>
      <p:sp>
        <p:nvSpPr>
          <p:cNvPr id="313" name="Google Shape;313;p11"/>
          <p:cNvSpPr/>
          <p:nvPr/>
        </p:nvSpPr>
        <p:spPr>
          <a:xfrm>
            <a:off x="2880360" y="3474720"/>
            <a:ext cx="5989320" cy="960120"/>
          </a:xfrm>
          <a:prstGeom prst="rect">
            <a:avLst/>
          </a:prstGeom>
          <a:solidFill>
            <a:srgbClr val="1C2E50"/>
          </a:solidFill>
          <a:ln cap="flat" cmpd="sng" w="19050">
            <a:solidFill>
              <a:srgbClr val="FF6B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2880360" y="3474720"/>
            <a:ext cx="64008" cy="96012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3063240" y="3520440"/>
            <a:ext cx="1371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000"/>
              <a:buFont typeface="Calibri"/>
              <a:buNone/>
            </a:pPr>
            <a:r>
              <a:rPr b="1" lang="en-US" sz="1000">
                <a:solidFill>
                  <a:srgbClr val="FF6B35"/>
                </a:solidFill>
                <a:latin typeface="Calibri"/>
                <a:ea typeface="Calibri"/>
                <a:cs typeface="Calibri"/>
                <a:sym typeface="Calibri"/>
              </a:rPr>
              <a:t>İZOMETRİK</a:t>
            </a:r>
            <a:endParaRPr sz="1000">
              <a:solidFill>
                <a:schemeClr val="dk1"/>
              </a:solidFill>
              <a:latin typeface="Calibri"/>
              <a:ea typeface="Calibri"/>
              <a:cs typeface="Calibri"/>
              <a:sym typeface="Calibri"/>
            </a:endParaRPr>
          </a:p>
        </p:txBody>
      </p:sp>
      <p:sp>
        <p:nvSpPr>
          <p:cNvPr id="316" name="Google Shape;316;p11"/>
          <p:cNvSpPr/>
          <p:nvPr/>
        </p:nvSpPr>
        <p:spPr>
          <a:xfrm>
            <a:off x="3017520" y="3931920"/>
            <a:ext cx="1298448" cy="384048"/>
          </a:xfrm>
          <a:prstGeom prst="rect">
            <a:avLst/>
          </a:prstGeom>
          <a:solidFill>
            <a:srgbClr val="0A1628"/>
          </a:solidFill>
          <a:ln cap="flat" cmpd="sng" w="9525">
            <a:solidFill>
              <a:srgbClr val="FF6B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a:off x="3017520" y="3931920"/>
            <a:ext cx="12984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Prompt</a:t>
            </a:r>
            <a:r>
              <a:rPr lang="en-US" sz="900">
                <a:solidFill>
                  <a:srgbClr val="FFFFFF"/>
                </a:solidFill>
                <a:latin typeface="Calibri"/>
                <a:ea typeface="Calibri"/>
                <a:cs typeface="Calibri"/>
                <a:sym typeface="Calibri"/>
              </a:rPr>
              <a:t>(+/-)</a:t>
            </a:r>
            <a:endParaRPr sz="900">
              <a:solidFill>
                <a:schemeClr val="dk1"/>
              </a:solidFill>
              <a:latin typeface="Calibri"/>
              <a:ea typeface="Calibri"/>
              <a:cs typeface="Calibri"/>
              <a:sym typeface="Calibri"/>
            </a:endParaRPr>
          </a:p>
        </p:txBody>
      </p:sp>
      <p:cxnSp>
        <p:nvCxnSpPr>
          <p:cNvPr id="318" name="Google Shape;318;p11"/>
          <p:cNvCxnSpPr/>
          <p:nvPr/>
        </p:nvCxnSpPr>
        <p:spPr>
          <a:xfrm>
            <a:off x="4325112" y="4123944"/>
            <a:ext cx="73152" cy="0"/>
          </a:xfrm>
          <a:prstGeom prst="straightConnector1">
            <a:avLst/>
          </a:prstGeom>
          <a:noFill/>
          <a:ln cap="flat" cmpd="sng" w="19050">
            <a:solidFill>
              <a:srgbClr val="FF6B35"/>
            </a:solidFill>
            <a:prstDash val="solid"/>
            <a:round/>
            <a:headEnd len="sm" w="sm" type="none"/>
            <a:tailEnd len="med" w="med" type="triangle"/>
          </a:ln>
        </p:spPr>
      </p:cxnSp>
      <p:sp>
        <p:nvSpPr>
          <p:cNvPr id="319" name="Google Shape;319;p11"/>
          <p:cNvSpPr/>
          <p:nvPr/>
        </p:nvSpPr>
        <p:spPr>
          <a:xfrm>
            <a:off x="4416552" y="3931920"/>
            <a:ext cx="1298448" cy="384048"/>
          </a:xfrm>
          <a:prstGeom prst="rect">
            <a:avLst/>
          </a:prstGeom>
          <a:solidFill>
            <a:srgbClr val="0A1628"/>
          </a:solidFill>
          <a:ln cap="flat" cmpd="sng" w="9525">
            <a:solidFill>
              <a:srgbClr val="FF6B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a:off x="4416552" y="3931920"/>
            <a:ext cx="12984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KSampler (4 adım)</a:t>
            </a:r>
            <a:endParaRPr sz="900">
              <a:solidFill>
                <a:schemeClr val="dk1"/>
              </a:solidFill>
              <a:latin typeface="Calibri"/>
              <a:ea typeface="Calibri"/>
              <a:cs typeface="Calibri"/>
              <a:sym typeface="Calibri"/>
            </a:endParaRPr>
          </a:p>
        </p:txBody>
      </p:sp>
      <p:cxnSp>
        <p:nvCxnSpPr>
          <p:cNvPr id="321" name="Google Shape;321;p11"/>
          <p:cNvCxnSpPr/>
          <p:nvPr/>
        </p:nvCxnSpPr>
        <p:spPr>
          <a:xfrm>
            <a:off x="5724144" y="4123944"/>
            <a:ext cx="73152" cy="0"/>
          </a:xfrm>
          <a:prstGeom prst="straightConnector1">
            <a:avLst/>
          </a:prstGeom>
          <a:noFill/>
          <a:ln cap="flat" cmpd="sng" w="19050">
            <a:solidFill>
              <a:srgbClr val="FF6B35"/>
            </a:solidFill>
            <a:prstDash val="solid"/>
            <a:round/>
            <a:headEnd len="sm" w="sm" type="none"/>
            <a:tailEnd len="med" w="med" type="triangle"/>
          </a:ln>
        </p:spPr>
      </p:cxnSp>
      <p:sp>
        <p:nvSpPr>
          <p:cNvPr id="322" name="Google Shape;322;p11"/>
          <p:cNvSpPr/>
          <p:nvPr/>
        </p:nvSpPr>
        <p:spPr>
          <a:xfrm>
            <a:off x="5815584" y="3931920"/>
            <a:ext cx="1298448" cy="384048"/>
          </a:xfrm>
          <a:prstGeom prst="rect">
            <a:avLst/>
          </a:prstGeom>
          <a:solidFill>
            <a:srgbClr val="0A1628"/>
          </a:solidFill>
          <a:ln cap="flat" cmpd="sng" w="9525">
            <a:solidFill>
              <a:srgbClr val="FF6B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1"/>
          <p:cNvSpPr/>
          <p:nvPr/>
        </p:nvSpPr>
        <p:spPr>
          <a:xfrm>
            <a:off x="5815584" y="3931920"/>
            <a:ext cx="12984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VAE Decode</a:t>
            </a:r>
            <a:endParaRPr sz="900">
              <a:solidFill>
                <a:schemeClr val="dk1"/>
              </a:solidFill>
              <a:latin typeface="Calibri"/>
              <a:ea typeface="Calibri"/>
              <a:cs typeface="Calibri"/>
              <a:sym typeface="Calibri"/>
            </a:endParaRPr>
          </a:p>
        </p:txBody>
      </p:sp>
      <p:cxnSp>
        <p:nvCxnSpPr>
          <p:cNvPr id="324" name="Google Shape;324;p11"/>
          <p:cNvCxnSpPr/>
          <p:nvPr/>
        </p:nvCxnSpPr>
        <p:spPr>
          <a:xfrm>
            <a:off x="7123176" y="4123944"/>
            <a:ext cx="73152" cy="0"/>
          </a:xfrm>
          <a:prstGeom prst="straightConnector1">
            <a:avLst/>
          </a:prstGeom>
          <a:noFill/>
          <a:ln cap="flat" cmpd="sng" w="19050">
            <a:solidFill>
              <a:srgbClr val="FF6B35"/>
            </a:solidFill>
            <a:prstDash val="solid"/>
            <a:round/>
            <a:headEnd len="sm" w="sm" type="none"/>
            <a:tailEnd len="med" w="med" type="triangle"/>
          </a:ln>
        </p:spPr>
      </p:cxnSp>
      <p:sp>
        <p:nvSpPr>
          <p:cNvPr id="325" name="Google Shape;325;p11"/>
          <p:cNvSpPr/>
          <p:nvPr/>
        </p:nvSpPr>
        <p:spPr>
          <a:xfrm>
            <a:off x="7214616" y="3931920"/>
            <a:ext cx="1298448" cy="384048"/>
          </a:xfrm>
          <a:prstGeom prst="rect">
            <a:avLst/>
          </a:prstGeom>
          <a:solidFill>
            <a:srgbClr val="0A1628"/>
          </a:solidFill>
          <a:ln cap="flat" cmpd="sng" w="9525">
            <a:solidFill>
              <a:srgbClr val="FF6B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p:nvPr/>
        </p:nvSpPr>
        <p:spPr>
          <a:xfrm>
            <a:off x="7214616" y="3931920"/>
            <a:ext cx="12984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Kaydet</a:t>
            </a:r>
            <a:endParaRPr sz="900">
              <a:solidFill>
                <a:schemeClr val="dk1"/>
              </a:solidFill>
              <a:latin typeface="Calibri"/>
              <a:ea typeface="Calibri"/>
              <a:cs typeface="Calibri"/>
              <a:sym typeface="Calibri"/>
            </a:endParaRPr>
          </a:p>
        </p:txBody>
      </p:sp>
      <p:sp>
        <p:nvSpPr>
          <p:cNvPr id="327" name="Google Shape;327;p11"/>
          <p:cNvSpPr/>
          <p:nvPr/>
        </p:nvSpPr>
        <p:spPr>
          <a:xfrm>
            <a:off x="274320" y="4645152"/>
            <a:ext cx="8595360" cy="365760"/>
          </a:xfrm>
          <a:prstGeom prst="rect">
            <a:avLst/>
          </a:prstGeom>
          <a:solidFill>
            <a:srgbClr val="1C2E5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p:nvPr/>
        </p:nvSpPr>
        <p:spPr>
          <a:xfrm>
            <a:off x="457200" y="466344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8CAE4"/>
              </a:buClr>
              <a:buSzPts val="1050"/>
              <a:buFont typeface="Calibri"/>
              <a:buNone/>
            </a:pPr>
            <a:r>
              <a:rPr lang="en-US" sz="1050">
                <a:solidFill>
                  <a:srgbClr val="48CAE4"/>
                </a:solidFill>
                <a:latin typeface="Calibri"/>
                <a:ea typeface="Calibri"/>
                <a:cs typeface="Calibri"/>
                <a:sym typeface="Calibri"/>
              </a:rPr>
              <a:t>💡  Optimizasyon: VAE, CLIP, UNET ve LoRA tek bir noktadan yüklenip 3 zincire paylaştırılır ve bellek israfını önler, işlem başlangıcını hızlandırır.</a:t>
            </a:r>
            <a:endParaRPr sz="10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12"/>
          <p:cNvSpPr/>
          <p:nvPr/>
        </p:nvSpPr>
        <p:spPr>
          <a:xfrm>
            <a:off x="0" y="0"/>
            <a:ext cx="9144000" cy="73152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
          <p:cNvSpPr/>
          <p:nvPr/>
        </p:nvSpPr>
        <p:spPr>
          <a:xfrm>
            <a:off x="365760" y="0"/>
            <a:ext cx="8229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PIPELINE — ADIM ADIM İŞLEM AKIŞI</a:t>
            </a:r>
            <a:endParaRPr sz="2200">
              <a:solidFill>
                <a:schemeClr val="dk1"/>
              </a:solidFill>
              <a:latin typeface="Calibri"/>
              <a:ea typeface="Calibri"/>
              <a:cs typeface="Calibri"/>
              <a:sym typeface="Calibri"/>
            </a:endParaRPr>
          </a:p>
        </p:txBody>
      </p:sp>
      <p:sp>
        <p:nvSpPr>
          <p:cNvPr id="336" name="Google Shape;336;p12"/>
          <p:cNvSpPr/>
          <p:nvPr/>
        </p:nvSpPr>
        <p:spPr>
          <a:xfrm>
            <a:off x="228600" y="896112"/>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2"/>
          <p:cNvSpPr/>
          <p:nvPr/>
        </p:nvSpPr>
        <p:spPr>
          <a:xfrm>
            <a:off x="960120" y="987552"/>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p:nvPr/>
        </p:nvSpPr>
        <p:spPr>
          <a:xfrm>
            <a:off x="960120" y="987552"/>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500"/>
              <a:buFont typeface="Calibri"/>
              <a:buNone/>
            </a:pPr>
            <a:r>
              <a:rPr b="1" lang="en-US" sz="1500">
                <a:solidFill>
                  <a:srgbClr val="00B4D8"/>
                </a:solidFill>
                <a:latin typeface="Calibri"/>
                <a:ea typeface="Calibri"/>
                <a:cs typeface="Calibri"/>
                <a:sym typeface="Calibri"/>
              </a:rPr>
              <a:t>1</a:t>
            </a:r>
            <a:endParaRPr sz="1500">
              <a:solidFill>
                <a:schemeClr val="dk1"/>
              </a:solidFill>
              <a:latin typeface="Calibri"/>
              <a:ea typeface="Calibri"/>
              <a:cs typeface="Calibri"/>
              <a:sym typeface="Calibri"/>
            </a:endParaRPr>
          </a:p>
        </p:txBody>
      </p:sp>
      <p:sp>
        <p:nvSpPr>
          <p:cNvPr id="339" name="Google Shape;339;p12"/>
          <p:cNvSpPr/>
          <p:nvPr/>
        </p:nvSpPr>
        <p:spPr>
          <a:xfrm>
            <a:off x="320040" y="1609344"/>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Görsel Yükleme</a:t>
            </a:r>
            <a:endParaRPr sz="1150">
              <a:solidFill>
                <a:schemeClr val="dk1"/>
              </a:solidFill>
              <a:latin typeface="Calibri"/>
              <a:ea typeface="Calibri"/>
              <a:cs typeface="Calibri"/>
              <a:sym typeface="Calibri"/>
            </a:endParaRPr>
          </a:p>
        </p:txBody>
      </p:sp>
      <p:sp>
        <p:nvSpPr>
          <p:cNvPr id="340" name="Google Shape;340;p12"/>
          <p:cNvSpPr/>
          <p:nvPr/>
        </p:nvSpPr>
        <p:spPr>
          <a:xfrm>
            <a:off x="320040" y="2011680"/>
            <a:ext cx="18288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Kullanıcının fotoğrafı ComfyUI giriş dizinine alınır.</a:t>
            </a:r>
            <a:endParaRPr sz="950">
              <a:solidFill>
                <a:schemeClr val="dk1"/>
              </a:solidFill>
              <a:latin typeface="Calibri"/>
              <a:ea typeface="Calibri"/>
              <a:cs typeface="Calibri"/>
              <a:sym typeface="Calibri"/>
            </a:endParaRPr>
          </a:p>
        </p:txBody>
      </p:sp>
      <p:sp>
        <p:nvSpPr>
          <p:cNvPr id="341" name="Google Shape;341;p12"/>
          <p:cNvSpPr/>
          <p:nvPr/>
        </p:nvSpPr>
        <p:spPr>
          <a:xfrm>
            <a:off x="2404872" y="896112"/>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2"/>
          <p:cNvSpPr/>
          <p:nvPr/>
        </p:nvSpPr>
        <p:spPr>
          <a:xfrm>
            <a:off x="3136392" y="987552"/>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2"/>
          <p:cNvSpPr/>
          <p:nvPr/>
        </p:nvSpPr>
        <p:spPr>
          <a:xfrm>
            <a:off x="3136392" y="987552"/>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500"/>
              <a:buFont typeface="Calibri"/>
              <a:buNone/>
            </a:pPr>
            <a:r>
              <a:rPr b="1" lang="en-US" sz="1500">
                <a:solidFill>
                  <a:srgbClr val="00B4D8"/>
                </a:solidFill>
                <a:latin typeface="Calibri"/>
                <a:ea typeface="Calibri"/>
                <a:cs typeface="Calibri"/>
                <a:sym typeface="Calibri"/>
              </a:rPr>
              <a:t>2</a:t>
            </a:r>
            <a:endParaRPr sz="1500">
              <a:solidFill>
                <a:schemeClr val="dk1"/>
              </a:solidFill>
              <a:latin typeface="Calibri"/>
              <a:ea typeface="Calibri"/>
              <a:cs typeface="Calibri"/>
              <a:sym typeface="Calibri"/>
            </a:endParaRPr>
          </a:p>
        </p:txBody>
      </p:sp>
      <p:sp>
        <p:nvSpPr>
          <p:cNvPr id="344" name="Google Shape;344;p12"/>
          <p:cNvSpPr/>
          <p:nvPr/>
        </p:nvSpPr>
        <p:spPr>
          <a:xfrm>
            <a:off x="2496312" y="1609344"/>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Lanczos Ölçekleme</a:t>
            </a:r>
            <a:endParaRPr sz="1150">
              <a:solidFill>
                <a:schemeClr val="dk1"/>
              </a:solidFill>
              <a:latin typeface="Calibri"/>
              <a:ea typeface="Calibri"/>
              <a:cs typeface="Calibri"/>
              <a:sym typeface="Calibri"/>
            </a:endParaRPr>
          </a:p>
        </p:txBody>
      </p:sp>
      <p:sp>
        <p:nvSpPr>
          <p:cNvPr id="345" name="Google Shape;345;p12"/>
          <p:cNvSpPr/>
          <p:nvPr/>
        </p:nvSpPr>
        <p:spPr>
          <a:xfrm>
            <a:off x="2496312" y="2011680"/>
            <a:ext cx="18288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Görsel, model için optimal boyut olan 1 MP'ye Lanczos ile ölçeklenir. Aynı ölçeklenmiş görsel 3 zincire beslenir.</a:t>
            </a:r>
            <a:endParaRPr sz="950">
              <a:solidFill>
                <a:schemeClr val="dk1"/>
              </a:solidFill>
              <a:latin typeface="Calibri"/>
              <a:ea typeface="Calibri"/>
              <a:cs typeface="Calibri"/>
              <a:sym typeface="Calibri"/>
            </a:endParaRPr>
          </a:p>
        </p:txBody>
      </p:sp>
      <p:sp>
        <p:nvSpPr>
          <p:cNvPr id="346" name="Google Shape;346;p12"/>
          <p:cNvSpPr/>
          <p:nvPr/>
        </p:nvSpPr>
        <p:spPr>
          <a:xfrm>
            <a:off x="4581144" y="896112"/>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
          <p:cNvSpPr/>
          <p:nvPr/>
        </p:nvSpPr>
        <p:spPr>
          <a:xfrm>
            <a:off x="5312664" y="987552"/>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2"/>
          <p:cNvSpPr/>
          <p:nvPr/>
        </p:nvSpPr>
        <p:spPr>
          <a:xfrm>
            <a:off x="5312664" y="987552"/>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500"/>
              <a:buFont typeface="Calibri"/>
              <a:buNone/>
            </a:pPr>
            <a:r>
              <a:rPr b="1" lang="en-US" sz="1500">
                <a:solidFill>
                  <a:srgbClr val="00B4D8"/>
                </a:solidFill>
                <a:latin typeface="Calibri"/>
                <a:ea typeface="Calibri"/>
                <a:cs typeface="Calibri"/>
                <a:sym typeface="Calibri"/>
              </a:rPr>
              <a:t>3</a:t>
            </a:r>
            <a:endParaRPr sz="1500">
              <a:solidFill>
                <a:schemeClr val="dk1"/>
              </a:solidFill>
              <a:latin typeface="Calibri"/>
              <a:ea typeface="Calibri"/>
              <a:cs typeface="Calibri"/>
              <a:sym typeface="Calibri"/>
            </a:endParaRPr>
          </a:p>
        </p:txBody>
      </p:sp>
      <p:sp>
        <p:nvSpPr>
          <p:cNvPr id="349" name="Google Shape;349;p12"/>
          <p:cNvSpPr/>
          <p:nvPr/>
        </p:nvSpPr>
        <p:spPr>
          <a:xfrm>
            <a:off x="4672584" y="1609344"/>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Model Yükleme</a:t>
            </a:r>
            <a:endParaRPr sz="1150">
              <a:solidFill>
                <a:schemeClr val="dk1"/>
              </a:solidFill>
              <a:latin typeface="Calibri"/>
              <a:ea typeface="Calibri"/>
              <a:cs typeface="Calibri"/>
              <a:sym typeface="Calibri"/>
            </a:endParaRPr>
          </a:p>
        </p:txBody>
      </p:sp>
      <p:sp>
        <p:nvSpPr>
          <p:cNvPr id="350" name="Google Shape;350;p12"/>
          <p:cNvSpPr/>
          <p:nvPr/>
        </p:nvSpPr>
        <p:spPr>
          <a:xfrm>
            <a:off x="4672584" y="2011680"/>
            <a:ext cx="18288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VAE → CLIP → UNET → LoRA sırayla GPU'ya yüklenir. Lightning LoRA modeli 4-adım moduna geçirir.</a:t>
            </a:r>
            <a:endParaRPr sz="950">
              <a:solidFill>
                <a:schemeClr val="dk1"/>
              </a:solidFill>
              <a:latin typeface="Calibri"/>
              <a:ea typeface="Calibri"/>
              <a:cs typeface="Calibri"/>
              <a:sym typeface="Calibri"/>
            </a:endParaRPr>
          </a:p>
        </p:txBody>
      </p:sp>
      <p:sp>
        <p:nvSpPr>
          <p:cNvPr id="351" name="Google Shape;351;p12"/>
          <p:cNvSpPr/>
          <p:nvPr/>
        </p:nvSpPr>
        <p:spPr>
          <a:xfrm>
            <a:off x="6757416" y="896112"/>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2"/>
          <p:cNvSpPr/>
          <p:nvPr/>
        </p:nvSpPr>
        <p:spPr>
          <a:xfrm>
            <a:off x="7488936" y="987552"/>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p:nvPr/>
        </p:nvSpPr>
        <p:spPr>
          <a:xfrm>
            <a:off x="7488936" y="987552"/>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500"/>
              <a:buFont typeface="Calibri"/>
              <a:buNone/>
            </a:pPr>
            <a:r>
              <a:rPr b="1" lang="en-US" sz="1500">
                <a:solidFill>
                  <a:srgbClr val="00B4D8"/>
                </a:solidFill>
                <a:latin typeface="Calibri"/>
                <a:ea typeface="Calibri"/>
                <a:cs typeface="Calibri"/>
                <a:sym typeface="Calibri"/>
              </a:rPr>
              <a:t>4</a:t>
            </a:r>
            <a:endParaRPr sz="1500">
              <a:solidFill>
                <a:schemeClr val="dk1"/>
              </a:solidFill>
              <a:latin typeface="Calibri"/>
              <a:ea typeface="Calibri"/>
              <a:cs typeface="Calibri"/>
              <a:sym typeface="Calibri"/>
            </a:endParaRPr>
          </a:p>
        </p:txBody>
      </p:sp>
      <p:sp>
        <p:nvSpPr>
          <p:cNvPr id="354" name="Google Shape;354;p12"/>
          <p:cNvSpPr/>
          <p:nvPr/>
        </p:nvSpPr>
        <p:spPr>
          <a:xfrm>
            <a:off x="6848856" y="1609344"/>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AuraFlow + CFGNorm</a:t>
            </a:r>
            <a:endParaRPr sz="1150">
              <a:solidFill>
                <a:schemeClr val="dk1"/>
              </a:solidFill>
              <a:latin typeface="Calibri"/>
              <a:ea typeface="Calibri"/>
              <a:cs typeface="Calibri"/>
              <a:sym typeface="Calibri"/>
            </a:endParaRPr>
          </a:p>
        </p:txBody>
      </p:sp>
      <p:sp>
        <p:nvSpPr>
          <p:cNvPr id="355" name="Google Shape;355;p12"/>
          <p:cNvSpPr/>
          <p:nvPr/>
        </p:nvSpPr>
        <p:spPr>
          <a:xfrm>
            <a:off x="6848856" y="2011680"/>
            <a:ext cx="18288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Gürültü çizelgesi (shift=3) ve CFG normalizasyonu (güç=1) her zincir için uygulanır.</a:t>
            </a:r>
            <a:endParaRPr sz="950">
              <a:solidFill>
                <a:schemeClr val="dk1"/>
              </a:solidFill>
              <a:latin typeface="Calibri"/>
              <a:ea typeface="Calibri"/>
              <a:cs typeface="Calibri"/>
              <a:sym typeface="Calibri"/>
            </a:endParaRPr>
          </a:p>
        </p:txBody>
      </p:sp>
      <p:sp>
        <p:nvSpPr>
          <p:cNvPr id="356" name="Google Shape;356;p12"/>
          <p:cNvSpPr/>
          <p:nvPr/>
        </p:nvSpPr>
        <p:spPr>
          <a:xfrm>
            <a:off x="228600" y="2926080"/>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2"/>
          <p:cNvSpPr/>
          <p:nvPr/>
        </p:nvSpPr>
        <p:spPr>
          <a:xfrm>
            <a:off x="960120" y="3017520"/>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2"/>
          <p:cNvSpPr/>
          <p:nvPr/>
        </p:nvSpPr>
        <p:spPr>
          <a:xfrm>
            <a:off x="960120" y="301752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500"/>
              <a:buFont typeface="Calibri"/>
              <a:buNone/>
            </a:pPr>
            <a:r>
              <a:rPr b="1" lang="en-US" sz="1500">
                <a:solidFill>
                  <a:srgbClr val="00B4D8"/>
                </a:solidFill>
                <a:latin typeface="Calibri"/>
                <a:ea typeface="Calibri"/>
                <a:cs typeface="Calibri"/>
                <a:sym typeface="Calibri"/>
              </a:rPr>
              <a:t>5</a:t>
            </a:r>
            <a:endParaRPr sz="1500">
              <a:solidFill>
                <a:schemeClr val="dk1"/>
              </a:solidFill>
              <a:latin typeface="Calibri"/>
              <a:ea typeface="Calibri"/>
              <a:cs typeface="Calibri"/>
              <a:sym typeface="Calibri"/>
            </a:endParaRPr>
          </a:p>
        </p:txBody>
      </p:sp>
      <p:sp>
        <p:nvSpPr>
          <p:cNvPr id="359" name="Google Shape;359;p12"/>
          <p:cNvSpPr/>
          <p:nvPr/>
        </p:nvSpPr>
        <p:spPr>
          <a:xfrm>
            <a:off x="320040" y="3639312"/>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VAE Kodlama</a:t>
            </a:r>
            <a:endParaRPr sz="1150">
              <a:solidFill>
                <a:schemeClr val="dk1"/>
              </a:solidFill>
              <a:latin typeface="Calibri"/>
              <a:ea typeface="Calibri"/>
              <a:cs typeface="Calibri"/>
              <a:sym typeface="Calibri"/>
            </a:endParaRPr>
          </a:p>
        </p:txBody>
      </p:sp>
      <p:sp>
        <p:nvSpPr>
          <p:cNvPr id="360" name="Google Shape;360;p12"/>
          <p:cNvSpPr/>
          <p:nvPr/>
        </p:nvSpPr>
        <p:spPr>
          <a:xfrm>
            <a:off x="320040" y="4041648"/>
            <a:ext cx="18288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Ölçeklenmiş görsel latent uzaya dönüştürülür. Bu tek latent tensör 3 örnekleyiciye ortak beslenir.</a:t>
            </a:r>
            <a:endParaRPr sz="950">
              <a:solidFill>
                <a:schemeClr val="dk1"/>
              </a:solidFill>
              <a:latin typeface="Calibri"/>
              <a:ea typeface="Calibri"/>
              <a:cs typeface="Calibri"/>
              <a:sym typeface="Calibri"/>
            </a:endParaRPr>
          </a:p>
        </p:txBody>
      </p:sp>
      <p:sp>
        <p:nvSpPr>
          <p:cNvPr id="361" name="Google Shape;361;p12"/>
          <p:cNvSpPr/>
          <p:nvPr/>
        </p:nvSpPr>
        <p:spPr>
          <a:xfrm>
            <a:off x="2404872" y="2926080"/>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2"/>
          <p:cNvSpPr/>
          <p:nvPr/>
        </p:nvSpPr>
        <p:spPr>
          <a:xfrm>
            <a:off x="3136392" y="3017520"/>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2"/>
          <p:cNvSpPr/>
          <p:nvPr/>
        </p:nvSpPr>
        <p:spPr>
          <a:xfrm>
            <a:off x="3136392" y="301752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500"/>
              <a:buFont typeface="Calibri"/>
              <a:buNone/>
            </a:pPr>
            <a:r>
              <a:rPr b="1" lang="en-US" sz="1500">
                <a:solidFill>
                  <a:srgbClr val="00B4D8"/>
                </a:solidFill>
                <a:latin typeface="Calibri"/>
                <a:ea typeface="Calibri"/>
                <a:cs typeface="Calibri"/>
                <a:sym typeface="Calibri"/>
              </a:rPr>
              <a:t>6</a:t>
            </a:r>
            <a:endParaRPr sz="1500">
              <a:solidFill>
                <a:schemeClr val="dk1"/>
              </a:solidFill>
              <a:latin typeface="Calibri"/>
              <a:ea typeface="Calibri"/>
              <a:cs typeface="Calibri"/>
              <a:sym typeface="Calibri"/>
            </a:endParaRPr>
          </a:p>
        </p:txBody>
      </p:sp>
      <p:sp>
        <p:nvSpPr>
          <p:cNvPr id="364" name="Google Shape;364;p12"/>
          <p:cNvSpPr/>
          <p:nvPr/>
        </p:nvSpPr>
        <p:spPr>
          <a:xfrm>
            <a:off x="2496312" y="3639312"/>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Prompting</a:t>
            </a:r>
            <a:endParaRPr sz="1150">
              <a:solidFill>
                <a:schemeClr val="dk1"/>
              </a:solidFill>
              <a:latin typeface="Calibri"/>
              <a:ea typeface="Calibri"/>
              <a:cs typeface="Calibri"/>
              <a:sym typeface="Calibri"/>
            </a:endParaRPr>
          </a:p>
        </p:txBody>
      </p:sp>
      <p:sp>
        <p:nvSpPr>
          <p:cNvPr id="365" name="Google Shape;365;p12"/>
          <p:cNvSpPr/>
          <p:nvPr/>
        </p:nvSpPr>
        <p:spPr>
          <a:xfrm>
            <a:off x="2496312" y="4041648"/>
            <a:ext cx="18288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Her açı için: pozitif talimat (ne üret) + negatif talimat (nelerden kaçın) + referans görsel → conditioning vektörü.</a:t>
            </a:r>
            <a:endParaRPr sz="950">
              <a:solidFill>
                <a:schemeClr val="dk1"/>
              </a:solidFill>
              <a:latin typeface="Calibri"/>
              <a:ea typeface="Calibri"/>
              <a:cs typeface="Calibri"/>
              <a:sym typeface="Calibri"/>
            </a:endParaRPr>
          </a:p>
        </p:txBody>
      </p:sp>
      <p:sp>
        <p:nvSpPr>
          <p:cNvPr id="366" name="Google Shape;366;p12"/>
          <p:cNvSpPr/>
          <p:nvPr/>
        </p:nvSpPr>
        <p:spPr>
          <a:xfrm>
            <a:off x="4581144" y="2926080"/>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2"/>
          <p:cNvSpPr/>
          <p:nvPr/>
        </p:nvSpPr>
        <p:spPr>
          <a:xfrm>
            <a:off x="5312664" y="3017520"/>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2"/>
          <p:cNvSpPr/>
          <p:nvPr/>
        </p:nvSpPr>
        <p:spPr>
          <a:xfrm>
            <a:off x="5312664" y="301752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500"/>
              <a:buFont typeface="Calibri"/>
              <a:buNone/>
            </a:pPr>
            <a:r>
              <a:rPr b="1" lang="en-US" sz="1500">
                <a:solidFill>
                  <a:srgbClr val="00B4D8"/>
                </a:solidFill>
                <a:latin typeface="Calibri"/>
                <a:ea typeface="Calibri"/>
                <a:cs typeface="Calibri"/>
                <a:sym typeface="Calibri"/>
              </a:rPr>
              <a:t>7</a:t>
            </a:r>
            <a:endParaRPr sz="1500">
              <a:solidFill>
                <a:schemeClr val="dk1"/>
              </a:solidFill>
              <a:latin typeface="Calibri"/>
              <a:ea typeface="Calibri"/>
              <a:cs typeface="Calibri"/>
              <a:sym typeface="Calibri"/>
            </a:endParaRPr>
          </a:p>
        </p:txBody>
      </p:sp>
      <p:sp>
        <p:nvSpPr>
          <p:cNvPr id="369" name="Google Shape;369;p12"/>
          <p:cNvSpPr/>
          <p:nvPr/>
        </p:nvSpPr>
        <p:spPr>
          <a:xfrm>
            <a:off x="4672584" y="3639312"/>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KSampler (×3)</a:t>
            </a:r>
            <a:endParaRPr sz="1150">
              <a:solidFill>
                <a:schemeClr val="dk1"/>
              </a:solidFill>
              <a:latin typeface="Calibri"/>
              <a:ea typeface="Calibri"/>
              <a:cs typeface="Calibri"/>
              <a:sym typeface="Calibri"/>
            </a:endParaRPr>
          </a:p>
        </p:txBody>
      </p:sp>
      <p:sp>
        <p:nvSpPr>
          <p:cNvPr id="370" name="Google Shape;370;p12"/>
          <p:cNvSpPr/>
          <p:nvPr/>
        </p:nvSpPr>
        <p:spPr>
          <a:xfrm>
            <a:off x="4672584" y="4041648"/>
            <a:ext cx="18288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Her açı bağımsız: Euler / simple / 4 adım / CFG=1 / denoise=1. Rastgele seed ile her seferinde farklı sonuç.</a:t>
            </a:r>
            <a:endParaRPr sz="950">
              <a:solidFill>
                <a:schemeClr val="dk1"/>
              </a:solidFill>
              <a:latin typeface="Calibri"/>
              <a:ea typeface="Calibri"/>
              <a:cs typeface="Calibri"/>
              <a:sym typeface="Calibri"/>
            </a:endParaRPr>
          </a:p>
        </p:txBody>
      </p:sp>
      <p:sp>
        <p:nvSpPr>
          <p:cNvPr id="371" name="Google Shape;371;p12"/>
          <p:cNvSpPr/>
          <p:nvPr/>
        </p:nvSpPr>
        <p:spPr>
          <a:xfrm>
            <a:off x="6757416" y="2926080"/>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2"/>
          <p:cNvSpPr/>
          <p:nvPr/>
        </p:nvSpPr>
        <p:spPr>
          <a:xfrm>
            <a:off x="7488936" y="3017520"/>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2"/>
          <p:cNvSpPr/>
          <p:nvPr/>
        </p:nvSpPr>
        <p:spPr>
          <a:xfrm>
            <a:off x="7488936" y="301752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500"/>
              <a:buFont typeface="Calibri"/>
              <a:buNone/>
            </a:pPr>
            <a:r>
              <a:rPr b="1" lang="en-US" sz="1500">
                <a:solidFill>
                  <a:srgbClr val="00B4D8"/>
                </a:solidFill>
                <a:latin typeface="Calibri"/>
                <a:ea typeface="Calibri"/>
                <a:cs typeface="Calibri"/>
                <a:sym typeface="Calibri"/>
              </a:rPr>
              <a:t>8</a:t>
            </a:r>
            <a:endParaRPr sz="1500">
              <a:solidFill>
                <a:schemeClr val="dk1"/>
              </a:solidFill>
              <a:latin typeface="Calibri"/>
              <a:ea typeface="Calibri"/>
              <a:cs typeface="Calibri"/>
              <a:sym typeface="Calibri"/>
            </a:endParaRPr>
          </a:p>
        </p:txBody>
      </p:sp>
      <p:sp>
        <p:nvSpPr>
          <p:cNvPr id="374" name="Google Shape;374;p12"/>
          <p:cNvSpPr/>
          <p:nvPr/>
        </p:nvSpPr>
        <p:spPr>
          <a:xfrm>
            <a:off x="6848856" y="3639312"/>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VAE Çözme &amp; Kaydet</a:t>
            </a:r>
            <a:endParaRPr sz="1150">
              <a:solidFill>
                <a:schemeClr val="dk1"/>
              </a:solidFill>
              <a:latin typeface="Calibri"/>
              <a:ea typeface="Calibri"/>
              <a:cs typeface="Calibri"/>
              <a:sym typeface="Calibri"/>
            </a:endParaRPr>
          </a:p>
        </p:txBody>
      </p:sp>
      <p:sp>
        <p:nvSpPr>
          <p:cNvPr id="375" name="Google Shape;375;p12"/>
          <p:cNvSpPr/>
          <p:nvPr/>
        </p:nvSpPr>
        <p:spPr>
          <a:xfrm>
            <a:off x="6848856" y="4041648"/>
            <a:ext cx="18288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Latent tensör piksel görseliiye dönüştürülür. product_front / product_side / product_iso önekleriyle kaydedilir.</a:t>
            </a:r>
            <a:endParaRPr sz="95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380" name="Shape 380"/>
        <p:cNvGrpSpPr/>
        <p:nvPr/>
      </p:nvGrpSpPr>
      <p:grpSpPr>
        <a:xfrm>
          <a:off x="0" y="0"/>
          <a:ext cx="0" cy="0"/>
          <a:chOff x="0" y="0"/>
          <a:chExt cx="0" cy="0"/>
        </a:xfrm>
      </p:grpSpPr>
      <p:sp>
        <p:nvSpPr>
          <p:cNvPr id="381" name="Google Shape;381;p13"/>
          <p:cNvSpPr/>
          <p:nvPr/>
        </p:nvSpPr>
        <p:spPr>
          <a:xfrm>
            <a:off x="365760" y="18288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3 KAMERA AÇISI VE METIN TALİMATLARI</a:t>
            </a:r>
            <a:endParaRPr sz="2200">
              <a:solidFill>
                <a:schemeClr val="dk1"/>
              </a:solidFill>
              <a:latin typeface="Calibri"/>
              <a:ea typeface="Calibri"/>
              <a:cs typeface="Calibri"/>
              <a:sym typeface="Calibri"/>
            </a:endParaRPr>
          </a:p>
        </p:txBody>
      </p:sp>
      <p:sp>
        <p:nvSpPr>
          <p:cNvPr id="382" name="Google Shape;382;p13"/>
          <p:cNvSpPr/>
          <p:nvPr/>
        </p:nvSpPr>
        <p:spPr>
          <a:xfrm>
            <a:off x="365760" y="667512"/>
            <a:ext cx="8412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250"/>
              <a:buFont typeface="Calibri"/>
              <a:buNone/>
            </a:pPr>
            <a:r>
              <a:rPr i="1" lang="en-US" sz="1250">
                <a:solidFill>
                  <a:srgbClr val="B0C4DE"/>
                </a:solidFill>
                <a:latin typeface="Calibri"/>
                <a:ea typeface="Calibri"/>
                <a:cs typeface="Calibri"/>
                <a:sym typeface="Calibri"/>
              </a:rPr>
              <a:t>Her açı için ayrı, özenle tasarlanmış pozitif ve negatif prompt kullanılmaktadır</a:t>
            </a:r>
            <a:endParaRPr sz="1250">
              <a:solidFill>
                <a:schemeClr val="dk1"/>
              </a:solidFill>
              <a:latin typeface="Calibri"/>
              <a:ea typeface="Calibri"/>
              <a:cs typeface="Calibri"/>
              <a:sym typeface="Calibri"/>
            </a:endParaRPr>
          </a:p>
        </p:txBody>
      </p:sp>
      <p:sp>
        <p:nvSpPr>
          <p:cNvPr id="383" name="Google Shape;383;p13"/>
          <p:cNvSpPr/>
          <p:nvPr/>
        </p:nvSpPr>
        <p:spPr>
          <a:xfrm>
            <a:off x="274320" y="1069848"/>
            <a:ext cx="8595360" cy="1188720"/>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3"/>
          <p:cNvSpPr/>
          <p:nvPr/>
        </p:nvSpPr>
        <p:spPr>
          <a:xfrm>
            <a:off x="274320" y="1069848"/>
            <a:ext cx="64008" cy="118872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3"/>
          <p:cNvSpPr/>
          <p:nvPr/>
        </p:nvSpPr>
        <p:spPr>
          <a:xfrm>
            <a:off x="457200" y="1115568"/>
            <a:ext cx="34747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250"/>
              <a:buFont typeface="Calibri"/>
              <a:buNone/>
            </a:pPr>
            <a:r>
              <a:rPr b="1" lang="en-US" sz="1250">
                <a:solidFill>
                  <a:srgbClr val="00B4D8"/>
                </a:solidFill>
                <a:latin typeface="Calibri"/>
                <a:ea typeface="Calibri"/>
                <a:cs typeface="Calibri"/>
                <a:sym typeface="Calibri"/>
              </a:rPr>
              <a:t>🎯 ÖN GÖRÜNÜM (Hero Shot)</a:t>
            </a:r>
            <a:endParaRPr sz="1250">
              <a:solidFill>
                <a:schemeClr val="dk1"/>
              </a:solidFill>
              <a:latin typeface="Calibri"/>
              <a:ea typeface="Calibri"/>
              <a:cs typeface="Calibri"/>
              <a:sym typeface="Calibri"/>
            </a:endParaRPr>
          </a:p>
        </p:txBody>
      </p:sp>
      <p:sp>
        <p:nvSpPr>
          <p:cNvPr id="386" name="Google Shape;386;p13"/>
          <p:cNvSpPr/>
          <p:nvPr/>
        </p:nvSpPr>
        <p:spPr>
          <a:xfrm>
            <a:off x="457200" y="1417320"/>
            <a:ext cx="34747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 Doğrudan karşıdan, göz hizası</a:t>
            </a:r>
            <a:endParaRPr sz="1050">
              <a:solidFill>
                <a:schemeClr val="dk1"/>
              </a:solidFill>
              <a:latin typeface="Calibri"/>
              <a:ea typeface="Calibri"/>
              <a:cs typeface="Calibri"/>
              <a:sym typeface="Calibri"/>
            </a:endParaRPr>
          </a:p>
        </p:txBody>
      </p:sp>
      <p:sp>
        <p:nvSpPr>
          <p:cNvPr id="387" name="Google Shape;387;p13"/>
          <p:cNvSpPr/>
          <p:nvPr/>
        </p:nvSpPr>
        <p:spPr>
          <a:xfrm>
            <a:off x="4069080" y="1115568"/>
            <a:ext cx="9144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950"/>
              <a:buFont typeface="Calibri"/>
              <a:buNone/>
            </a:pPr>
            <a:r>
              <a:rPr b="1" lang="en-US" sz="950">
                <a:solidFill>
                  <a:srgbClr val="06D6A0"/>
                </a:solidFill>
                <a:latin typeface="Calibri"/>
                <a:ea typeface="Calibri"/>
                <a:cs typeface="Calibri"/>
                <a:sym typeface="Calibri"/>
              </a:rPr>
              <a:t>✅ Pozitif:</a:t>
            </a:r>
            <a:endParaRPr sz="950">
              <a:solidFill>
                <a:schemeClr val="dk1"/>
              </a:solidFill>
              <a:latin typeface="Calibri"/>
              <a:ea typeface="Calibri"/>
              <a:cs typeface="Calibri"/>
              <a:sym typeface="Calibri"/>
            </a:endParaRPr>
          </a:p>
        </p:txBody>
      </p:sp>
      <p:sp>
        <p:nvSpPr>
          <p:cNvPr id="388" name="Google Shape;388;p13"/>
          <p:cNvSpPr/>
          <p:nvPr/>
        </p:nvSpPr>
        <p:spPr>
          <a:xfrm>
            <a:off x="4892040" y="1115568"/>
            <a:ext cx="3886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950"/>
              <a:buFont typeface="Calibri"/>
              <a:buNone/>
            </a:pPr>
            <a:r>
              <a:rPr lang="en-US" sz="950">
                <a:solidFill>
                  <a:srgbClr val="B0C4DE"/>
                </a:solidFill>
                <a:latin typeface="Calibri"/>
                <a:ea typeface="Calibri"/>
                <a:cs typeface="Calibri"/>
                <a:sym typeface="Calibri"/>
              </a:rPr>
              <a:t>Göz hizasında, çerçeve ortasında yerleştirilmiş ürün. Açık gri, pürüzsüz arka plan. Önden-soldan ve önden-sağdan iki yumuşak softbox ışığı + arkadan hafif çerçeveleme ışığı. Dengeli pozlama, doğal temas gölgesi.</a:t>
            </a:r>
            <a:endParaRPr sz="950">
              <a:solidFill>
                <a:schemeClr val="dk1"/>
              </a:solidFill>
              <a:latin typeface="Calibri"/>
              <a:ea typeface="Calibri"/>
              <a:cs typeface="Calibri"/>
              <a:sym typeface="Calibri"/>
            </a:endParaRPr>
          </a:p>
        </p:txBody>
      </p:sp>
      <p:sp>
        <p:nvSpPr>
          <p:cNvPr id="389" name="Google Shape;389;p13"/>
          <p:cNvSpPr/>
          <p:nvPr/>
        </p:nvSpPr>
        <p:spPr>
          <a:xfrm>
            <a:off x="4069080" y="1728216"/>
            <a:ext cx="8686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233C"/>
              </a:buClr>
              <a:buSzPts val="950"/>
              <a:buFont typeface="Calibri"/>
              <a:buNone/>
            </a:pPr>
            <a:r>
              <a:rPr b="1" lang="en-US" sz="950">
                <a:solidFill>
                  <a:srgbClr val="EF233C"/>
                </a:solidFill>
                <a:latin typeface="Calibri"/>
                <a:ea typeface="Calibri"/>
                <a:cs typeface="Calibri"/>
                <a:sym typeface="Calibri"/>
              </a:rPr>
              <a:t>❌ Negatif:</a:t>
            </a:r>
            <a:endParaRPr sz="950">
              <a:solidFill>
                <a:schemeClr val="dk1"/>
              </a:solidFill>
              <a:latin typeface="Calibri"/>
              <a:ea typeface="Calibri"/>
              <a:cs typeface="Calibri"/>
              <a:sym typeface="Calibri"/>
            </a:endParaRPr>
          </a:p>
        </p:txBody>
      </p:sp>
      <p:sp>
        <p:nvSpPr>
          <p:cNvPr id="390" name="Google Shape;390;p13"/>
          <p:cNvSpPr/>
          <p:nvPr/>
        </p:nvSpPr>
        <p:spPr>
          <a:xfrm>
            <a:off x="4892040" y="1728216"/>
            <a:ext cx="38862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50"/>
              <a:buFont typeface="Calibri"/>
              <a:buNone/>
            </a:pPr>
            <a:r>
              <a:rPr lang="en-US" sz="950">
                <a:solidFill>
                  <a:srgbClr val="8899AA"/>
                </a:solidFill>
                <a:latin typeface="Calibri"/>
                <a:ea typeface="Calibri"/>
                <a:cs typeface="Calibri"/>
                <a:sym typeface="Calibri"/>
              </a:rPr>
              <a:t>İnsan eli, parmak, stüdyo ekipmanları (softbox, ayak, tripod), dağınık arka plan, bulanıklık, karikatür.</a:t>
            </a:r>
            <a:endParaRPr sz="950">
              <a:solidFill>
                <a:schemeClr val="dk1"/>
              </a:solidFill>
              <a:latin typeface="Calibri"/>
              <a:ea typeface="Calibri"/>
              <a:cs typeface="Calibri"/>
              <a:sym typeface="Calibri"/>
            </a:endParaRPr>
          </a:p>
        </p:txBody>
      </p:sp>
      <p:sp>
        <p:nvSpPr>
          <p:cNvPr id="391" name="Google Shape;391;p13"/>
          <p:cNvSpPr/>
          <p:nvPr/>
        </p:nvSpPr>
        <p:spPr>
          <a:xfrm>
            <a:off x="274320" y="2377440"/>
            <a:ext cx="8595360" cy="1188720"/>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274320" y="2377440"/>
            <a:ext cx="64008" cy="1188720"/>
          </a:xfrm>
          <a:prstGeom prst="rect">
            <a:avLst/>
          </a:prstGeom>
          <a:solidFill>
            <a:srgbClr val="06D6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3"/>
          <p:cNvSpPr/>
          <p:nvPr/>
        </p:nvSpPr>
        <p:spPr>
          <a:xfrm>
            <a:off x="457200" y="2423160"/>
            <a:ext cx="34747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1250"/>
              <a:buFont typeface="Calibri"/>
              <a:buNone/>
            </a:pPr>
            <a:r>
              <a:rPr b="1" lang="en-US" sz="1250">
                <a:solidFill>
                  <a:srgbClr val="06D6A0"/>
                </a:solidFill>
                <a:latin typeface="Calibri"/>
                <a:ea typeface="Calibri"/>
                <a:cs typeface="Calibri"/>
                <a:sym typeface="Calibri"/>
              </a:rPr>
              <a:t>↗ YAN PROFİL (Three-Quarter View)</a:t>
            </a:r>
            <a:endParaRPr sz="1250">
              <a:solidFill>
                <a:schemeClr val="dk1"/>
              </a:solidFill>
              <a:latin typeface="Calibri"/>
              <a:ea typeface="Calibri"/>
              <a:cs typeface="Calibri"/>
              <a:sym typeface="Calibri"/>
            </a:endParaRPr>
          </a:p>
        </p:txBody>
      </p:sp>
      <p:sp>
        <p:nvSpPr>
          <p:cNvPr id="394" name="Google Shape;394;p13"/>
          <p:cNvSpPr/>
          <p:nvPr/>
        </p:nvSpPr>
        <p:spPr>
          <a:xfrm>
            <a:off x="457200" y="2724912"/>
            <a:ext cx="34747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 Sağa ~45° dönük, derinlik görünür</a:t>
            </a:r>
            <a:endParaRPr sz="1050">
              <a:solidFill>
                <a:schemeClr val="dk1"/>
              </a:solidFill>
              <a:latin typeface="Calibri"/>
              <a:ea typeface="Calibri"/>
              <a:cs typeface="Calibri"/>
              <a:sym typeface="Calibri"/>
            </a:endParaRPr>
          </a:p>
        </p:txBody>
      </p:sp>
      <p:sp>
        <p:nvSpPr>
          <p:cNvPr id="395" name="Google Shape;395;p13"/>
          <p:cNvSpPr/>
          <p:nvPr/>
        </p:nvSpPr>
        <p:spPr>
          <a:xfrm>
            <a:off x="4069080" y="2423160"/>
            <a:ext cx="9144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950"/>
              <a:buFont typeface="Calibri"/>
              <a:buNone/>
            </a:pPr>
            <a:r>
              <a:rPr b="1" lang="en-US" sz="950">
                <a:solidFill>
                  <a:srgbClr val="06D6A0"/>
                </a:solidFill>
                <a:latin typeface="Calibri"/>
                <a:ea typeface="Calibri"/>
                <a:cs typeface="Calibri"/>
                <a:sym typeface="Calibri"/>
              </a:rPr>
              <a:t>✅ Pozitif:</a:t>
            </a:r>
            <a:endParaRPr sz="950">
              <a:solidFill>
                <a:schemeClr val="dk1"/>
              </a:solidFill>
              <a:latin typeface="Calibri"/>
              <a:ea typeface="Calibri"/>
              <a:cs typeface="Calibri"/>
              <a:sym typeface="Calibri"/>
            </a:endParaRPr>
          </a:p>
        </p:txBody>
      </p:sp>
      <p:sp>
        <p:nvSpPr>
          <p:cNvPr id="396" name="Google Shape;396;p13"/>
          <p:cNvSpPr/>
          <p:nvPr/>
        </p:nvSpPr>
        <p:spPr>
          <a:xfrm>
            <a:off x="4892040" y="2423160"/>
            <a:ext cx="3886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950"/>
              <a:buFont typeface="Calibri"/>
              <a:buNone/>
            </a:pPr>
            <a:r>
              <a:rPr lang="en-US" sz="950">
                <a:solidFill>
                  <a:srgbClr val="B0C4DE"/>
                </a:solidFill>
                <a:latin typeface="Calibri"/>
                <a:ea typeface="Calibri"/>
                <a:cs typeface="Calibri"/>
                <a:sym typeface="Calibri"/>
              </a:rPr>
              <a:t>Ürünün sağa ~45° açılı konumu. Premium minimalist stüdyo, hafif dokulu taş yüzey. Önden-sağdan wraparound ışık, sol kenarda fill ışık ve zarif rim lighting. Sinematik alan derinliği.</a:t>
            </a:r>
            <a:endParaRPr sz="950">
              <a:solidFill>
                <a:schemeClr val="dk1"/>
              </a:solidFill>
              <a:latin typeface="Calibri"/>
              <a:ea typeface="Calibri"/>
              <a:cs typeface="Calibri"/>
              <a:sym typeface="Calibri"/>
            </a:endParaRPr>
          </a:p>
        </p:txBody>
      </p:sp>
      <p:sp>
        <p:nvSpPr>
          <p:cNvPr id="397" name="Google Shape;397;p13"/>
          <p:cNvSpPr/>
          <p:nvPr/>
        </p:nvSpPr>
        <p:spPr>
          <a:xfrm>
            <a:off x="4069080" y="3035808"/>
            <a:ext cx="8686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233C"/>
              </a:buClr>
              <a:buSzPts val="950"/>
              <a:buFont typeface="Calibri"/>
              <a:buNone/>
            </a:pPr>
            <a:r>
              <a:rPr b="1" lang="en-US" sz="950">
                <a:solidFill>
                  <a:srgbClr val="EF233C"/>
                </a:solidFill>
                <a:latin typeface="Calibri"/>
                <a:ea typeface="Calibri"/>
                <a:cs typeface="Calibri"/>
                <a:sym typeface="Calibri"/>
              </a:rPr>
              <a:t>❌ Negatif:</a:t>
            </a:r>
            <a:endParaRPr sz="950">
              <a:solidFill>
                <a:schemeClr val="dk1"/>
              </a:solidFill>
              <a:latin typeface="Calibri"/>
              <a:ea typeface="Calibri"/>
              <a:cs typeface="Calibri"/>
              <a:sym typeface="Calibri"/>
            </a:endParaRPr>
          </a:p>
        </p:txBody>
      </p:sp>
      <p:sp>
        <p:nvSpPr>
          <p:cNvPr id="398" name="Google Shape;398;p13"/>
          <p:cNvSpPr/>
          <p:nvPr/>
        </p:nvSpPr>
        <p:spPr>
          <a:xfrm>
            <a:off x="4892040" y="3035808"/>
            <a:ext cx="38862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50"/>
              <a:buFont typeface="Calibri"/>
              <a:buNone/>
            </a:pPr>
            <a:r>
              <a:rPr lang="en-US" sz="950">
                <a:solidFill>
                  <a:srgbClr val="8899AA"/>
                </a:solidFill>
                <a:latin typeface="Calibri"/>
                <a:ea typeface="Calibri"/>
                <a:cs typeface="Calibri"/>
                <a:sym typeface="Calibri"/>
              </a:rPr>
              <a:t>İnsan eli, parmak, stüdyo ekipmanları (softbox, ayak, tripod), dağınık arka plan, bulanıklık, karikatür.</a:t>
            </a:r>
            <a:endParaRPr sz="950">
              <a:solidFill>
                <a:schemeClr val="dk1"/>
              </a:solidFill>
              <a:latin typeface="Calibri"/>
              <a:ea typeface="Calibri"/>
              <a:cs typeface="Calibri"/>
              <a:sym typeface="Calibri"/>
            </a:endParaRPr>
          </a:p>
        </p:txBody>
      </p:sp>
      <p:sp>
        <p:nvSpPr>
          <p:cNvPr id="399" name="Google Shape;399;p13"/>
          <p:cNvSpPr/>
          <p:nvPr/>
        </p:nvSpPr>
        <p:spPr>
          <a:xfrm>
            <a:off x="274320" y="3685032"/>
            <a:ext cx="8595360" cy="1188720"/>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3"/>
          <p:cNvSpPr/>
          <p:nvPr/>
        </p:nvSpPr>
        <p:spPr>
          <a:xfrm>
            <a:off x="274320" y="3685032"/>
            <a:ext cx="64008" cy="118872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3"/>
          <p:cNvSpPr/>
          <p:nvPr/>
        </p:nvSpPr>
        <p:spPr>
          <a:xfrm>
            <a:off x="457200" y="3730752"/>
            <a:ext cx="34747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250"/>
              <a:buFont typeface="Calibri"/>
              <a:buNone/>
            </a:pPr>
            <a:r>
              <a:rPr b="1" lang="en-US" sz="1250">
                <a:solidFill>
                  <a:srgbClr val="FF6B35"/>
                </a:solidFill>
                <a:latin typeface="Calibri"/>
                <a:ea typeface="Calibri"/>
                <a:cs typeface="Calibri"/>
                <a:sym typeface="Calibri"/>
              </a:rPr>
              <a:t>📐 İZOMETRİK (45° Yüksek Açı)</a:t>
            </a:r>
            <a:endParaRPr sz="1250">
              <a:solidFill>
                <a:schemeClr val="dk1"/>
              </a:solidFill>
              <a:latin typeface="Calibri"/>
              <a:ea typeface="Calibri"/>
              <a:cs typeface="Calibri"/>
              <a:sym typeface="Calibri"/>
            </a:endParaRPr>
          </a:p>
        </p:txBody>
      </p:sp>
      <p:sp>
        <p:nvSpPr>
          <p:cNvPr id="402" name="Google Shape;402;p13"/>
          <p:cNvSpPr/>
          <p:nvPr/>
        </p:nvSpPr>
        <p:spPr>
          <a:xfrm>
            <a:off x="457200" y="4032504"/>
            <a:ext cx="34747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 45° yukarıdan — üst ve ön yüzey görünür</a:t>
            </a:r>
            <a:endParaRPr sz="1050">
              <a:solidFill>
                <a:schemeClr val="dk1"/>
              </a:solidFill>
              <a:latin typeface="Calibri"/>
              <a:ea typeface="Calibri"/>
              <a:cs typeface="Calibri"/>
              <a:sym typeface="Calibri"/>
            </a:endParaRPr>
          </a:p>
        </p:txBody>
      </p:sp>
      <p:sp>
        <p:nvSpPr>
          <p:cNvPr id="403" name="Google Shape;403;p13"/>
          <p:cNvSpPr/>
          <p:nvPr/>
        </p:nvSpPr>
        <p:spPr>
          <a:xfrm>
            <a:off x="4069080" y="3730752"/>
            <a:ext cx="9144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950"/>
              <a:buFont typeface="Calibri"/>
              <a:buNone/>
            </a:pPr>
            <a:r>
              <a:rPr b="1" lang="en-US" sz="950">
                <a:solidFill>
                  <a:srgbClr val="06D6A0"/>
                </a:solidFill>
                <a:latin typeface="Calibri"/>
                <a:ea typeface="Calibri"/>
                <a:cs typeface="Calibri"/>
                <a:sym typeface="Calibri"/>
              </a:rPr>
              <a:t>✅ Pozitif:</a:t>
            </a:r>
            <a:endParaRPr sz="950">
              <a:solidFill>
                <a:schemeClr val="dk1"/>
              </a:solidFill>
              <a:latin typeface="Calibri"/>
              <a:ea typeface="Calibri"/>
              <a:cs typeface="Calibri"/>
              <a:sym typeface="Calibri"/>
            </a:endParaRPr>
          </a:p>
        </p:txBody>
      </p:sp>
      <p:sp>
        <p:nvSpPr>
          <p:cNvPr id="404" name="Google Shape;404;p13"/>
          <p:cNvSpPr/>
          <p:nvPr/>
        </p:nvSpPr>
        <p:spPr>
          <a:xfrm>
            <a:off x="4892040" y="3730752"/>
            <a:ext cx="3886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950"/>
              <a:buFont typeface="Calibri"/>
              <a:buNone/>
            </a:pPr>
            <a:r>
              <a:rPr lang="en-US" sz="950">
                <a:solidFill>
                  <a:srgbClr val="B0C4DE"/>
                </a:solidFill>
                <a:latin typeface="Calibri"/>
                <a:ea typeface="Calibri"/>
                <a:cs typeface="Calibri"/>
                <a:sym typeface="Calibri"/>
              </a:rPr>
              <a:t>45° yüksek açıyla hem üst hem ön yüzey belirgin. Parlak yansıtıcı zemin. Birden fazla görünmez ışık kaynağından yumuşak ışık, sert gölgeler minimize edilmiş. Magazin kalitesi, ultra gerçekçi.</a:t>
            </a:r>
            <a:endParaRPr sz="950">
              <a:solidFill>
                <a:schemeClr val="dk1"/>
              </a:solidFill>
              <a:latin typeface="Calibri"/>
              <a:ea typeface="Calibri"/>
              <a:cs typeface="Calibri"/>
              <a:sym typeface="Calibri"/>
            </a:endParaRPr>
          </a:p>
        </p:txBody>
      </p:sp>
      <p:sp>
        <p:nvSpPr>
          <p:cNvPr id="405" name="Google Shape;405;p13"/>
          <p:cNvSpPr/>
          <p:nvPr/>
        </p:nvSpPr>
        <p:spPr>
          <a:xfrm>
            <a:off x="4069080" y="4343400"/>
            <a:ext cx="8686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F233C"/>
              </a:buClr>
              <a:buSzPts val="950"/>
              <a:buFont typeface="Calibri"/>
              <a:buNone/>
            </a:pPr>
            <a:r>
              <a:rPr b="1" lang="en-US" sz="950">
                <a:solidFill>
                  <a:srgbClr val="EF233C"/>
                </a:solidFill>
                <a:latin typeface="Calibri"/>
                <a:ea typeface="Calibri"/>
                <a:cs typeface="Calibri"/>
                <a:sym typeface="Calibri"/>
              </a:rPr>
              <a:t>❌ Negatif:</a:t>
            </a:r>
            <a:endParaRPr sz="950">
              <a:solidFill>
                <a:schemeClr val="dk1"/>
              </a:solidFill>
              <a:latin typeface="Calibri"/>
              <a:ea typeface="Calibri"/>
              <a:cs typeface="Calibri"/>
              <a:sym typeface="Calibri"/>
            </a:endParaRPr>
          </a:p>
        </p:txBody>
      </p:sp>
      <p:sp>
        <p:nvSpPr>
          <p:cNvPr id="406" name="Google Shape;406;p13"/>
          <p:cNvSpPr/>
          <p:nvPr/>
        </p:nvSpPr>
        <p:spPr>
          <a:xfrm>
            <a:off x="4892040" y="4343400"/>
            <a:ext cx="38862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50"/>
              <a:buFont typeface="Calibri"/>
              <a:buNone/>
            </a:pPr>
            <a:r>
              <a:rPr lang="en-US" sz="950">
                <a:solidFill>
                  <a:srgbClr val="8899AA"/>
                </a:solidFill>
                <a:latin typeface="Calibri"/>
                <a:ea typeface="Calibri"/>
                <a:cs typeface="Calibri"/>
                <a:sym typeface="Calibri"/>
              </a:rPr>
              <a:t>İnsan eli, parmak, stüdyo ekipmanları (softbox, ayak, tripod), dağınık arka plan, bulanıklık, karikatür.</a:t>
            </a:r>
            <a:endParaRPr sz="95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sp>
        <p:nvSpPr>
          <p:cNvPr id="412" name="Google Shape;412;p14"/>
          <p:cNvSpPr/>
          <p:nvPr/>
        </p:nvSpPr>
        <p:spPr>
          <a:xfrm>
            <a:off x="0" y="0"/>
            <a:ext cx="9144000" cy="73152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4"/>
          <p:cNvSpPr/>
          <p:nvPr/>
        </p:nvSpPr>
        <p:spPr>
          <a:xfrm>
            <a:off x="365760" y="0"/>
            <a:ext cx="8229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REACT FRONTEND UYGULAMASI</a:t>
            </a:r>
            <a:endParaRPr sz="2200">
              <a:solidFill>
                <a:schemeClr val="dk1"/>
              </a:solidFill>
              <a:latin typeface="Calibri"/>
              <a:ea typeface="Calibri"/>
              <a:cs typeface="Calibri"/>
              <a:sym typeface="Calibri"/>
            </a:endParaRPr>
          </a:p>
        </p:txBody>
      </p:sp>
      <p:sp>
        <p:nvSpPr>
          <p:cNvPr id="414" name="Google Shape;414;p14"/>
          <p:cNvSpPr/>
          <p:nvPr/>
        </p:nvSpPr>
        <p:spPr>
          <a:xfrm>
            <a:off x="365760" y="868680"/>
            <a:ext cx="4114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400"/>
              <a:buFont typeface="Calibri"/>
              <a:buNone/>
            </a:pPr>
            <a:r>
              <a:rPr b="1" lang="en-US" sz="1400">
                <a:solidFill>
                  <a:srgbClr val="0A1628"/>
                </a:solidFill>
                <a:latin typeface="Calibri"/>
                <a:ea typeface="Calibri"/>
                <a:cs typeface="Calibri"/>
                <a:sym typeface="Calibri"/>
              </a:rPr>
              <a:t>Teknoloji Yığını</a:t>
            </a:r>
            <a:endParaRPr sz="1400">
              <a:solidFill>
                <a:schemeClr val="dk1"/>
              </a:solidFill>
              <a:latin typeface="Calibri"/>
              <a:ea typeface="Calibri"/>
              <a:cs typeface="Calibri"/>
              <a:sym typeface="Calibri"/>
            </a:endParaRPr>
          </a:p>
        </p:txBody>
      </p:sp>
      <p:sp>
        <p:nvSpPr>
          <p:cNvPr id="415" name="Google Shape;415;p14"/>
          <p:cNvSpPr/>
          <p:nvPr/>
        </p:nvSpPr>
        <p:spPr>
          <a:xfrm>
            <a:off x="274320" y="1325880"/>
            <a:ext cx="4114800" cy="594360"/>
          </a:xfrm>
          <a:prstGeom prst="rect">
            <a:avLst/>
          </a:prstGeom>
          <a:solidFill>
            <a:srgbClr val="F0F4FF"/>
          </a:solidFill>
          <a:ln cap="flat" cmpd="sng" w="12700">
            <a:solidFill>
              <a:srgbClr val="D0D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4"/>
          <p:cNvSpPr/>
          <p:nvPr/>
        </p:nvSpPr>
        <p:spPr>
          <a:xfrm>
            <a:off x="457200" y="1371600"/>
            <a:ext cx="1828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  React 18</a:t>
            </a:r>
            <a:endParaRPr sz="1200">
              <a:solidFill>
                <a:schemeClr val="dk1"/>
              </a:solidFill>
              <a:latin typeface="Calibri"/>
              <a:ea typeface="Calibri"/>
              <a:cs typeface="Calibri"/>
              <a:sym typeface="Calibri"/>
            </a:endParaRPr>
          </a:p>
        </p:txBody>
      </p:sp>
      <p:sp>
        <p:nvSpPr>
          <p:cNvPr id="417" name="Google Shape;417;p14"/>
          <p:cNvSpPr/>
          <p:nvPr/>
        </p:nvSpPr>
        <p:spPr>
          <a:xfrm>
            <a:off x="457200" y="1627632"/>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lang="en-US" sz="1050">
                <a:solidFill>
                  <a:srgbClr val="444444"/>
                </a:solidFill>
                <a:latin typeface="Calibri"/>
                <a:ea typeface="Calibri"/>
                <a:cs typeface="Calibri"/>
                <a:sym typeface="Calibri"/>
              </a:rPr>
              <a:t>Bileşen tabanlı UI, Hooks API ile durum yönetimi</a:t>
            </a:r>
            <a:endParaRPr sz="1050">
              <a:solidFill>
                <a:schemeClr val="dk1"/>
              </a:solidFill>
              <a:latin typeface="Calibri"/>
              <a:ea typeface="Calibri"/>
              <a:cs typeface="Calibri"/>
              <a:sym typeface="Calibri"/>
            </a:endParaRPr>
          </a:p>
        </p:txBody>
      </p:sp>
      <p:sp>
        <p:nvSpPr>
          <p:cNvPr id="418" name="Google Shape;418;p14"/>
          <p:cNvSpPr/>
          <p:nvPr/>
        </p:nvSpPr>
        <p:spPr>
          <a:xfrm>
            <a:off x="274320" y="2029968"/>
            <a:ext cx="4114800" cy="594360"/>
          </a:xfrm>
          <a:prstGeom prst="rect">
            <a:avLst/>
          </a:prstGeom>
          <a:solidFill>
            <a:srgbClr val="F0F4FF"/>
          </a:solidFill>
          <a:ln cap="flat" cmpd="sng" w="12700">
            <a:solidFill>
              <a:srgbClr val="D0D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457200" y="2075688"/>
            <a:ext cx="1828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  Vite 5</a:t>
            </a:r>
            <a:endParaRPr sz="1200">
              <a:solidFill>
                <a:schemeClr val="dk1"/>
              </a:solidFill>
              <a:latin typeface="Calibri"/>
              <a:ea typeface="Calibri"/>
              <a:cs typeface="Calibri"/>
              <a:sym typeface="Calibri"/>
            </a:endParaRPr>
          </a:p>
        </p:txBody>
      </p:sp>
      <p:sp>
        <p:nvSpPr>
          <p:cNvPr id="420" name="Google Shape;420;p14"/>
          <p:cNvSpPr/>
          <p:nvPr/>
        </p:nvSpPr>
        <p:spPr>
          <a:xfrm>
            <a:off x="457200" y="233172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lang="en-US" sz="1050">
                <a:solidFill>
                  <a:srgbClr val="444444"/>
                </a:solidFill>
                <a:latin typeface="Calibri"/>
                <a:ea typeface="Calibri"/>
                <a:cs typeface="Calibri"/>
                <a:sym typeface="Calibri"/>
              </a:rPr>
              <a:t>Hızlı geliştirme sunucusu + CORS proxy desteği</a:t>
            </a:r>
            <a:endParaRPr sz="1050">
              <a:solidFill>
                <a:schemeClr val="dk1"/>
              </a:solidFill>
              <a:latin typeface="Calibri"/>
              <a:ea typeface="Calibri"/>
              <a:cs typeface="Calibri"/>
              <a:sym typeface="Calibri"/>
            </a:endParaRPr>
          </a:p>
        </p:txBody>
      </p:sp>
      <p:sp>
        <p:nvSpPr>
          <p:cNvPr id="421" name="Google Shape;421;p14"/>
          <p:cNvSpPr/>
          <p:nvPr/>
        </p:nvSpPr>
        <p:spPr>
          <a:xfrm>
            <a:off x="274320" y="2734056"/>
            <a:ext cx="4114800" cy="594360"/>
          </a:xfrm>
          <a:prstGeom prst="rect">
            <a:avLst/>
          </a:prstGeom>
          <a:solidFill>
            <a:srgbClr val="F0F4FF"/>
          </a:solidFill>
          <a:ln cap="flat" cmpd="sng" w="12700">
            <a:solidFill>
              <a:srgbClr val="D0D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4"/>
          <p:cNvSpPr/>
          <p:nvPr/>
        </p:nvSpPr>
        <p:spPr>
          <a:xfrm>
            <a:off x="457200" y="2779776"/>
            <a:ext cx="1828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  WebSocket</a:t>
            </a:r>
            <a:endParaRPr sz="1200">
              <a:solidFill>
                <a:schemeClr val="dk1"/>
              </a:solidFill>
              <a:latin typeface="Calibri"/>
              <a:ea typeface="Calibri"/>
              <a:cs typeface="Calibri"/>
              <a:sym typeface="Calibri"/>
            </a:endParaRPr>
          </a:p>
        </p:txBody>
      </p:sp>
      <p:sp>
        <p:nvSpPr>
          <p:cNvPr id="423" name="Google Shape;423;p14"/>
          <p:cNvSpPr/>
          <p:nvPr/>
        </p:nvSpPr>
        <p:spPr>
          <a:xfrm>
            <a:off x="457200" y="3035808"/>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lang="en-US" sz="1050">
                <a:solidFill>
                  <a:srgbClr val="444444"/>
                </a:solidFill>
                <a:latin typeface="Calibri"/>
                <a:ea typeface="Calibri"/>
                <a:cs typeface="Calibri"/>
                <a:sym typeface="Calibri"/>
              </a:rPr>
              <a:t>ComfyUI ile gerçek zamanlı çift yönlü iletişim</a:t>
            </a:r>
            <a:endParaRPr sz="1050">
              <a:solidFill>
                <a:schemeClr val="dk1"/>
              </a:solidFill>
              <a:latin typeface="Calibri"/>
              <a:ea typeface="Calibri"/>
              <a:cs typeface="Calibri"/>
              <a:sym typeface="Calibri"/>
            </a:endParaRPr>
          </a:p>
        </p:txBody>
      </p:sp>
      <p:sp>
        <p:nvSpPr>
          <p:cNvPr id="424" name="Google Shape;424;p14"/>
          <p:cNvSpPr/>
          <p:nvPr/>
        </p:nvSpPr>
        <p:spPr>
          <a:xfrm>
            <a:off x="274320" y="3438144"/>
            <a:ext cx="4114800" cy="594360"/>
          </a:xfrm>
          <a:prstGeom prst="rect">
            <a:avLst/>
          </a:prstGeom>
          <a:solidFill>
            <a:srgbClr val="F0F4FF"/>
          </a:solidFill>
          <a:ln cap="flat" cmpd="sng" w="12700">
            <a:solidFill>
              <a:srgbClr val="D0D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4"/>
          <p:cNvSpPr/>
          <p:nvPr/>
        </p:nvSpPr>
        <p:spPr>
          <a:xfrm>
            <a:off x="457200" y="3483864"/>
            <a:ext cx="1828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  Fetch API</a:t>
            </a:r>
            <a:endParaRPr sz="1200">
              <a:solidFill>
                <a:schemeClr val="dk1"/>
              </a:solidFill>
              <a:latin typeface="Calibri"/>
              <a:ea typeface="Calibri"/>
              <a:cs typeface="Calibri"/>
              <a:sym typeface="Calibri"/>
            </a:endParaRPr>
          </a:p>
        </p:txBody>
      </p:sp>
      <p:sp>
        <p:nvSpPr>
          <p:cNvPr id="426" name="Google Shape;426;p14"/>
          <p:cNvSpPr/>
          <p:nvPr/>
        </p:nvSpPr>
        <p:spPr>
          <a:xfrm>
            <a:off x="457200" y="3739896"/>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lang="en-US" sz="1050">
                <a:solidFill>
                  <a:srgbClr val="444444"/>
                </a:solidFill>
                <a:latin typeface="Calibri"/>
                <a:ea typeface="Calibri"/>
                <a:cs typeface="Calibri"/>
                <a:sym typeface="Calibri"/>
              </a:rPr>
              <a:t>Görsel yükleme ve iş kuyruğa ekleme</a:t>
            </a:r>
            <a:endParaRPr sz="1050">
              <a:solidFill>
                <a:schemeClr val="dk1"/>
              </a:solidFill>
              <a:latin typeface="Calibri"/>
              <a:ea typeface="Calibri"/>
              <a:cs typeface="Calibri"/>
              <a:sym typeface="Calibri"/>
            </a:endParaRPr>
          </a:p>
        </p:txBody>
      </p:sp>
      <p:sp>
        <p:nvSpPr>
          <p:cNvPr id="427" name="Google Shape;427;p14"/>
          <p:cNvSpPr/>
          <p:nvPr/>
        </p:nvSpPr>
        <p:spPr>
          <a:xfrm>
            <a:off x="274320" y="4142232"/>
            <a:ext cx="4114800" cy="594360"/>
          </a:xfrm>
          <a:prstGeom prst="rect">
            <a:avLst/>
          </a:prstGeom>
          <a:solidFill>
            <a:srgbClr val="F0F4FF"/>
          </a:solidFill>
          <a:ln cap="flat" cmpd="sng" w="12700">
            <a:solidFill>
              <a:srgbClr val="D0D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4"/>
          <p:cNvSpPr/>
          <p:nvPr/>
        </p:nvSpPr>
        <p:spPr>
          <a:xfrm>
            <a:off x="457200" y="4187952"/>
            <a:ext cx="1828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200"/>
              <a:buFont typeface="Calibri"/>
              <a:buNone/>
            </a:pPr>
            <a:r>
              <a:rPr b="1" lang="en-US" sz="1200">
                <a:solidFill>
                  <a:srgbClr val="0A1628"/>
                </a:solidFill>
                <a:latin typeface="Calibri"/>
                <a:ea typeface="Calibri"/>
                <a:cs typeface="Calibri"/>
                <a:sym typeface="Calibri"/>
              </a:rPr>
              <a:t>💾  localStorage</a:t>
            </a:r>
            <a:endParaRPr sz="1200">
              <a:solidFill>
                <a:schemeClr val="dk1"/>
              </a:solidFill>
              <a:latin typeface="Calibri"/>
              <a:ea typeface="Calibri"/>
              <a:cs typeface="Calibri"/>
              <a:sym typeface="Calibri"/>
            </a:endParaRPr>
          </a:p>
        </p:txBody>
      </p:sp>
      <p:sp>
        <p:nvSpPr>
          <p:cNvPr id="429" name="Google Shape;429;p14"/>
          <p:cNvSpPr/>
          <p:nvPr/>
        </p:nvSpPr>
        <p:spPr>
          <a:xfrm>
            <a:off x="457200" y="4443984"/>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lang="en-US" sz="1050">
                <a:solidFill>
                  <a:srgbClr val="444444"/>
                </a:solidFill>
                <a:latin typeface="Calibri"/>
                <a:ea typeface="Calibri"/>
                <a:cs typeface="Calibri"/>
                <a:sym typeface="Calibri"/>
              </a:rPr>
              <a:t>Kullanıcı ayarlarının kalıcı saklanması</a:t>
            </a:r>
            <a:endParaRPr sz="1050">
              <a:solidFill>
                <a:schemeClr val="dk1"/>
              </a:solidFill>
              <a:latin typeface="Calibri"/>
              <a:ea typeface="Calibri"/>
              <a:cs typeface="Calibri"/>
              <a:sym typeface="Calibri"/>
            </a:endParaRPr>
          </a:p>
        </p:txBody>
      </p:sp>
      <p:sp>
        <p:nvSpPr>
          <p:cNvPr id="430" name="Google Shape;430;p14"/>
          <p:cNvSpPr/>
          <p:nvPr/>
        </p:nvSpPr>
        <p:spPr>
          <a:xfrm>
            <a:off x="4754880" y="868680"/>
            <a:ext cx="4114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400"/>
              <a:buFont typeface="Calibri"/>
              <a:buNone/>
            </a:pPr>
            <a:r>
              <a:rPr b="1" lang="en-US" sz="1400">
                <a:solidFill>
                  <a:srgbClr val="0A1628"/>
                </a:solidFill>
                <a:latin typeface="Calibri"/>
                <a:ea typeface="Calibri"/>
                <a:cs typeface="Calibri"/>
                <a:sym typeface="Calibri"/>
              </a:rPr>
              <a:t>Uygulama Bileşenleri</a:t>
            </a:r>
            <a:endParaRPr sz="1400">
              <a:solidFill>
                <a:schemeClr val="dk1"/>
              </a:solidFill>
              <a:latin typeface="Calibri"/>
              <a:ea typeface="Calibri"/>
              <a:cs typeface="Calibri"/>
              <a:sym typeface="Calibri"/>
            </a:endParaRPr>
          </a:p>
        </p:txBody>
      </p:sp>
      <p:sp>
        <p:nvSpPr>
          <p:cNvPr id="431" name="Google Shape;431;p14"/>
          <p:cNvSpPr/>
          <p:nvPr/>
        </p:nvSpPr>
        <p:spPr>
          <a:xfrm>
            <a:off x="4754880" y="1325880"/>
            <a:ext cx="64008" cy="41148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4"/>
          <p:cNvSpPr/>
          <p:nvPr/>
        </p:nvSpPr>
        <p:spPr>
          <a:xfrm>
            <a:off x="4956048" y="1344168"/>
            <a:ext cx="1463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100"/>
              <a:buFont typeface="Calibri"/>
              <a:buNone/>
            </a:pPr>
            <a:r>
              <a:rPr b="1" lang="en-US" sz="1100">
                <a:solidFill>
                  <a:srgbClr val="0A1628"/>
                </a:solidFill>
                <a:latin typeface="Calibri"/>
                <a:ea typeface="Calibri"/>
                <a:cs typeface="Calibri"/>
                <a:sym typeface="Calibri"/>
              </a:rPr>
              <a:t>Header</a:t>
            </a:r>
            <a:endParaRPr sz="1100">
              <a:solidFill>
                <a:schemeClr val="dk1"/>
              </a:solidFill>
              <a:latin typeface="Calibri"/>
              <a:ea typeface="Calibri"/>
              <a:cs typeface="Calibri"/>
              <a:sym typeface="Calibri"/>
            </a:endParaRPr>
          </a:p>
        </p:txBody>
      </p:sp>
      <p:sp>
        <p:nvSpPr>
          <p:cNvPr id="433" name="Google Shape;433;p14"/>
          <p:cNvSpPr/>
          <p:nvPr/>
        </p:nvSpPr>
        <p:spPr>
          <a:xfrm>
            <a:off x="4956048" y="1536192"/>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Logo + ComfyUI bağlantı durumu (yeşil/kırmızı)</a:t>
            </a:r>
            <a:endParaRPr sz="1000">
              <a:solidFill>
                <a:schemeClr val="dk1"/>
              </a:solidFill>
              <a:latin typeface="Calibri"/>
              <a:ea typeface="Calibri"/>
              <a:cs typeface="Calibri"/>
              <a:sym typeface="Calibri"/>
            </a:endParaRPr>
          </a:p>
        </p:txBody>
      </p:sp>
      <p:sp>
        <p:nvSpPr>
          <p:cNvPr id="434" name="Google Shape;434;p14"/>
          <p:cNvSpPr/>
          <p:nvPr/>
        </p:nvSpPr>
        <p:spPr>
          <a:xfrm>
            <a:off x="4754880" y="1828800"/>
            <a:ext cx="64008" cy="41148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4"/>
          <p:cNvSpPr/>
          <p:nvPr/>
        </p:nvSpPr>
        <p:spPr>
          <a:xfrm>
            <a:off x="4956048" y="1847088"/>
            <a:ext cx="1463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100"/>
              <a:buFont typeface="Calibri"/>
              <a:buNone/>
            </a:pPr>
            <a:r>
              <a:rPr b="1" lang="en-US" sz="1100">
                <a:solidFill>
                  <a:srgbClr val="0A1628"/>
                </a:solidFill>
                <a:latin typeface="Calibri"/>
                <a:ea typeface="Calibri"/>
                <a:cs typeface="Calibri"/>
                <a:sym typeface="Calibri"/>
              </a:rPr>
              <a:t>ImageUploader</a:t>
            </a:r>
            <a:endParaRPr sz="1100">
              <a:solidFill>
                <a:schemeClr val="dk1"/>
              </a:solidFill>
              <a:latin typeface="Calibri"/>
              <a:ea typeface="Calibri"/>
              <a:cs typeface="Calibri"/>
              <a:sym typeface="Calibri"/>
            </a:endParaRPr>
          </a:p>
        </p:txBody>
      </p:sp>
      <p:sp>
        <p:nvSpPr>
          <p:cNvPr id="436" name="Google Shape;436;p14"/>
          <p:cNvSpPr/>
          <p:nvPr/>
        </p:nvSpPr>
        <p:spPr>
          <a:xfrm>
            <a:off x="4956048" y="2039112"/>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Sürükle-bırak, format/boyut doğrulama, önizleme</a:t>
            </a:r>
            <a:endParaRPr sz="1000">
              <a:solidFill>
                <a:schemeClr val="dk1"/>
              </a:solidFill>
              <a:latin typeface="Calibri"/>
              <a:ea typeface="Calibri"/>
              <a:cs typeface="Calibri"/>
              <a:sym typeface="Calibri"/>
            </a:endParaRPr>
          </a:p>
        </p:txBody>
      </p:sp>
      <p:sp>
        <p:nvSpPr>
          <p:cNvPr id="437" name="Google Shape;437;p14"/>
          <p:cNvSpPr/>
          <p:nvPr/>
        </p:nvSpPr>
        <p:spPr>
          <a:xfrm>
            <a:off x="4754880" y="2331720"/>
            <a:ext cx="64008" cy="41148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4"/>
          <p:cNvSpPr/>
          <p:nvPr/>
        </p:nvSpPr>
        <p:spPr>
          <a:xfrm>
            <a:off x="4956048" y="2350008"/>
            <a:ext cx="1463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100"/>
              <a:buFont typeface="Calibri"/>
              <a:buNone/>
            </a:pPr>
            <a:r>
              <a:rPr b="1" lang="en-US" sz="1100">
                <a:solidFill>
                  <a:srgbClr val="0A1628"/>
                </a:solidFill>
                <a:latin typeface="Calibri"/>
                <a:ea typeface="Calibri"/>
                <a:cs typeface="Calibri"/>
                <a:sym typeface="Calibri"/>
              </a:rPr>
              <a:t>ProgressSection</a:t>
            </a:r>
            <a:endParaRPr sz="1100">
              <a:solidFill>
                <a:schemeClr val="dk1"/>
              </a:solidFill>
              <a:latin typeface="Calibri"/>
              <a:ea typeface="Calibri"/>
              <a:cs typeface="Calibri"/>
              <a:sym typeface="Calibri"/>
            </a:endParaRPr>
          </a:p>
        </p:txBody>
      </p:sp>
      <p:sp>
        <p:nvSpPr>
          <p:cNvPr id="439" name="Google Shape;439;p14"/>
          <p:cNvSpPr/>
          <p:nvPr/>
        </p:nvSpPr>
        <p:spPr>
          <a:xfrm>
            <a:off x="4956048" y="2542032"/>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12 adımlı progress bar + aktif aşama etiketi</a:t>
            </a:r>
            <a:endParaRPr sz="1000">
              <a:solidFill>
                <a:schemeClr val="dk1"/>
              </a:solidFill>
              <a:latin typeface="Calibri"/>
              <a:ea typeface="Calibri"/>
              <a:cs typeface="Calibri"/>
              <a:sym typeface="Calibri"/>
            </a:endParaRPr>
          </a:p>
        </p:txBody>
      </p:sp>
      <p:sp>
        <p:nvSpPr>
          <p:cNvPr id="440" name="Google Shape;440;p14"/>
          <p:cNvSpPr/>
          <p:nvPr/>
        </p:nvSpPr>
        <p:spPr>
          <a:xfrm>
            <a:off x="4754880" y="2834640"/>
            <a:ext cx="64008" cy="41148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4"/>
          <p:cNvSpPr/>
          <p:nvPr/>
        </p:nvSpPr>
        <p:spPr>
          <a:xfrm>
            <a:off x="4956048" y="2852928"/>
            <a:ext cx="1463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100"/>
              <a:buFont typeface="Calibri"/>
              <a:buNone/>
            </a:pPr>
            <a:r>
              <a:rPr b="1" lang="en-US" sz="1100">
                <a:solidFill>
                  <a:srgbClr val="0A1628"/>
                </a:solidFill>
                <a:latin typeface="Calibri"/>
                <a:ea typeface="Calibri"/>
                <a:cs typeface="Calibri"/>
                <a:sym typeface="Calibri"/>
              </a:rPr>
              <a:t>OutputGallery</a:t>
            </a:r>
            <a:endParaRPr sz="1100">
              <a:solidFill>
                <a:schemeClr val="dk1"/>
              </a:solidFill>
              <a:latin typeface="Calibri"/>
              <a:ea typeface="Calibri"/>
              <a:cs typeface="Calibri"/>
              <a:sym typeface="Calibri"/>
            </a:endParaRPr>
          </a:p>
        </p:txBody>
      </p:sp>
      <p:sp>
        <p:nvSpPr>
          <p:cNvPr id="442" name="Google Shape;442;p14"/>
          <p:cNvSpPr/>
          <p:nvPr/>
        </p:nvSpPr>
        <p:spPr>
          <a:xfrm>
            <a:off x="4956048" y="3044952"/>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3 çıktı kartı: placeholder → shimmer → gerçek görsel</a:t>
            </a:r>
            <a:endParaRPr sz="1000">
              <a:solidFill>
                <a:schemeClr val="dk1"/>
              </a:solidFill>
              <a:latin typeface="Calibri"/>
              <a:ea typeface="Calibri"/>
              <a:cs typeface="Calibri"/>
              <a:sym typeface="Calibri"/>
            </a:endParaRPr>
          </a:p>
        </p:txBody>
      </p:sp>
      <p:sp>
        <p:nvSpPr>
          <p:cNvPr id="443" name="Google Shape;443;p14"/>
          <p:cNvSpPr/>
          <p:nvPr/>
        </p:nvSpPr>
        <p:spPr>
          <a:xfrm>
            <a:off x="4754880" y="3337560"/>
            <a:ext cx="64008" cy="41148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4"/>
          <p:cNvSpPr/>
          <p:nvPr/>
        </p:nvSpPr>
        <p:spPr>
          <a:xfrm>
            <a:off x="4956048" y="3355848"/>
            <a:ext cx="1463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100"/>
              <a:buFont typeface="Calibri"/>
              <a:buNone/>
            </a:pPr>
            <a:r>
              <a:rPr b="1" lang="en-US" sz="1100">
                <a:solidFill>
                  <a:srgbClr val="0A1628"/>
                </a:solidFill>
                <a:latin typeface="Calibri"/>
                <a:ea typeface="Calibri"/>
                <a:cs typeface="Calibri"/>
                <a:sym typeface="Calibri"/>
              </a:rPr>
              <a:t>SettingsPanel</a:t>
            </a:r>
            <a:endParaRPr sz="1100">
              <a:solidFill>
                <a:schemeClr val="dk1"/>
              </a:solidFill>
              <a:latin typeface="Calibri"/>
              <a:ea typeface="Calibri"/>
              <a:cs typeface="Calibri"/>
              <a:sym typeface="Calibri"/>
            </a:endParaRPr>
          </a:p>
        </p:txBody>
      </p:sp>
      <p:sp>
        <p:nvSpPr>
          <p:cNvPr id="445" name="Google Shape;445;p14"/>
          <p:cNvSpPr/>
          <p:nvPr/>
        </p:nvSpPr>
        <p:spPr>
          <a:xfrm>
            <a:off x="4956048" y="3547872"/>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Parametre ayarları + prompt editörü (her açı ayrı)</a:t>
            </a:r>
            <a:endParaRPr sz="1000">
              <a:solidFill>
                <a:schemeClr val="dk1"/>
              </a:solidFill>
              <a:latin typeface="Calibri"/>
              <a:ea typeface="Calibri"/>
              <a:cs typeface="Calibri"/>
              <a:sym typeface="Calibri"/>
            </a:endParaRPr>
          </a:p>
        </p:txBody>
      </p:sp>
      <p:sp>
        <p:nvSpPr>
          <p:cNvPr id="446" name="Google Shape;446;p14"/>
          <p:cNvSpPr/>
          <p:nvPr/>
        </p:nvSpPr>
        <p:spPr>
          <a:xfrm>
            <a:off x="4754880" y="3840480"/>
            <a:ext cx="64008" cy="41148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4"/>
          <p:cNvSpPr/>
          <p:nvPr/>
        </p:nvSpPr>
        <p:spPr>
          <a:xfrm>
            <a:off x="4956048" y="3858768"/>
            <a:ext cx="1463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100"/>
              <a:buFont typeface="Calibri"/>
              <a:buNone/>
            </a:pPr>
            <a:r>
              <a:rPr b="1" lang="en-US" sz="1100">
                <a:solidFill>
                  <a:srgbClr val="0A1628"/>
                </a:solidFill>
                <a:latin typeface="Calibri"/>
                <a:ea typeface="Calibri"/>
                <a:cs typeface="Calibri"/>
                <a:sym typeface="Calibri"/>
              </a:rPr>
              <a:t>ConsolePanel</a:t>
            </a:r>
            <a:endParaRPr sz="1100">
              <a:solidFill>
                <a:schemeClr val="dk1"/>
              </a:solidFill>
              <a:latin typeface="Calibri"/>
              <a:ea typeface="Calibri"/>
              <a:cs typeface="Calibri"/>
              <a:sym typeface="Calibri"/>
            </a:endParaRPr>
          </a:p>
        </p:txBody>
      </p:sp>
      <p:sp>
        <p:nvSpPr>
          <p:cNvPr id="448" name="Google Shape;448;p14"/>
          <p:cNvSpPr/>
          <p:nvPr/>
        </p:nvSpPr>
        <p:spPr>
          <a:xfrm>
            <a:off x="4956048" y="4050792"/>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Zaman damgalı, renk kodlu gerçek zamanlı log akışı</a:t>
            </a:r>
            <a:endParaRPr sz="1000">
              <a:solidFill>
                <a:schemeClr val="dk1"/>
              </a:solidFill>
              <a:latin typeface="Calibri"/>
              <a:ea typeface="Calibri"/>
              <a:cs typeface="Calibri"/>
              <a:sym typeface="Calibri"/>
            </a:endParaRPr>
          </a:p>
        </p:txBody>
      </p:sp>
      <p:sp>
        <p:nvSpPr>
          <p:cNvPr id="449" name="Google Shape;449;p14"/>
          <p:cNvSpPr/>
          <p:nvPr/>
        </p:nvSpPr>
        <p:spPr>
          <a:xfrm>
            <a:off x="4754880" y="4343400"/>
            <a:ext cx="64008" cy="41148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4"/>
          <p:cNvSpPr/>
          <p:nvPr/>
        </p:nvSpPr>
        <p:spPr>
          <a:xfrm>
            <a:off x="4956048" y="4361688"/>
            <a:ext cx="1463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100"/>
              <a:buFont typeface="Calibri"/>
              <a:buNone/>
            </a:pPr>
            <a:r>
              <a:rPr b="1" lang="en-US" sz="1100">
                <a:solidFill>
                  <a:srgbClr val="0A1628"/>
                </a:solidFill>
                <a:latin typeface="Calibri"/>
                <a:ea typeface="Calibri"/>
                <a:cs typeface="Calibri"/>
                <a:sym typeface="Calibri"/>
              </a:rPr>
              <a:t>Modal</a:t>
            </a:r>
            <a:endParaRPr sz="1100">
              <a:solidFill>
                <a:schemeClr val="dk1"/>
              </a:solidFill>
              <a:latin typeface="Calibri"/>
              <a:ea typeface="Calibri"/>
              <a:cs typeface="Calibri"/>
              <a:sym typeface="Calibri"/>
            </a:endParaRPr>
          </a:p>
        </p:txBody>
      </p:sp>
      <p:sp>
        <p:nvSpPr>
          <p:cNvPr id="451" name="Google Shape;451;p14"/>
          <p:cNvSpPr/>
          <p:nvPr/>
        </p:nvSpPr>
        <p:spPr>
          <a:xfrm>
            <a:off x="4956048" y="4553712"/>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000"/>
              <a:buFont typeface="Calibri"/>
              <a:buNone/>
            </a:pPr>
            <a:r>
              <a:rPr lang="en-US" sz="1000">
                <a:solidFill>
                  <a:srgbClr val="555555"/>
                </a:solidFill>
                <a:latin typeface="Calibri"/>
                <a:ea typeface="Calibri"/>
                <a:cs typeface="Calibri"/>
                <a:sym typeface="Calibri"/>
              </a:rPr>
              <a:t>Tam ekran önizleme, ok tuşlarıyla gezinme</a:t>
            </a:r>
            <a:endParaRPr sz="10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456" name="Shape 456"/>
        <p:cNvGrpSpPr/>
        <p:nvPr/>
      </p:nvGrpSpPr>
      <p:grpSpPr>
        <a:xfrm>
          <a:off x="0" y="0"/>
          <a:ext cx="0" cy="0"/>
          <a:chOff x="0" y="0"/>
          <a:chExt cx="0" cy="0"/>
        </a:xfrm>
      </p:grpSpPr>
      <p:sp>
        <p:nvSpPr>
          <p:cNvPr id="457" name="Google Shape;457;p15"/>
          <p:cNvSpPr/>
          <p:nvPr/>
        </p:nvSpPr>
        <p:spPr>
          <a:xfrm>
            <a:off x="365760" y="18288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SİSTEM MİMARİSİ VE BILEŞENLER ARASI İLETİŞİM</a:t>
            </a:r>
            <a:endParaRPr sz="2000">
              <a:solidFill>
                <a:schemeClr val="dk1"/>
              </a:solidFill>
              <a:latin typeface="Calibri"/>
              <a:ea typeface="Calibri"/>
              <a:cs typeface="Calibri"/>
              <a:sym typeface="Calibri"/>
            </a:endParaRPr>
          </a:p>
        </p:txBody>
      </p:sp>
      <p:sp>
        <p:nvSpPr>
          <p:cNvPr id="458" name="Google Shape;458;p15"/>
          <p:cNvSpPr/>
          <p:nvPr/>
        </p:nvSpPr>
        <p:spPr>
          <a:xfrm>
            <a:off x="365760" y="667512"/>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250"/>
              <a:buFont typeface="Calibri"/>
              <a:buNone/>
            </a:pPr>
            <a:r>
              <a:rPr i="1" lang="en-US" sz="1250">
                <a:solidFill>
                  <a:srgbClr val="B0C4DE"/>
                </a:solidFill>
                <a:latin typeface="Calibri"/>
                <a:ea typeface="Calibri"/>
                <a:cs typeface="Calibri"/>
                <a:sym typeface="Calibri"/>
              </a:rPr>
              <a:t>Tümü aynı makinede — internet bağlantısı yok, bulut servisi yok</a:t>
            </a:r>
            <a:endParaRPr sz="1250">
              <a:solidFill>
                <a:schemeClr val="dk1"/>
              </a:solidFill>
              <a:latin typeface="Calibri"/>
              <a:ea typeface="Calibri"/>
              <a:cs typeface="Calibri"/>
              <a:sym typeface="Calibri"/>
            </a:endParaRPr>
          </a:p>
        </p:txBody>
      </p:sp>
      <p:sp>
        <p:nvSpPr>
          <p:cNvPr id="459" name="Google Shape;459;p15"/>
          <p:cNvSpPr/>
          <p:nvPr/>
        </p:nvSpPr>
        <p:spPr>
          <a:xfrm>
            <a:off x="274320" y="1051560"/>
            <a:ext cx="2560320" cy="3474720"/>
          </a:xfrm>
          <a:prstGeom prst="rect">
            <a:avLst/>
          </a:prstGeom>
          <a:solidFill>
            <a:srgbClr val="132040"/>
          </a:solidFill>
          <a:ln cap="flat" cmpd="sng" w="254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5"/>
          <p:cNvSpPr/>
          <p:nvPr/>
        </p:nvSpPr>
        <p:spPr>
          <a:xfrm>
            <a:off x="274320" y="1115568"/>
            <a:ext cx="256032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300"/>
              <a:buFont typeface="Calibri"/>
              <a:buNone/>
            </a:pPr>
            <a:r>
              <a:rPr b="1" lang="en-US" sz="1300">
                <a:solidFill>
                  <a:srgbClr val="00B4D8"/>
                </a:solidFill>
                <a:latin typeface="Calibri"/>
                <a:ea typeface="Calibri"/>
                <a:cs typeface="Calibri"/>
                <a:sym typeface="Calibri"/>
              </a:rPr>
              <a:t>⚛️  REACT</a:t>
            </a:r>
            <a:endParaRPr sz="1300">
              <a:solidFill>
                <a:schemeClr val="dk1"/>
              </a:solidFill>
              <a:latin typeface="Calibri"/>
              <a:ea typeface="Calibri"/>
              <a:cs typeface="Calibri"/>
              <a:sym typeface="Calibri"/>
            </a:endParaRPr>
          </a:p>
          <a:p>
            <a:pPr indent="0" lvl="0" marL="0" marR="0" rtl="0" algn="ctr">
              <a:spcBef>
                <a:spcPts val="0"/>
              </a:spcBef>
              <a:spcAft>
                <a:spcPts val="0"/>
              </a:spcAft>
              <a:buClr>
                <a:srgbClr val="00B4D8"/>
              </a:buClr>
              <a:buSzPts val="1300"/>
              <a:buFont typeface="Calibri"/>
              <a:buNone/>
            </a:pPr>
            <a:r>
              <a:rPr b="1" lang="en-US" sz="1300">
                <a:solidFill>
                  <a:srgbClr val="00B4D8"/>
                </a:solidFill>
                <a:latin typeface="Calibri"/>
                <a:ea typeface="Calibri"/>
                <a:cs typeface="Calibri"/>
                <a:sym typeface="Calibri"/>
              </a:rPr>
              <a:t>FRONTEND</a:t>
            </a:r>
            <a:endParaRPr sz="1300">
              <a:solidFill>
                <a:schemeClr val="dk1"/>
              </a:solidFill>
              <a:latin typeface="Calibri"/>
              <a:ea typeface="Calibri"/>
              <a:cs typeface="Calibri"/>
              <a:sym typeface="Calibri"/>
            </a:endParaRPr>
          </a:p>
        </p:txBody>
      </p:sp>
      <p:sp>
        <p:nvSpPr>
          <p:cNvPr id="461" name="Google Shape;461;p15"/>
          <p:cNvSpPr/>
          <p:nvPr/>
        </p:nvSpPr>
        <p:spPr>
          <a:xfrm>
            <a:off x="274320" y="1709928"/>
            <a:ext cx="25603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8EAE"/>
              </a:buClr>
              <a:buSzPts val="1000"/>
              <a:buFont typeface="Calibri"/>
              <a:buNone/>
            </a:pPr>
            <a:r>
              <a:rPr lang="en-US" sz="1000">
                <a:solidFill>
                  <a:srgbClr val="6B8EAE"/>
                </a:solidFill>
                <a:latin typeface="Calibri"/>
                <a:ea typeface="Calibri"/>
                <a:cs typeface="Calibri"/>
                <a:sym typeface="Calibri"/>
              </a:rPr>
              <a:t>localhost:5173</a:t>
            </a:r>
            <a:endParaRPr sz="1000">
              <a:solidFill>
                <a:schemeClr val="dk1"/>
              </a:solidFill>
              <a:latin typeface="Calibri"/>
              <a:ea typeface="Calibri"/>
              <a:cs typeface="Calibri"/>
              <a:sym typeface="Calibri"/>
            </a:endParaRPr>
          </a:p>
        </p:txBody>
      </p:sp>
      <p:sp>
        <p:nvSpPr>
          <p:cNvPr id="462" name="Google Shape;462;p15"/>
          <p:cNvSpPr/>
          <p:nvPr/>
        </p:nvSpPr>
        <p:spPr>
          <a:xfrm>
            <a:off x="457200" y="2011680"/>
            <a:ext cx="2240280" cy="21945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B0C4DE"/>
              </a:buClr>
              <a:buSzPts val="1100"/>
              <a:buFont typeface="Calibri"/>
              <a:buChar char="•"/>
            </a:pPr>
            <a:r>
              <a:rPr lang="en-US" sz="1100">
                <a:solidFill>
                  <a:srgbClr val="B0C4DE"/>
                </a:solidFill>
                <a:latin typeface="Calibri"/>
                <a:ea typeface="Calibri"/>
                <a:cs typeface="Calibri"/>
                <a:sym typeface="Calibri"/>
              </a:rPr>
              <a:t>Kullanıcı arayüzü</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B0C4DE"/>
              </a:buClr>
              <a:buSzPts val="1100"/>
              <a:buFont typeface="Calibri"/>
              <a:buChar char="•"/>
            </a:pPr>
            <a:r>
              <a:rPr lang="en-US" sz="1100">
                <a:solidFill>
                  <a:srgbClr val="B0C4DE"/>
                </a:solidFill>
                <a:latin typeface="Calibri"/>
                <a:ea typeface="Calibri"/>
                <a:cs typeface="Calibri"/>
                <a:sym typeface="Calibri"/>
              </a:rPr>
              <a:t>Dosya yükleme</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B0C4DE"/>
              </a:buClr>
              <a:buSzPts val="1100"/>
              <a:buFont typeface="Calibri"/>
              <a:buChar char="•"/>
            </a:pPr>
            <a:r>
              <a:rPr lang="en-US" sz="1100">
                <a:solidFill>
                  <a:srgbClr val="B0C4DE"/>
                </a:solidFill>
                <a:latin typeface="Calibri"/>
                <a:ea typeface="Calibri"/>
                <a:cs typeface="Calibri"/>
                <a:sym typeface="Calibri"/>
              </a:rPr>
              <a:t>Ayarlar yönetimi</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B0C4DE"/>
              </a:buClr>
              <a:buSzPts val="1100"/>
              <a:buFont typeface="Calibri"/>
              <a:buChar char="•"/>
            </a:pPr>
            <a:r>
              <a:rPr lang="en-US" sz="1100">
                <a:solidFill>
                  <a:srgbClr val="B0C4DE"/>
                </a:solidFill>
                <a:latin typeface="Calibri"/>
                <a:ea typeface="Calibri"/>
                <a:cs typeface="Calibri"/>
                <a:sym typeface="Calibri"/>
              </a:rPr>
              <a:t>İlerleme takibi</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B0C4DE"/>
              </a:buClr>
              <a:buSzPts val="1100"/>
              <a:buFont typeface="Calibri"/>
              <a:buChar char="•"/>
            </a:pPr>
            <a:r>
              <a:rPr lang="en-US" sz="1100">
                <a:solidFill>
                  <a:srgbClr val="B0C4DE"/>
                </a:solidFill>
                <a:latin typeface="Calibri"/>
                <a:ea typeface="Calibri"/>
                <a:cs typeface="Calibri"/>
                <a:sym typeface="Calibri"/>
              </a:rPr>
              <a:t>Sonuç gösterimi</a:t>
            </a:r>
            <a:endParaRPr sz="1100">
              <a:solidFill>
                <a:schemeClr val="dk1"/>
              </a:solidFill>
              <a:latin typeface="Calibri"/>
              <a:ea typeface="Calibri"/>
              <a:cs typeface="Calibri"/>
              <a:sym typeface="Calibri"/>
            </a:endParaRPr>
          </a:p>
        </p:txBody>
      </p:sp>
      <p:sp>
        <p:nvSpPr>
          <p:cNvPr id="463" name="Google Shape;463;p15"/>
          <p:cNvSpPr/>
          <p:nvPr/>
        </p:nvSpPr>
        <p:spPr>
          <a:xfrm>
            <a:off x="3017520" y="1691640"/>
            <a:ext cx="1463040" cy="457200"/>
          </a:xfrm>
          <a:prstGeom prst="rect">
            <a:avLst/>
          </a:prstGeom>
          <a:solidFill>
            <a:srgbClr val="1C2E50"/>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5"/>
          <p:cNvSpPr/>
          <p:nvPr/>
        </p:nvSpPr>
        <p:spPr>
          <a:xfrm>
            <a:off x="3017520" y="1691640"/>
            <a:ext cx="1463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900"/>
              <a:buFont typeface="Calibri"/>
              <a:buNone/>
            </a:pPr>
            <a:r>
              <a:rPr lang="en-US" sz="900">
                <a:solidFill>
                  <a:srgbClr val="00B4D8"/>
                </a:solidFill>
                <a:latin typeface="Calibri"/>
                <a:ea typeface="Calibri"/>
                <a:cs typeface="Calibri"/>
                <a:sym typeface="Calibri"/>
              </a:rPr>
              <a:t>HTTP REST</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00B4D8"/>
              </a:buClr>
              <a:buSzPts val="900"/>
              <a:buFont typeface="Calibri"/>
              <a:buNone/>
            </a:pPr>
            <a:r>
              <a:rPr lang="en-US" sz="900">
                <a:solidFill>
                  <a:srgbClr val="00B4D8"/>
                </a:solidFill>
                <a:latin typeface="Calibri"/>
                <a:ea typeface="Calibri"/>
                <a:cs typeface="Calibri"/>
                <a:sym typeface="Calibri"/>
              </a:rPr>
              <a:t>/api/* proxy</a:t>
            </a:r>
            <a:endParaRPr sz="900">
              <a:solidFill>
                <a:schemeClr val="dk1"/>
              </a:solidFill>
              <a:latin typeface="Calibri"/>
              <a:ea typeface="Calibri"/>
              <a:cs typeface="Calibri"/>
              <a:sym typeface="Calibri"/>
            </a:endParaRPr>
          </a:p>
        </p:txBody>
      </p:sp>
      <p:cxnSp>
        <p:nvCxnSpPr>
          <p:cNvPr id="465" name="Google Shape;465;p15"/>
          <p:cNvCxnSpPr/>
          <p:nvPr/>
        </p:nvCxnSpPr>
        <p:spPr>
          <a:xfrm>
            <a:off x="2926080" y="1920240"/>
            <a:ext cx="73152" cy="0"/>
          </a:xfrm>
          <a:prstGeom prst="straightConnector1">
            <a:avLst/>
          </a:prstGeom>
          <a:noFill/>
          <a:ln cap="flat" cmpd="sng" w="19050">
            <a:solidFill>
              <a:srgbClr val="00B4D8"/>
            </a:solidFill>
            <a:prstDash val="solid"/>
            <a:round/>
            <a:headEnd len="sm" w="sm" type="none"/>
            <a:tailEnd len="med" w="med" type="triangle"/>
          </a:ln>
        </p:spPr>
      </p:cxnSp>
      <p:cxnSp>
        <p:nvCxnSpPr>
          <p:cNvPr id="466" name="Google Shape;466;p15"/>
          <p:cNvCxnSpPr/>
          <p:nvPr/>
        </p:nvCxnSpPr>
        <p:spPr>
          <a:xfrm>
            <a:off x="4498848" y="1920240"/>
            <a:ext cx="73152" cy="0"/>
          </a:xfrm>
          <a:prstGeom prst="straightConnector1">
            <a:avLst/>
          </a:prstGeom>
          <a:noFill/>
          <a:ln cap="flat" cmpd="sng" w="19050">
            <a:solidFill>
              <a:srgbClr val="00B4D8"/>
            </a:solidFill>
            <a:prstDash val="solid"/>
            <a:round/>
            <a:headEnd len="sm" w="sm" type="none"/>
            <a:tailEnd len="med" w="med" type="triangle"/>
          </a:ln>
        </p:spPr>
      </p:cxnSp>
      <p:sp>
        <p:nvSpPr>
          <p:cNvPr id="467" name="Google Shape;467;p15"/>
          <p:cNvSpPr/>
          <p:nvPr/>
        </p:nvSpPr>
        <p:spPr>
          <a:xfrm>
            <a:off x="3017520" y="2560320"/>
            <a:ext cx="1463040" cy="457200"/>
          </a:xfrm>
          <a:prstGeom prst="rect">
            <a:avLst/>
          </a:prstGeom>
          <a:solidFill>
            <a:srgbClr val="1C2E50"/>
          </a:solidFill>
          <a:ln cap="flat" cmpd="sng" w="12700">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5"/>
          <p:cNvSpPr/>
          <p:nvPr/>
        </p:nvSpPr>
        <p:spPr>
          <a:xfrm>
            <a:off x="3017520" y="2560320"/>
            <a:ext cx="1463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D6A0"/>
              </a:buClr>
              <a:buSzPts val="900"/>
              <a:buFont typeface="Calibri"/>
              <a:buNone/>
            </a:pPr>
            <a:r>
              <a:rPr lang="en-US" sz="900">
                <a:solidFill>
                  <a:srgbClr val="06D6A0"/>
                </a:solidFill>
                <a:latin typeface="Calibri"/>
                <a:ea typeface="Calibri"/>
                <a:cs typeface="Calibri"/>
                <a:sym typeface="Calibri"/>
              </a:rPr>
              <a:t>WebSocket</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06D6A0"/>
              </a:buClr>
              <a:buSzPts val="900"/>
              <a:buFont typeface="Calibri"/>
              <a:buNone/>
            </a:pPr>
            <a:r>
              <a:rPr lang="en-US" sz="900">
                <a:solidFill>
                  <a:srgbClr val="06D6A0"/>
                </a:solidFill>
                <a:latin typeface="Calibri"/>
                <a:ea typeface="Calibri"/>
                <a:cs typeface="Calibri"/>
                <a:sym typeface="Calibri"/>
              </a:rPr>
              <a:t>ws://...8188</a:t>
            </a:r>
            <a:endParaRPr sz="900">
              <a:solidFill>
                <a:schemeClr val="dk1"/>
              </a:solidFill>
              <a:latin typeface="Calibri"/>
              <a:ea typeface="Calibri"/>
              <a:cs typeface="Calibri"/>
              <a:sym typeface="Calibri"/>
            </a:endParaRPr>
          </a:p>
        </p:txBody>
      </p:sp>
      <p:cxnSp>
        <p:nvCxnSpPr>
          <p:cNvPr id="469" name="Google Shape;469;p15"/>
          <p:cNvCxnSpPr/>
          <p:nvPr/>
        </p:nvCxnSpPr>
        <p:spPr>
          <a:xfrm>
            <a:off x="2926080" y="2788920"/>
            <a:ext cx="73152" cy="0"/>
          </a:xfrm>
          <a:prstGeom prst="straightConnector1">
            <a:avLst/>
          </a:prstGeom>
          <a:noFill/>
          <a:ln cap="flat" cmpd="sng" w="19050">
            <a:solidFill>
              <a:srgbClr val="06D6A0"/>
            </a:solidFill>
            <a:prstDash val="solid"/>
            <a:round/>
            <a:headEnd len="sm" w="sm" type="none"/>
            <a:tailEnd len="med" w="med" type="triangle"/>
          </a:ln>
        </p:spPr>
      </p:cxnSp>
      <p:cxnSp>
        <p:nvCxnSpPr>
          <p:cNvPr id="470" name="Google Shape;470;p15"/>
          <p:cNvCxnSpPr/>
          <p:nvPr/>
        </p:nvCxnSpPr>
        <p:spPr>
          <a:xfrm>
            <a:off x="4498848" y="2788920"/>
            <a:ext cx="73152" cy="0"/>
          </a:xfrm>
          <a:prstGeom prst="straightConnector1">
            <a:avLst/>
          </a:prstGeom>
          <a:noFill/>
          <a:ln cap="flat" cmpd="sng" w="19050">
            <a:solidFill>
              <a:srgbClr val="06D6A0"/>
            </a:solidFill>
            <a:prstDash val="solid"/>
            <a:round/>
            <a:headEnd len="sm" w="sm" type="none"/>
            <a:tailEnd len="med" w="med" type="triangle"/>
          </a:ln>
        </p:spPr>
      </p:cxnSp>
      <p:sp>
        <p:nvSpPr>
          <p:cNvPr id="471" name="Google Shape;471;p15"/>
          <p:cNvSpPr/>
          <p:nvPr/>
        </p:nvSpPr>
        <p:spPr>
          <a:xfrm>
            <a:off x="4663440" y="1051560"/>
            <a:ext cx="2286000" cy="3474720"/>
          </a:xfrm>
          <a:prstGeom prst="rect">
            <a:avLst/>
          </a:prstGeom>
          <a:solidFill>
            <a:srgbClr val="132040"/>
          </a:solidFill>
          <a:ln cap="flat" cmpd="sng" w="19050">
            <a:solidFill>
              <a:srgbClr val="48CA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5"/>
          <p:cNvSpPr/>
          <p:nvPr/>
        </p:nvSpPr>
        <p:spPr>
          <a:xfrm>
            <a:off x="4663440" y="1115568"/>
            <a:ext cx="22860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8CAE4"/>
              </a:buClr>
              <a:buSzPts val="1300"/>
              <a:buFont typeface="Calibri"/>
              <a:buNone/>
            </a:pPr>
            <a:r>
              <a:rPr b="1" lang="en-US" sz="1300">
                <a:solidFill>
                  <a:srgbClr val="48CAE4"/>
                </a:solidFill>
                <a:latin typeface="Calibri"/>
                <a:ea typeface="Calibri"/>
                <a:cs typeface="Calibri"/>
                <a:sym typeface="Calibri"/>
              </a:rPr>
              <a:t>🖥️  COMFYUİ</a:t>
            </a:r>
            <a:endParaRPr sz="1300">
              <a:solidFill>
                <a:schemeClr val="dk1"/>
              </a:solidFill>
              <a:latin typeface="Calibri"/>
              <a:ea typeface="Calibri"/>
              <a:cs typeface="Calibri"/>
              <a:sym typeface="Calibri"/>
            </a:endParaRPr>
          </a:p>
          <a:p>
            <a:pPr indent="0" lvl="0" marL="0" marR="0" rtl="0" algn="ctr">
              <a:spcBef>
                <a:spcPts val="0"/>
              </a:spcBef>
              <a:spcAft>
                <a:spcPts val="0"/>
              </a:spcAft>
              <a:buClr>
                <a:srgbClr val="48CAE4"/>
              </a:buClr>
              <a:buSzPts val="1300"/>
              <a:buFont typeface="Calibri"/>
              <a:buNone/>
            </a:pPr>
            <a:r>
              <a:rPr b="1" lang="en-US" sz="1300">
                <a:solidFill>
                  <a:srgbClr val="48CAE4"/>
                </a:solidFill>
                <a:latin typeface="Calibri"/>
                <a:ea typeface="Calibri"/>
                <a:cs typeface="Calibri"/>
                <a:sym typeface="Calibri"/>
              </a:rPr>
              <a:t>SERVER</a:t>
            </a:r>
            <a:endParaRPr sz="1300">
              <a:solidFill>
                <a:schemeClr val="dk1"/>
              </a:solidFill>
              <a:latin typeface="Calibri"/>
              <a:ea typeface="Calibri"/>
              <a:cs typeface="Calibri"/>
              <a:sym typeface="Calibri"/>
            </a:endParaRPr>
          </a:p>
        </p:txBody>
      </p:sp>
      <p:sp>
        <p:nvSpPr>
          <p:cNvPr id="473" name="Google Shape;473;p15"/>
          <p:cNvSpPr/>
          <p:nvPr/>
        </p:nvSpPr>
        <p:spPr>
          <a:xfrm>
            <a:off x="4663440" y="1709928"/>
            <a:ext cx="228600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8EAE"/>
              </a:buClr>
              <a:buSzPts val="1000"/>
              <a:buFont typeface="Calibri"/>
              <a:buNone/>
            </a:pPr>
            <a:r>
              <a:rPr lang="en-US" sz="1000">
                <a:solidFill>
                  <a:srgbClr val="6B8EAE"/>
                </a:solidFill>
                <a:latin typeface="Calibri"/>
                <a:ea typeface="Calibri"/>
                <a:cs typeface="Calibri"/>
                <a:sym typeface="Calibri"/>
              </a:rPr>
              <a:t>localhost:8188</a:t>
            </a:r>
            <a:endParaRPr sz="1000">
              <a:solidFill>
                <a:schemeClr val="dk1"/>
              </a:solidFill>
              <a:latin typeface="Calibri"/>
              <a:ea typeface="Calibri"/>
              <a:cs typeface="Calibri"/>
              <a:sym typeface="Calibri"/>
            </a:endParaRPr>
          </a:p>
        </p:txBody>
      </p:sp>
      <p:sp>
        <p:nvSpPr>
          <p:cNvPr id="474" name="Google Shape;474;p15"/>
          <p:cNvSpPr/>
          <p:nvPr/>
        </p:nvSpPr>
        <p:spPr>
          <a:xfrm>
            <a:off x="4846320" y="2011680"/>
            <a:ext cx="2011680" cy="21945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B0C4DE"/>
              </a:buClr>
              <a:buSzPts val="1100"/>
              <a:buFont typeface="Calibri"/>
              <a:buChar char="•"/>
            </a:pPr>
            <a:r>
              <a:rPr lang="en-US" sz="1100">
                <a:solidFill>
                  <a:srgbClr val="B0C4DE"/>
                </a:solidFill>
                <a:latin typeface="Calibri"/>
                <a:ea typeface="Calibri"/>
                <a:cs typeface="Calibri"/>
                <a:sym typeface="Calibri"/>
              </a:rPr>
              <a:t>İş kuyruğu yönetimi</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B0C4DE"/>
              </a:buClr>
              <a:buSzPts val="1100"/>
              <a:buFont typeface="Calibri"/>
              <a:buChar char="•"/>
            </a:pPr>
            <a:r>
              <a:rPr lang="en-US" sz="1100">
                <a:solidFill>
                  <a:srgbClr val="B0C4DE"/>
                </a:solidFill>
                <a:latin typeface="Calibri"/>
                <a:ea typeface="Calibri"/>
                <a:cs typeface="Calibri"/>
                <a:sym typeface="Calibri"/>
              </a:rPr>
              <a:t>GPU kaynak yönetimi</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B0C4DE"/>
              </a:buClr>
              <a:buSzPts val="1100"/>
              <a:buFont typeface="Calibri"/>
              <a:buChar char="•"/>
            </a:pPr>
            <a:r>
              <a:rPr lang="en-US" sz="1100">
                <a:solidFill>
                  <a:srgbClr val="B0C4DE"/>
                </a:solidFill>
                <a:latin typeface="Calibri"/>
                <a:ea typeface="Calibri"/>
                <a:cs typeface="Calibri"/>
                <a:sym typeface="Calibri"/>
              </a:rPr>
              <a:t>REST API endpoint</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B0C4DE"/>
              </a:buClr>
              <a:buSzPts val="1100"/>
              <a:buFont typeface="Calibri"/>
              <a:buChar char="•"/>
            </a:pPr>
            <a:r>
              <a:rPr lang="en-US" sz="1100">
                <a:solidFill>
                  <a:srgbClr val="B0C4DE"/>
                </a:solidFill>
                <a:latin typeface="Calibri"/>
                <a:ea typeface="Calibri"/>
                <a:cs typeface="Calibri"/>
                <a:sym typeface="Calibri"/>
              </a:rPr>
              <a:t>WebSocket server</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B0C4DE"/>
              </a:buClr>
              <a:buSzPts val="1100"/>
              <a:buFont typeface="Calibri"/>
              <a:buChar char="•"/>
            </a:pPr>
            <a:r>
              <a:rPr lang="en-US" sz="1100">
                <a:solidFill>
                  <a:srgbClr val="B0C4DE"/>
                </a:solidFill>
                <a:latin typeface="Calibri"/>
                <a:ea typeface="Calibri"/>
                <a:cs typeface="Calibri"/>
                <a:sym typeface="Calibri"/>
              </a:rPr>
              <a:t>Dosya giriş/çıkış</a:t>
            </a:r>
            <a:endParaRPr sz="1100">
              <a:solidFill>
                <a:schemeClr val="dk1"/>
              </a:solidFill>
              <a:latin typeface="Calibri"/>
              <a:ea typeface="Calibri"/>
              <a:cs typeface="Calibri"/>
              <a:sym typeface="Calibri"/>
            </a:endParaRPr>
          </a:p>
        </p:txBody>
      </p:sp>
      <p:cxnSp>
        <p:nvCxnSpPr>
          <p:cNvPr id="475" name="Google Shape;475;p15"/>
          <p:cNvCxnSpPr/>
          <p:nvPr/>
        </p:nvCxnSpPr>
        <p:spPr>
          <a:xfrm>
            <a:off x="7040880" y="2788920"/>
            <a:ext cx="548640" cy="0"/>
          </a:xfrm>
          <a:prstGeom prst="straightConnector1">
            <a:avLst/>
          </a:prstGeom>
          <a:noFill/>
          <a:ln cap="flat" cmpd="sng" w="25400">
            <a:solidFill>
              <a:srgbClr val="FF6B35"/>
            </a:solidFill>
            <a:prstDash val="solid"/>
            <a:round/>
            <a:headEnd len="sm" w="sm" type="none"/>
            <a:tailEnd len="med" w="med" type="triangle"/>
          </a:ln>
        </p:spPr>
      </p:cxnSp>
      <p:sp>
        <p:nvSpPr>
          <p:cNvPr id="476" name="Google Shape;476;p15"/>
          <p:cNvSpPr/>
          <p:nvPr/>
        </p:nvSpPr>
        <p:spPr>
          <a:xfrm>
            <a:off x="7635240" y="1051560"/>
            <a:ext cx="1325880" cy="3474720"/>
          </a:xfrm>
          <a:prstGeom prst="rect">
            <a:avLst/>
          </a:prstGeom>
          <a:solidFill>
            <a:srgbClr val="132040"/>
          </a:solidFill>
          <a:ln cap="flat" cmpd="sng" w="19050">
            <a:solidFill>
              <a:srgbClr val="FF6B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5"/>
          <p:cNvSpPr/>
          <p:nvPr/>
        </p:nvSpPr>
        <p:spPr>
          <a:xfrm>
            <a:off x="7635240" y="1234440"/>
            <a:ext cx="132588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6B35"/>
              </a:buClr>
              <a:buSzPts val="1100"/>
              <a:buFont typeface="Calibri"/>
              <a:buNone/>
            </a:pPr>
            <a:r>
              <a:rPr b="1" lang="en-US" sz="1100">
                <a:solidFill>
                  <a:srgbClr val="FF6B35"/>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6B35"/>
              </a:buClr>
              <a:buSzPts val="1100"/>
              <a:buFont typeface="Calibri"/>
              <a:buNone/>
            </a:pPr>
            <a:r>
              <a:rPr b="1" lang="en-US" sz="1100">
                <a:solidFill>
                  <a:srgbClr val="FF6B35"/>
                </a:solidFill>
                <a:latin typeface="Calibri"/>
                <a:ea typeface="Calibri"/>
                <a:cs typeface="Calibri"/>
                <a:sym typeface="Calibri"/>
              </a:rPr>
              <a:t>GPU &amp;</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6B35"/>
              </a:buClr>
              <a:buSzPts val="1100"/>
              <a:buFont typeface="Calibri"/>
              <a:buNone/>
            </a:pPr>
            <a:r>
              <a:rPr b="1" lang="en-US" sz="1100">
                <a:solidFill>
                  <a:srgbClr val="FF6B35"/>
                </a:solidFill>
                <a:latin typeface="Calibri"/>
                <a:ea typeface="Calibri"/>
                <a:cs typeface="Calibri"/>
                <a:sym typeface="Calibri"/>
              </a:rPr>
              <a:t>MODEL</a:t>
            </a:r>
            <a:endParaRPr sz="1100">
              <a:solidFill>
                <a:schemeClr val="dk1"/>
              </a:solidFill>
              <a:latin typeface="Calibri"/>
              <a:ea typeface="Calibri"/>
              <a:cs typeface="Calibri"/>
              <a:sym typeface="Calibri"/>
            </a:endParaRPr>
          </a:p>
        </p:txBody>
      </p:sp>
      <p:sp>
        <p:nvSpPr>
          <p:cNvPr id="478" name="Google Shape;478;p15"/>
          <p:cNvSpPr/>
          <p:nvPr/>
        </p:nvSpPr>
        <p:spPr>
          <a:xfrm>
            <a:off x="7635240" y="2468880"/>
            <a:ext cx="1325880" cy="1645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E"/>
              </a:buClr>
              <a:buSzPts val="1000"/>
              <a:buFont typeface="Calibri"/>
              <a:buNone/>
            </a:pPr>
            <a:r>
              <a:rPr lang="en-US" sz="1000">
                <a:solidFill>
                  <a:srgbClr val="B0C4DE"/>
                </a:solidFill>
                <a:latin typeface="Calibri"/>
                <a:ea typeface="Calibri"/>
                <a:cs typeface="Calibri"/>
                <a:sym typeface="Calibri"/>
              </a:rPr>
              <a:t>UNET</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B0C4DE"/>
              </a:buClr>
              <a:buSzPts val="1000"/>
              <a:buFont typeface="Calibri"/>
              <a:buNone/>
            </a:pPr>
            <a:r>
              <a:rPr lang="en-US" sz="1000">
                <a:solidFill>
                  <a:srgbClr val="B0C4DE"/>
                </a:solidFill>
                <a:latin typeface="Calibri"/>
                <a:ea typeface="Calibri"/>
                <a:cs typeface="Calibri"/>
                <a:sym typeface="Calibri"/>
              </a:rPr>
              <a:t>CLIP</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B0C4DE"/>
              </a:buClr>
              <a:buSzPts val="1000"/>
              <a:buFont typeface="Calibri"/>
              <a:buNone/>
            </a:pPr>
            <a:r>
              <a:rPr lang="en-US" sz="1000">
                <a:solidFill>
                  <a:srgbClr val="B0C4DE"/>
                </a:solidFill>
                <a:latin typeface="Calibri"/>
                <a:ea typeface="Calibri"/>
                <a:cs typeface="Calibri"/>
                <a:sym typeface="Calibri"/>
              </a:rPr>
              <a:t>VAE</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B0C4DE"/>
              </a:buClr>
              <a:buSzPts val="1000"/>
              <a:buFont typeface="Calibri"/>
              <a:buNone/>
            </a:pPr>
            <a:r>
              <a:rPr lang="en-US" sz="1000">
                <a:solidFill>
                  <a:srgbClr val="B0C4DE"/>
                </a:solidFill>
                <a:latin typeface="Calibri"/>
                <a:ea typeface="Calibri"/>
                <a:cs typeface="Calibri"/>
                <a:sym typeface="Calibri"/>
              </a:rPr>
              <a:t>LoRA</a:t>
            </a:r>
            <a:endParaRPr sz="1000">
              <a:solidFill>
                <a:schemeClr val="dk1"/>
              </a:solidFill>
              <a:latin typeface="Calibri"/>
              <a:ea typeface="Calibri"/>
              <a:cs typeface="Calibri"/>
              <a:sym typeface="Calibri"/>
            </a:endParaRPr>
          </a:p>
        </p:txBody>
      </p:sp>
      <p:sp>
        <p:nvSpPr>
          <p:cNvPr id="479" name="Google Shape;479;p15"/>
          <p:cNvSpPr/>
          <p:nvPr/>
        </p:nvSpPr>
        <p:spPr>
          <a:xfrm>
            <a:off x="274320" y="4663440"/>
            <a:ext cx="8595360" cy="365760"/>
          </a:xfrm>
          <a:prstGeom prst="rect">
            <a:avLst/>
          </a:prstGeom>
          <a:solidFill>
            <a:srgbClr val="1C2E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5"/>
          <p:cNvSpPr/>
          <p:nvPr/>
        </p:nvSpPr>
        <p:spPr>
          <a:xfrm>
            <a:off x="457200" y="4681728"/>
            <a:ext cx="82296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8CAE4"/>
              </a:buClr>
              <a:buSzPts val="1000"/>
              <a:buFont typeface="Calibri"/>
              <a:buNone/>
            </a:pPr>
            <a:r>
              <a:rPr lang="en-US" sz="1000">
                <a:solidFill>
                  <a:srgbClr val="48CAE4"/>
                </a:solidFill>
                <a:latin typeface="Calibri"/>
                <a:ea typeface="Calibri"/>
                <a:cs typeface="Calibri"/>
                <a:sym typeface="Calibri"/>
              </a:rPr>
              <a:t>🔒  CORS Çözümü: React, /api/* isteklerini Vite proxy ile 8188 portuna yönlendirir. WebSocket doğrudan 8188'e bağlanır (tarayıcı WebSocket'te CORS uygulamaz).</a:t>
            </a:r>
            <a:endParaRPr sz="1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16"/>
          <p:cNvSpPr/>
          <p:nvPr/>
        </p:nvSpPr>
        <p:spPr>
          <a:xfrm>
            <a:off x="0" y="0"/>
            <a:ext cx="9144000" cy="73152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6"/>
          <p:cNvSpPr/>
          <p:nvPr/>
        </p:nvSpPr>
        <p:spPr>
          <a:xfrm>
            <a:off x="365760" y="0"/>
            <a:ext cx="8229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KULLANICIDAN ÇIKTIYa — TAM VERİ AKIŞI</a:t>
            </a:r>
            <a:endParaRPr sz="2200">
              <a:solidFill>
                <a:schemeClr val="dk1"/>
              </a:solidFill>
              <a:latin typeface="Calibri"/>
              <a:ea typeface="Calibri"/>
              <a:cs typeface="Calibri"/>
              <a:sym typeface="Calibri"/>
            </a:endParaRPr>
          </a:p>
        </p:txBody>
      </p:sp>
      <p:sp>
        <p:nvSpPr>
          <p:cNvPr id="488" name="Google Shape;488;p16"/>
          <p:cNvSpPr/>
          <p:nvPr/>
        </p:nvSpPr>
        <p:spPr>
          <a:xfrm>
            <a:off x="228600" y="896112"/>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6"/>
          <p:cNvSpPr/>
          <p:nvPr/>
        </p:nvSpPr>
        <p:spPr>
          <a:xfrm>
            <a:off x="960120" y="987552"/>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6"/>
          <p:cNvSpPr/>
          <p:nvPr/>
        </p:nvSpPr>
        <p:spPr>
          <a:xfrm>
            <a:off x="960120" y="987552"/>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1500"/>
              <a:buFont typeface="Calibri"/>
              <a:buNone/>
            </a:pPr>
            <a:r>
              <a:rPr b="1" lang="en-US" sz="1500">
                <a:solidFill>
                  <a:srgbClr val="00B4D8"/>
                </a:solidFill>
                <a:latin typeface="Calibri"/>
                <a:ea typeface="Calibri"/>
                <a:cs typeface="Calibri"/>
                <a:sym typeface="Calibri"/>
              </a:rPr>
              <a:t>1</a:t>
            </a:r>
            <a:endParaRPr sz="1500">
              <a:solidFill>
                <a:schemeClr val="dk1"/>
              </a:solidFill>
              <a:latin typeface="Calibri"/>
              <a:ea typeface="Calibri"/>
              <a:cs typeface="Calibri"/>
              <a:sym typeface="Calibri"/>
            </a:endParaRPr>
          </a:p>
        </p:txBody>
      </p:sp>
      <p:sp>
        <p:nvSpPr>
          <p:cNvPr id="491" name="Google Shape;491;p16"/>
          <p:cNvSpPr/>
          <p:nvPr/>
        </p:nvSpPr>
        <p:spPr>
          <a:xfrm>
            <a:off x="320040" y="1609344"/>
            <a:ext cx="18288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Fotoğraf Seç</a:t>
            </a:r>
            <a:endParaRPr sz="1150">
              <a:solidFill>
                <a:schemeClr val="dk1"/>
              </a:solidFill>
              <a:latin typeface="Calibri"/>
              <a:ea typeface="Calibri"/>
              <a:cs typeface="Calibri"/>
              <a:sym typeface="Calibri"/>
            </a:endParaRPr>
          </a:p>
        </p:txBody>
      </p:sp>
      <p:sp>
        <p:nvSpPr>
          <p:cNvPr id="492" name="Google Shape;492;p16"/>
          <p:cNvSpPr/>
          <p:nvPr/>
        </p:nvSpPr>
        <p:spPr>
          <a:xfrm>
            <a:off x="320040" y="1947672"/>
            <a:ext cx="18288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Sürükle-bırak veya tıkla. Format (JPG/PNG/WEBP) ve boyut (max 20MB) kontrolü. Yerel önizleme gösterilir.</a:t>
            </a:r>
            <a:endParaRPr sz="950">
              <a:solidFill>
                <a:schemeClr val="dk1"/>
              </a:solidFill>
              <a:latin typeface="Calibri"/>
              <a:ea typeface="Calibri"/>
              <a:cs typeface="Calibri"/>
              <a:sym typeface="Calibri"/>
            </a:endParaRPr>
          </a:p>
        </p:txBody>
      </p:sp>
      <p:cxnSp>
        <p:nvCxnSpPr>
          <p:cNvPr id="493" name="Google Shape;493;p16"/>
          <p:cNvCxnSpPr/>
          <p:nvPr/>
        </p:nvCxnSpPr>
        <p:spPr>
          <a:xfrm>
            <a:off x="2286000" y="1792224"/>
            <a:ext cx="73152" cy="0"/>
          </a:xfrm>
          <a:prstGeom prst="straightConnector1">
            <a:avLst/>
          </a:prstGeom>
          <a:noFill/>
          <a:ln cap="flat" cmpd="sng" w="19050">
            <a:solidFill>
              <a:srgbClr val="AABBCC"/>
            </a:solidFill>
            <a:prstDash val="solid"/>
            <a:round/>
            <a:headEnd len="sm" w="sm" type="none"/>
            <a:tailEnd len="med" w="med" type="triangle"/>
          </a:ln>
        </p:spPr>
      </p:cxnSp>
      <p:sp>
        <p:nvSpPr>
          <p:cNvPr id="494" name="Google Shape;494;p16"/>
          <p:cNvSpPr/>
          <p:nvPr/>
        </p:nvSpPr>
        <p:spPr>
          <a:xfrm>
            <a:off x="2395728" y="896112"/>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6"/>
          <p:cNvSpPr/>
          <p:nvPr/>
        </p:nvSpPr>
        <p:spPr>
          <a:xfrm>
            <a:off x="3127248" y="987552"/>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6"/>
          <p:cNvSpPr/>
          <p:nvPr/>
        </p:nvSpPr>
        <p:spPr>
          <a:xfrm>
            <a:off x="3127248" y="987552"/>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8CAE4"/>
              </a:buClr>
              <a:buSzPts val="1500"/>
              <a:buFont typeface="Calibri"/>
              <a:buNone/>
            </a:pPr>
            <a:r>
              <a:rPr b="1" lang="en-US" sz="1500">
                <a:solidFill>
                  <a:srgbClr val="48CAE4"/>
                </a:solidFill>
                <a:latin typeface="Calibri"/>
                <a:ea typeface="Calibri"/>
                <a:cs typeface="Calibri"/>
                <a:sym typeface="Calibri"/>
              </a:rPr>
              <a:t>2</a:t>
            </a:r>
            <a:endParaRPr sz="1500">
              <a:solidFill>
                <a:schemeClr val="dk1"/>
              </a:solidFill>
              <a:latin typeface="Calibri"/>
              <a:ea typeface="Calibri"/>
              <a:cs typeface="Calibri"/>
              <a:sym typeface="Calibri"/>
            </a:endParaRPr>
          </a:p>
        </p:txBody>
      </p:sp>
      <p:sp>
        <p:nvSpPr>
          <p:cNvPr id="497" name="Google Shape;497;p16"/>
          <p:cNvSpPr/>
          <p:nvPr/>
        </p:nvSpPr>
        <p:spPr>
          <a:xfrm>
            <a:off x="2487168" y="1609344"/>
            <a:ext cx="18288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Görsel Yükle</a:t>
            </a:r>
            <a:endParaRPr sz="1150">
              <a:solidFill>
                <a:schemeClr val="dk1"/>
              </a:solidFill>
              <a:latin typeface="Calibri"/>
              <a:ea typeface="Calibri"/>
              <a:cs typeface="Calibri"/>
              <a:sym typeface="Calibri"/>
            </a:endParaRPr>
          </a:p>
        </p:txBody>
      </p:sp>
      <p:sp>
        <p:nvSpPr>
          <p:cNvPr id="498" name="Google Shape;498;p16"/>
          <p:cNvSpPr/>
          <p:nvPr/>
        </p:nvSpPr>
        <p:spPr>
          <a:xfrm>
            <a:off x="2487168" y="1947672"/>
            <a:ext cx="18288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POST /api/upload/image ile ComfyUI'ya gönderilir. ComfyUI görseli input/ dizinine kaydeder, dosya adı döner.</a:t>
            </a:r>
            <a:endParaRPr sz="950">
              <a:solidFill>
                <a:schemeClr val="dk1"/>
              </a:solidFill>
              <a:latin typeface="Calibri"/>
              <a:ea typeface="Calibri"/>
              <a:cs typeface="Calibri"/>
              <a:sym typeface="Calibri"/>
            </a:endParaRPr>
          </a:p>
        </p:txBody>
      </p:sp>
      <p:cxnSp>
        <p:nvCxnSpPr>
          <p:cNvPr id="499" name="Google Shape;499;p16"/>
          <p:cNvCxnSpPr/>
          <p:nvPr/>
        </p:nvCxnSpPr>
        <p:spPr>
          <a:xfrm>
            <a:off x="4453128" y="1792224"/>
            <a:ext cx="73152" cy="0"/>
          </a:xfrm>
          <a:prstGeom prst="straightConnector1">
            <a:avLst/>
          </a:prstGeom>
          <a:noFill/>
          <a:ln cap="flat" cmpd="sng" w="19050">
            <a:solidFill>
              <a:srgbClr val="AABBCC"/>
            </a:solidFill>
            <a:prstDash val="solid"/>
            <a:round/>
            <a:headEnd len="sm" w="sm" type="none"/>
            <a:tailEnd len="med" w="med" type="triangle"/>
          </a:ln>
        </p:spPr>
      </p:cxnSp>
      <p:sp>
        <p:nvSpPr>
          <p:cNvPr id="500" name="Google Shape;500;p16"/>
          <p:cNvSpPr/>
          <p:nvPr/>
        </p:nvSpPr>
        <p:spPr>
          <a:xfrm>
            <a:off x="4562856" y="896112"/>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6"/>
          <p:cNvSpPr/>
          <p:nvPr/>
        </p:nvSpPr>
        <p:spPr>
          <a:xfrm>
            <a:off x="5294376" y="987552"/>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6"/>
          <p:cNvSpPr/>
          <p:nvPr/>
        </p:nvSpPr>
        <p:spPr>
          <a:xfrm>
            <a:off x="5294376" y="987552"/>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E"/>
              </a:buClr>
              <a:buSzPts val="1500"/>
              <a:buFont typeface="Calibri"/>
              <a:buNone/>
            </a:pPr>
            <a:r>
              <a:rPr b="1" lang="en-US" sz="1500">
                <a:solidFill>
                  <a:srgbClr val="B0C4DE"/>
                </a:solidFill>
                <a:latin typeface="Calibri"/>
                <a:ea typeface="Calibri"/>
                <a:cs typeface="Calibri"/>
                <a:sym typeface="Calibri"/>
              </a:rPr>
              <a:t>3</a:t>
            </a:r>
            <a:endParaRPr sz="1500">
              <a:solidFill>
                <a:schemeClr val="dk1"/>
              </a:solidFill>
              <a:latin typeface="Calibri"/>
              <a:ea typeface="Calibri"/>
              <a:cs typeface="Calibri"/>
              <a:sym typeface="Calibri"/>
            </a:endParaRPr>
          </a:p>
        </p:txBody>
      </p:sp>
      <p:sp>
        <p:nvSpPr>
          <p:cNvPr id="503" name="Google Shape;503;p16"/>
          <p:cNvSpPr/>
          <p:nvPr/>
        </p:nvSpPr>
        <p:spPr>
          <a:xfrm>
            <a:off x="4654296" y="1609344"/>
            <a:ext cx="18288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İş Tanımı Hazırla</a:t>
            </a:r>
            <a:endParaRPr sz="1150">
              <a:solidFill>
                <a:schemeClr val="dk1"/>
              </a:solidFill>
              <a:latin typeface="Calibri"/>
              <a:ea typeface="Calibri"/>
              <a:cs typeface="Calibri"/>
              <a:sym typeface="Calibri"/>
            </a:endParaRPr>
          </a:p>
        </p:txBody>
      </p:sp>
      <p:sp>
        <p:nvSpPr>
          <p:cNvPr id="504" name="Google Shape;504;p16"/>
          <p:cNvSpPr/>
          <p:nvPr/>
        </p:nvSpPr>
        <p:spPr>
          <a:xfrm>
            <a:off x="4654296" y="1947672"/>
            <a:ext cx="18288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Workflow şablonunun derin kopyası oluşturulur. Dosya adı, ayarlar ve prompt'lar kopyaya yazılır.</a:t>
            </a:r>
            <a:endParaRPr sz="950">
              <a:solidFill>
                <a:schemeClr val="dk1"/>
              </a:solidFill>
              <a:latin typeface="Calibri"/>
              <a:ea typeface="Calibri"/>
              <a:cs typeface="Calibri"/>
              <a:sym typeface="Calibri"/>
            </a:endParaRPr>
          </a:p>
        </p:txBody>
      </p:sp>
      <p:cxnSp>
        <p:nvCxnSpPr>
          <p:cNvPr id="505" name="Google Shape;505;p16"/>
          <p:cNvCxnSpPr/>
          <p:nvPr/>
        </p:nvCxnSpPr>
        <p:spPr>
          <a:xfrm>
            <a:off x="6620256" y="1792224"/>
            <a:ext cx="73152" cy="0"/>
          </a:xfrm>
          <a:prstGeom prst="straightConnector1">
            <a:avLst/>
          </a:prstGeom>
          <a:noFill/>
          <a:ln cap="flat" cmpd="sng" w="19050">
            <a:solidFill>
              <a:srgbClr val="AABBCC"/>
            </a:solidFill>
            <a:prstDash val="solid"/>
            <a:round/>
            <a:headEnd len="sm" w="sm" type="none"/>
            <a:tailEnd len="med" w="med" type="triangle"/>
          </a:ln>
        </p:spPr>
      </p:cxnSp>
      <p:sp>
        <p:nvSpPr>
          <p:cNvPr id="506" name="Google Shape;506;p16"/>
          <p:cNvSpPr/>
          <p:nvPr/>
        </p:nvSpPr>
        <p:spPr>
          <a:xfrm>
            <a:off x="6729984" y="896112"/>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6"/>
          <p:cNvSpPr/>
          <p:nvPr/>
        </p:nvSpPr>
        <p:spPr>
          <a:xfrm>
            <a:off x="7461504" y="987552"/>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6"/>
          <p:cNvSpPr/>
          <p:nvPr/>
        </p:nvSpPr>
        <p:spPr>
          <a:xfrm>
            <a:off x="7461504" y="987552"/>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E"/>
              </a:buClr>
              <a:buSzPts val="1500"/>
              <a:buFont typeface="Calibri"/>
              <a:buNone/>
            </a:pPr>
            <a:r>
              <a:rPr b="1" lang="en-US" sz="1500">
                <a:solidFill>
                  <a:srgbClr val="B0C4DE"/>
                </a:solidFill>
                <a:latin typeface="Calibri"/>
                <a:ea typeface="Calibri"/>
                <a:cs typeface="Calibri"/>
                <a:sym typeface="Calibri"/>
              </a:rPr>
              <a:t>4</a:t>
            </a:r>
            <a:endParaRPr sz="1500">
              <a:solidFill>
                <a:schemeClr val="dk1"/>
              </a:solidFill>
              <a:latin typeface="Calibri"/>
              <a:ea typeface="Calibri"/>
              <a:cs typeface="Calibri"/>
              <a:sym typeface="Calibri"/>
            </a:endParaRPr>
          </a:p>
        </p:txBody>
      </p:sp>
      <p:sp>
        <p:nvSpPr>
          <p:cNvPr id="509" name="Google Shape;509;p16"/>
          <p:cNvSpPr/>
          <p:nvPr/>
        </p:nvSpPr>
        <p:spPr>
          <a:xfrm>
            <a:off x="6821424" y="1609344"/>
            <a:ext cx="18288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Kuyruğa Ekle</a:t>
            </a:r>
            <a:endParaRPr sz="1150">
              <a:solidFill>
                <a:schemeClr val="dk1"/>
              </a:solidFill>
              <a:latin typeface="Calibri"/>
              <a:ea typeface="Calibri"/>
              <a:cs typeface="Calibri"/>
              <a:sym typeface="Calibri"/>
            </a:endParaRPr>
          </a:p>
        </p:txBody>
      </p:sp>
      <p:sp>
        <p:nvSpPr>
          <p:cNvPr id="510" name="Google Shape;510;p16"/>
          <p:cNvSpPr/>
          <p:nvPr/>
        </p:nvSpPr>
        <p:spPr>
          <a:xfrm>
            <a:off x="6821424" y="1947672"/>
            <a:ext cx="18288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POST /api/prompt ile ComfyUI kuyruğuna eklenir. Bir iş kimliği (prompt_id) alınır.</a:t>
            </a:r>
            <a:endParaRPr sz="950">
              <a:solidFill>
                <a:schemeClr val="dk1"/>
              </a:solidFill>
              <a:latin typeface="Calibri"/>
              <a:ea typeface="Calibri"/>
              <a:cs typeface="Calibri"/>
              <a:sym typeface="Calibri"/>
            </a:endParaRPr>
          </a:p>
        </p:txBody>
      </p:sp>
      <p:sp>
        <p:nvSpPr>
          <p:cNvPr id="511" name="Google Shape;511;p16"/>
          <p:cNvSpPr/>
          <p:nvPr/>
        </p:nvSpPr>
        <p:spPr>
          <a:xfrm>
            <a:off x="228600" y="2907792"/>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6"/>
          <p:cNvSpPr/>
          <p:nvPr/>
        </p:nvSpPr>
        <p:spPr>
          <a:xfrm>
            <a:off x="960120" y="2999232"/>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6"/>
          <p:cNvSpPr/>
          <p:nvPr/>
        </p:nvSpPr>
        <p:spPr>
          <a:xfrm>
            <a:off x="960120" y="2999232"/>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6B35"/>
              </a:buClr>
              <a:buSzPts val="1500"/>
              <a:buFont typeface="Calibri"/>
              <a:buNone/>
            </a:pPr>
            <a:r>
              <a:rPr b="1" lang="en-US" sz="1500">
                <a:solidFill>
                  <a:srgbClr val="FF6B35"/>
                </a:solidFill>
                <a:latin typeface="Calibri"/>
                <a:ea typeface="Calibri"/>
                <a:cs typeface="Calibri"/>
                <a:sym typeface="Calibri"/>
              </a:rPr>
              <a:t>5</a:t>
            </a:r>
            <a:endParaRPr sz="1500">
              <a:solidFill>
                <a:schemeClr val="dk1"/>
              </a:solidFill>
              <a:latin typeface="Calibri"/>
              <a:ea typeface="Calibri"/>
              <a:cs typeface="Calibri"/>
              <a:sym typeface="Calibri"/>
            </a:endParaRPr>
          </a:p>
        </p:txBody>
      </p:sp>
      <p:sp>
        <p:nvSpPr>
          <p:cNvPr id="514" name="Google Shape;514;p16"/>
          <p:cNvSpPr/>
          <p:nvPr/>
        </p:nvSpPr>
        <p:spPr>
          <a:xfrm>
            <a:off x="320040" y="3621024"/>
            <a:ext cx="18288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Üretim Başlar</a:t>
            </a:r>
            <a:endParaRPr sz="1150">
              <a:solidFill>
                <a:schemeClr val="dk1"/>
              </a:solidFill>
              <a:latin typeface="Calibri"/>
              <a:ea typeface="Calibri"/>
              <a:cs typeface="Calibri"/>
              <a:sym typeface="Calibri"/>
            </a:endParaRPr>
          </a:p>
        </p:txBody>
      </p:sp>
      <p:sp>
        <p:nvSpPr>
          <p:cNvPr id="515" name="Google Shape;515;p16"/>
          <p:cNvSpPr/>
          <p:nvPr/>
        </p:nvSpPr>
        <p:spPr>
          <a:xfrm>
            <a:off x="320040" y="3959352"/>
            <a:ext cx="18288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WebSocket üzerinden execution_start gelir. Modeller yüklenir, 3 KSampler sırayla 4'er adım çalışır. Her adımda progress bildirimi.</a:t>
            </a:r>
            <a:endParaRPr sz="950">
              <a:solidFill>
                <a:schemeClr val="dk1"/>
              </a:solidFill>
              <a:latin typeface="Calibri"/>
              <a:ea typeface="Calibri"/>
              <a:cs typeface="Calibri"/>
              <a:sym typeface="Calibri"/>
            </a:endParaRPr>
          </a:p>
        </p:txBody>
      </p:sp>
      <p:cxnSp>
        <p:nvCxnSpPr>
          <p:cNvPr id="516" name="Google Shape;516;p16"/>
          <p:cNvCxnSpPr/>
          <p:nvPr/>
        </p:nvCxnSpPr>
        <p:spPr>
          <a:xfrm>
            <a:off x="2286000" y="3803904"/>
            <a:ext cx="73152" cy="0"/>
          </a:xfrm>
          <a:prstGeom prst="straightConnector1">
            <a:avLst/>
          </a:prstGeom>
          <a:noFill/>
          <a:ln cap="flat" cmpd="sng" w="19050">
            <a:solidFill>
              <a:srgbClr val="AABBCC"/>
            </a:solidFill>
            <a:prstDash val="solid"/>
            <a:round/>
            <a:headEnd len="sm" w="sm" type="none"/>
            <a:tailEnd len="med" w="med" type="triangle"/>
          </a:ln>
        </p:spPr>
      </p:cxnSp>
      <p:sp>
        <p:nvSpPr>
          <p:cNvPr id="517" name="Google Shape;517;p16"/>
          <p:cNvSpPr/>
          <p:nvPr/>
        </p:nvSpPr>
        <p:spPr>
          <a:xfrm>
            <a:off x="2395728" y="2907792"/>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6"/>
          <p:cNvSpPr/>
          <p:nvPr/>
        </p:nvSpPr>
        <p:spPr>
          <a:xfrm>
            <a:off x="3127248" y="2999232"/>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6"/>
          <p:cNvSpPr/>
          <p:nvPr/>
        </p:nvSpPr>
        <p:spPr>
          <a:xfrm>
            <a:off x="3127248" y="2999232"/>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D6A0"/>
              </a:buClr>
              <a:buSzPts val="1500"/>
              <a:buFont typeface="Calibri"/>
              <a:buNone/>
            </a:pPr>
            <a:r>
              <a:rPr b="1" lang="en-US" sz="1500">
                <a:solidFill>
                  <a:srgbClr val="06D6A0"/>
                </a:solidFill>
                <a:latin typeface="Calibri"/>
                <a:ea typeface="Calibri"/>
                <a:cs typeface="Calibri"/>
                <a:sym typeface="Calibri"/>
              </a:rPr>
              <a:t>6</a:t>
            </a:r>
            <a:endParaRPr sz="1500">
              <a:solidFill>
                <a:schemeClr val="dk1"/>
              </a:solidFill>
              <a:latin typeface="Calibri"/>
              <a:ea typeface="Calibri"/>
              <a:cs typeface="Calibri"/>
              <a:sym typeface="Calibri"/>
            </a:endParaRPr>
          </a:p>
        </p:txBody>
      </p:sp>
      <p:sp>
        <p:nvSpPr>
          <p:cNvPr id="520" name="Google Shape;520;p16"/>
          <p:cNvSpPr/>
          <p:nvPr/>
        </p:nvSpPr>
        <p:spPr>
          <a:xfrm>
            <a:off x="2487168" y="3621024"/>
            <a:ext cx="18288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Görsel Kaydedilir</a:t>
            </a:r>
            <a:endParaRPr sz="1150">
              <a:solidFill>
                <a:schemeClr val="dk1"/>
              </a:solidFill>
              <a:latin typeface="Calibri"/>
              <a:ea typeface="Calibri"/>
              <a:cs typeface="Calibri"/>
              <a:sym typeface="Calibri"/>
            </a:endParaRPr>
          </a:p>
        </p:txBody>
      </p:sp>
      <p:sp>
        <p:nvSpPr>
          <p:cNvPr id="521" name="Google Shape;521;p16"/>
          <p:cNvSpPr/>
          <p:nvPr/>
        </p:nvSpPr>
        <p:spPr>
          <a:xfrm>
            <a:off x="2487168" y="3959352"/>
            <a:ext cx="18288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Her açı tamamlandığında executed WS mesajı gelir: node kimliği + dosya adı. Arayüz görseli /api/view ile çeker, karta gösterir.</a:t>
            </a:r>
            <a:endParaRPr sz="950">
              <a:solidFill>
                <a:schemeClr val="dk1"/>
              </a:solidFill>
              <a:latin typeface="Calibri"/>
              <a:ea typeface="Calibri"/>
              <a:cs typeface="Calibri"/>
              <a:sym typeface="Calibri"/>
            </a:endParaRPr>
          </a:p>
        </p:txBody>
      </p:sp>
      <p:cxnSp>
        <p:nvCxnSpPr>
          <p:cNvPr id="522" name="Google Shape;522;p16"/>
          <p:cNvCxnSpPr/>
          <p:nvPr/>
        </p:nvCxnSpPr>
        <p:spPr>
          <a:xfrm>
            <a:off x="4453128" y="3803904"/>
            <a:ext cx="73152" cy="0"/>
          </a:xfrm>
          <a:prstGeom prst="straightConnector1">
            <a:avLst/>
          </a:prstGeom>
          <a:noFill/>
          <a:ln cap="flat" cmpd="sng" w="19050">
            <a:solidFill>
              <a:srgbClr val="AABBCC"/>
            </a:solidFill>
            <a:prstDash val="solid"/>
            <a:round/>
            <a:headEnd len="sm" w="sm" type="none"/>
            <a:tailEnd len="med" w="med" type="triangle"/>
          </a:ln>
        </p:spPr>
      </p:cxnSp>
      <p:sp>
        <p:nvSpPr>
          <p:cNvPr id="523" name="Google Shape;523;p16"/>
          <p:cNvSpPr/>
          <p:nvPr/>
        </p:nvSpPr>
        <p:spPr>
          <a:xfrm>
            <a:off x="4562856" y="2907792"/>
            <a:ext cx="2011680" cy="1783080"/>
          </a:xfrm>
          <a:prstGeom prst="rect">
            <a:avLst/>
          </a:prstGeom>
          <a:solidFill>
            <a:srgbClr val="F0F4FF"/>
          </a:solidFill>
          <a:ln cap="flat" cmpd="sng" w="12700">
            <a:solidFill>
              <a:srgbClr val="D0DCF0"/>
            </a:solidFill>
            <a:prstDash val="solid"/>
            <a:round/>
            <a:headEnd len="sm" w="sm" type="none"/>
            <a:tailEnd len="sm" w="sm" type="none"/>
          </a:ln>
          <a:effectLst>
            <a:outerShdw blurRad="101600" rotWithShape="0" algn="bl" dir="8100000" dist="381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6"/>
          <p:cNvSpPr/>
          <p:nvPr/>
        </p:nvSpPr>
        <p:spPr>
          <a:xfrm>
            <a:off x="5294376" y="2999232"/>
            <a:ext cx="548640" cy="548640"/>
          </a:xfrm>
          <a:prstGeom prst="ellipse">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6"/>
          <p:cNvSpPr/>
          <p:nvPr/>
        </p:nvSpPr>
        <p:spPr>
          <a:xfrm>
            <a:off x="5294376" y="2999232"/>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D6A0"/>
              </a:buClr>
              <a:buSzPts val="1500"/>
              <a:buFont typeface="Calibri"/>
              <a:buNone/>
            </a:pPr>
            <a:r>
              <a:rPr b="1" lang="en-US" sz="1500">
                <a:solidFill>
                  <a:srgbClr val="06D6A0"/>
                </a:solidFill>
                <a:latin typeface="Calibri"/>
                <a:ea typeface="Calibri"/>
                <a:cs typeface="Calibri"/>
                <a:sym typeface="Calibri"/>
              </a:rPr>
              <a:t>7</a:t>
            </a:r>
            <a:endParaRPr sz="1500">
              <a:solidFill>
                <a:schemeClr val="dk1"/>
              </a:solidFill>
              <a:latin typeface="Calibri"/>
              <a:ea typeface="Calibri"/>
              <a:cs typeface="Calibri"/>
              <a:sym typeface="Calibri"/>
            </a:endParaRPr>
          </a:p>
        </p:txBody>
      </p:sp>
      <p:sp>
        <p:nvSpPr>
          <p:cNvPr id="526" name="Google Shape;526;p16"/>
          <p:cNvSpPr/>
          <p:nvPr/>
        </p:nvSpPr>
        <p:spPr>
          <a:xfrm>
            <a:off x="4654296" y="3621024"/>
            <a:ext cx="18288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150"/>
              <a:buFont typeface="Calibri"/>
              <a:buNone/>
            </a:pPr>
            <a:r>
              <a:rPr b="1" lang="en-US" sz="1150">
                <a:solidFill>
                  <a:srgbClr val="0A1628"/>
                </a:solidFill>
                <a:latin typeface="Calibri"/>
                <a:ea typeface="Calibri"/>
                <a:cs typeface="Calibri"/>
                <a:sym typeface="Calibri"/>
              </a:rPr>
              <a:t>Tamamlandı</a:t>
            </a:r>
            <a:endParaRPr sz="1150">
              <a:solidFill>
                <a:schemeClr val="dk1"/>
              </a:solidFill>
              <a:latin typeface="Calibri"/>
              <a:ea typeface="Calibri"/>
              <a:cs typeface="Calibri"/>
              <a:sym typeface="Calibri"/>
            </a:endParaRPr>
          </a:p>
        </p:txBody>
      </p:sp>
      <p:sp>
        <p:nvSpPr>
          <p:cNvPr id="527" name="Google Shape;527;p16"/>
          <p:cNvSpPr/>
          <p:nvPr/>
        </p:nvSpPr>
        <p:spPr>
          <a:xfrm>
            <a:off x="4654296" y="3959352"/>
            <a:ext cx="18288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lang="en-US" sz="950">
                <a:solidFill>
                  <a:srgbClr val="444444"/>
                </a:solidFill>
                <a:latin typeface="Calibri"/>
                <a:ea typeface="Calibri"/>
                <a:cs typeface="Calibri"/>
                <a:sym typeface="Calibri"/>
              </a:rPr>
              <a:t>node:null mesajıyla tüm pipeline bitti. Progress bar yeşile döner. Kullanıcı 3 görseli görüntüler veya indirir.</a:t>
            </a:r>
            <a:endParaRPr sz="95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532" name="Shape 532"/>
        <p:cNvGrpSpPr/>
        <p:nvPr/>
      </p:nvGrpSpPr>
      <p:grpSpPr>
        <a:xfrm>
          <a:off x="0" y="0"/>
          <a:ext cx="0" cy="0"/>
          <a:chOff x="0" y="0"/>
          <a:chExt cx="0" cy="0"/>
        </a:xfrm>
      </p:grpSpPr>
      <p:sp>
        <p:nvSpPr>
          <p:cNvPr id="533" name="Google Shape;533;p17"/>
          <p:cNvSpPr/>
          <p:nvPr/>
        </p:nvSpPr>
        <p:spPr>
          <a:xfrm>
            <a:off x="365760" y="18288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SONUÇLAR VE DEĞERLENDİRME</a:t>
            </a:r>
            <a:endParaRPr sz="2200">
              <a:solidFill>
                <a:schemeClr val="dk1"/>
              </a:solidFill>
              <a:latin typeface="Calibri"/>
              <a:ea typeface="Calibri"/>
              <a:cs typeface="Calibri"/>
              <a:sym typeface="Calibri"/>
            </a:endParaRPr>
          </a:p>
        </p:txBody>
      </p:sp>
      <p:sp>
        <p:nvSpPr>
          <p:cNvPr id="534" name="Google Shape;534;p17"/>
          <p:cNvSpPr/>
          <p:nvPr/>
        </p:nvSpPr>
        <p:spPr>
          <a:xfrm>
            <a:off x="365760" y="667512"/>
            <a:ext cx="1371600" cy="4572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7"/>
          <p:cNvSpPr/>
          <p:nvPr/>
        </p:nvSpPr>
        <p:spPr>
          <a:xfrm>
            <a:off x="274320" y="868680"/>
            <a:ext cx="4160520" cy="3977640"/>
          </a:xfrm>
          <a:prstGeom prst="rect">
            <a:avLst/>
          </a:prstGeom>
          <a:solidFill>
            <a:srgbClr val="132040"/>
          </a:solidFill>
          <a:ln cap="flat" cmpd="sng" w="19050">
            <a:solidFill>
              <a:srgbClr val="06D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7"/>
          <p:cNvSpPr/>
          <p:nvPr/>
        </p:nvSpPr>
        <p:spPr>
          <a:xfrm>
            <a:off x="274320" y="932688"/>
            <a:ext cx="41605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6D6A0"/>
              </a:buClr>
              <a:buSzPts val="1300"/>
              <a:buFont typeface="Calibri"/>
              <a:buNone/>
            </a:pPr>
            <a:r>
              <a:rPr b="1" lang="en-US" sz="1300">
                <a:solidFill>
                  <a:srgbClr val="06D6A0"/>
                </a:solidFill>
                <a:latin typeface="Calibri"/>
                <a:ea typeface="Calibri"/>
                <a:cs typeface="Calibri"/>
                <a:sym typeface="Calibri"/>
              </a:rPr>
              <a:t>✅  GÜÇLÜ YÖNLER</a:t>
            </a:r>
            <a:endParaRPr sz="1300">
              <a:solidFill>
                <a:schemeClr val="dk1"/>
              </a:solidFill>
              <a:latin typeface="Calibri"/>
              <a:ea typeface="Calibri"/>
              <a:cs typeface="Calibri"/>
              <a:sym typeface="Calibri"/>
            </a:endParaRPr>
          </a:p>
        </p:txBody>
      </p:sp>
      <p:sp>
        <p:nvSpPr>
          <p:cNvPr id="537" name="Google Shape;537;p17"/>
          <p:cNvSpPr/>
          <p:nvPr/>
        </p:nvSpPr>
        <p:spPr>
          <a:xfrm>
            <a:off x="457200" y="1417320"/>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1200"/>
              <a:buFont typeface="Calibri"/>
              <a:buNone/>
            </a:pPr>
            <a:r>
              <a:rPr b="1" lang="en-US" sz="1200">
                <a:solidFill>
                  <a:srgbClr val="06D6A0"/>
                </a:solidFill>
                <a:latin typeface="Calibri"/>
                <a:ea typeface="Calibri"/>
                <a:cs typeface="Calibri"/>
                <a:sym typeface="Calibri"/>
              </a:rPr>
              <a:t>◆  Görsel Kimlik Sadakati</a:t>
            </a:r>
            <a:endParaRPr sz="1200">
              <a:solidFill>
                <a:schemeClr val="dk1"/>
              </a:solidFill>
              <a:latin typeface="Calibri"/>
              <a:ea typeface="Calibri"/>
              <a:cs typeface="Calibri"/>
              <a:sym typeface="Calibri"/>
            </a:endParaRPr>
          </a:p>
        </p:txBody>
      </p:sp>
      <p:sp>
        <p:nvSpPr>
          <p:cNvPr id="538" name="Google Shape;538;p17"/>
          <p:cNvSpPr/>
          <p:nvPr/>
        </p:nvSpPr>
        <p:spPr>
          <a:xfrm>
            <a:off x="457200" y="1673352"/>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Ürünün rengi, şekli, logosu ve dokusu büyük ölçüde korunuyor.</a:t>
            </a:r>
            <a:endParaRPr sz="1050">
              <a:solidFill>
                <a:schemeClr val="dk1"/>
              </a:solidFill>
              <a:latin typeface="Calibri"/>
              <a:ea typeface="Calibri"/>
              <a:cs typeface="Calibri"/>
              <a:sym typeface="Calibri"/>
            </a:endParaRPr>
          </a:p>
        </p:txBody>
      </p:sp>
      <p:sp>
        <p:nvSpPr>
          <p:cNvPr id="539" name="Google Shape;539;p17"/>
          <p:cNvSpPr/>
          <p:nvPr/>
        </p:nvSpPr>
        <p:spPr>
          <a:xfrm>
            <a:off x="457200" y="2039112"/>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1200"/>
              <a:buFont typeface="Calibri"/>
              <a:buNone/>
            </a:pPr>
            <a:r>
              <a:rPr b="1" lang="en-US" sz="1200">
                <a:solidFill>
                  <a:srgbClr val="06D6A0"/>
                </a:solidFill>
                <a:latin typeface="Calibri"/>
                <a:ea typeface="Calibri"/>
                <a:cs typeface="Calibri"/>
                <a:sym typeface="Calibri"/>
              </a:rPr>
              <a:t>◆  Hız</a:t>
            </a:r>
            <a:endParaRPr sz="1200">
              <a:solidFill>
                <a:schemeClr val="dk1"/>
              </a:solidFill>
              <a:latin typeface="Calibri"/>
              <a:ea typeface="Calibri"/>
              <a:cs typeface="Calibri"/>
              <a:sym typeface="Calibri"/>
            </a:endParaRPr>
          </a:p>
        </p:txBody>
      </p:sp>
      <p:sp>
        <p:nvSpPr>
          <p:cNvPr id="540" name="Google Shape;540;p17"/>
          <p:cNvSpPr/>
          <p:nvPr/>
        </p:nvSpPr>
        <p:spPr>
          <a:xfrm>
            <a:off x="457200" y="2295144"/>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Lightning LoRA ile ~30-60 sn. Bulut çözümlerine kıyasla gecikme yok.</a:t>
            </a:r>
            <a:endParaRPr sz="1050">
              <a:solidFill>
                <a:schemeClr val="dk1"/>
              </a:solidFill>
              <a:latin typeface="Calibri"/>
              <a:ea typeface="Calibri"/>
              <a:cs typeface="Calibri"/>
              <a:sym typeface="Calibri"/>
            </a:endParaRPr>
          </a:p>
        </p:txBody>
      </p:sp>
      <p:sp>
        <p:nvSpPr>
          <p:cNvPr id="541" name="Google Shape;541;p17"/>
          <p:cNvSpPr/>
          <p:nvPr/>
        </p:nvSpPr>
        <p:spPr>
          <a:xfrm>
            <a:off x="457200" y="2660904"/>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1200"/>
              <a:buFont typeface="Calibri"/>
              <a:buNone/>
            </a:pPr>
            <a:r>
              <a:rPr b="1" lang="en-US" sz="1200">
                <a:solidFill>
                  <a:srgbClr val="06D6A0"/>
                </a:solidFill>
                <a:latin typeface="Calibri"/>
                <a:ea typeface="Calibri"/>
                <a:cs typeface="Calibri"/>
                <a:sym typeface="Calibri"/>
              </a:rPr>
              <a:t>◆  Esneklik</a:t>
            </a:r>
            <a:endParaRPr sz="1200">
              <a:solidFill>
                <a:schemeClr val="dk1"/>
              </a:solidFill>
              <a:latin typeface="Calibri"/>
              <a:ea typeface="Calibri"/>
              <a:cs typeface="Calibri"/>
              <a:sym typeface="Calibri"/>
            </a:endParaRPr>
          </a:p>
        </p:txBody>
      </p:sp>
      <p:sp>
        <p:nvSpPr>
          <p:cNvPr id="542" name="Google Shape;542;p17"/>
          <p:cNvSpPr/>
          <p:nvPr/>
        </p:nvSpPr>
        <p:spPr>
          <a:xfrm>
            <a:off x="457200" y="2916936"/>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Her açı için prompt özelleştirme; marka stili veya ürün kategorisine uyarlanabilir.</a:t>
            </a:r>
            <a:endParaRPr sz="1050">
              <a:solidFill>
                <a:schemeClr val="dk1"/>
              </a:solidFill>
              <a:latin typeface="Calibri"/>
              <a:ea typeface="Calibri"/>
              <a:cs typeface="Calibri"/>
              <a:sym typeface="Calibri"/>
            </a:endParaRPr>
          </a:p>
        </p:txBody>
      </p:sp>
      <p:sp>
        <p:nvSpPr>
          <p:cNvPr id="543" name="Google Shape;543;p17"/>
          <p:cNvSpPr/>
          <p:nvPr/>
        </p:nvSpPr>
        <p:spPr>
          <a:xfrm>
            <a:off x="457200" y="3282696"/>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1200"/>
              <a:buFont typeface="Calibri"/>
              <a:buNone/>
            </a:pPr>
            <a:r>
              <a:rPr b="1" lang="en-US" sz="1200">
                <a:solidFill>
                  <a:srgbClr val="06D6A0"/>
                </a:solidFill>
                <a:latin typeface="Calibri"/>
                <a:ea typeface="Calibri"/>
                <a:cs typeface="Calibri"/>
                <a:sym typeface="Calibri"/>
              </a:rPr>
              <a:t>◆  Gizlilik</a:t>
            </a:r>
            <a:endParaRPr sz="1200">
              <a:solidFill>
                <a:schemeClr val="dk1"/>
              </a:solidFill>
              <a:latin typeface="Calibri"/>
              <a:ea typeface="Calibri"/>
              <a:cs typeface="Calibri"/>
              <a:sym typeface="Calibri"/>
            </a:endParaRPr>
          </a:p>
        </p:txBody>
      </p:sp>
      <p:sp>
        <p:nvSpPr>
          <p:cNvPr id="544" name="Google Shape;544;p17"/>
          <p:cNvSpPr/>
          <p:nvPr/>
        </p:nvSpPr>
        <p:spPr>
          <a:xfrm>
            <a:off x="457200" y="3538728"/>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Hiçbir görsel harici sunuculara gitmiyor. Ticari ürünler için kritik.</a:t>
            </a:r>
            <a:endParaRPr sz="1050">
              <a:solidFill>
                <a:schemeClr val="dk1"/>
              </a:solidFill>
              <a:latin typeface="Calibri"/>
              <a:ea typeface="Calibri"/>
              <a:cs typeface="Calibri"/>
              <a:sym typeface="Calibri"/>
            </a:endParaRPr>
          </a:p>
        </p:txBody>
      </p:sp>
      <p:sp>
        <p:nvSpPr>
          <p:cNvPr id="545" name="Google Shape;545;p17"/>
          <p:cNvSpPr/>
          <p:nvPr/>
        </p:nvSpPr>
        <p:spPr>
          <a:xfrm>
            <a:off x="457200" y="3904488"/>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D6A0"/>
              </a:buClr>
              <a:buSzPts val="1200"/>
              <a:buFont typeface="Calibri"/>
              <a:buNone/>
            </a:pPr>
            <a:r>
              <a:rPr b="1" lang="en-US" sz="1200">
                <a:solidFill>
                  <a:srgbClr val="06D6A0"/>
                </a:solidFill>
                <a:latin typeface="Calibri"/>
                <a:ea typeface="Calibri"/>
                <a:cs typeface="Calibri"/>
                <a:sym typeface="Calibri"/>
              </a:rPr>
              <a:t>◆  Sıfır API Maliyeti</a:t>
            </a:r>
            <a:endParaRPr sz="1200">
              <a:solidFill>
                <a:schemeClr val="dk1"/>
              </a:solidFill>
              <a:latin typeface="Calibri"/>
              <a:ea typeface="Calibri"/>
              <a:cs typeface="Calibri"/>
              <a:sym typeface="Calibri"/>
            </a:endParaRPr>
          </a:p>
        </p:txBody>
      </p:sp>
      <p:sp>
        <p:nvSpPr>
          <p:cNvPr id="546" name="Google Shape;546;p17"/>
          <p:cNvSpPr/>
          <p:nvPr/>
        </p:nvSpPr>
        <p:spPr>
          <a:xfrm>
            <a:off x="457200" y="4160520"/>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Ücretli API veya bulut servisi yok. Tek maliyet donanım.</a:t>
            </a:r>
            <a:endParaRPr sz="1050">
              <a:solidFill>
                <a:schemeClr val="dk1"/>
              </a:solidFill>
              <a:latin typeface="Calibri"/>
              <a:ea typeface="Calibri"/>
              <a:cs typeface="Calibri"/>
              <a:sym typeface="Calibri"/>
            </a:endParaRPr>
          </a:p>
        </p:txBody>
      </p:sp>
      <p:sp>
        <p:nvSpPr>
          <p:cNvPr id="547" name="Google Shape;547;p17"/>
          <p:cNvSpPr/>
          <p:nvPr/>
        </p:nvSpPr>
        <p:spPr>
          <a:xfrm>
            <a:off x="4709160" y="868680"/>
            <a:ext cx="4160520" cy="3977640"/>
          </a:xfrm>
          <a:prstGeom prst="rect">
            <a:avLst/>
          </a:prstGeom>
          <a:solidFill>
            <a:srgbClr val="132040"/>
          </a:solidFill>
          <a:ln cap="flat" cmpd="sng" w="19050">
            <a:solidFill>
              <a:srgbClr val="FF6B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7"/>
          <p:cNvSpPr/>
          <p:nvPr/>
        </p:nvSpPr>
        <p:spPr>
          <a:xfrm>
            <a:off x="4709160" y="932688"/>
            <a:ext cx="41605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6B35"/>
              </a:buClr>
              <a:buSzPts val="1300"/>
              <a:buFont typeface="Calibri"/>
              <a:buNone/>
            </a:pPr>
            <a:r>
              <a:rPr b="1" lang="en-US" sz="1300">
                <a:solidFill>
                  <a:srgbClr val="FF6B35"/>
                </a:solidFill>
                <a:latin typeface="Calibri"/>
                <a:ea typeface="Calibri"/>
                <a:cs typeface="Calibri"/>
                <a:sym typeface="Calibri"/>
              </a:rPr>
              <a:t>⚠️  KISITLAR VE GELECEK</a:t>
            </a:r>
            <a:endParaRPr sz="1300">
              <a:solidFill>
                <a:schemeClr val="dk1"/>
              </a:solidFill>
              <a:latin typeface="Calibri"/>
              <a:ea typeface="Calibri"/>
              <a:cs typeface="Calibri"/>
              <a:sym typeface="Calibri"/>
            </a:endParaRPr>
          </a:p>
        </p:txBody>
      </p:sp>
      <p:sp>
        <p:nvSpPr>
          <p:cNvPr id="549" name="Google Shape;549;p17"/>
          <p:cNvSpPr/>
          <p:nvPr/>
        </p:nvSpPr>
        <p:spPr>
          <a:xfrm>
            <a:off x="4892040" y="1417320"/>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  Donanım Bağımlılığı</a:t>
            </a:r>
            <a:endParaRPr sz="1200">
              <a:solidFill>
                <a:schemeClr val="dk1"/>
              </a:solidFill>
              <a:latin typeface="Calibri"/>
              <a:ea typeface="Calibri"/>
              <a:cs typeface="Calibri"/>
              <a:sym typeface="Calibri"/>
            </a:endParaRPr>
          </a:p>
        </p:txBody>
      </p:sp>
      <p:sp>
        <p:nvSpPr>
          <p:cNvPr id="550" name="Google Shape;550;p17"/>
          <p:cNvSpPr/>
          <p:nvPr/>
        </p:nvSpPr>
        <p:spPr>
          <a:xfrm>
            <a:off x="4892040" y="1673352"/>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Min. 6-8 GB VRAM gerekiyor. Daha verimli niceleme ile azaltılabilir.</a:t>
            </a:r>
            <a:endParaRPr sz="1050">
              <a:solidFill>
                <a:schemeClr val="dk1"/>
              </a:solidFill>
              <a:latin typeface="Calibri"/>
              <a:ea typeface="Calibri"/>
              <a:cs typeface="Calibri"/>
              <a:sym typeface="Calibri"/>
            </a:endParaRPr>
          </a:p>
        </p:txBody>
      </p:sp>
      <p:sp>
        <p:nvSpPr>
          <p:cNvPr id="551" name="Google Shape;551;p17"/>
          <p:cNvSpPr/>
          <p:nvPr/>
        </p:nvSpPr>
        <p:spPr>
          <a:xfrm>
            <a:off x="4892040" y="2039112"/>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  Ürün Tipi Kısıtları</a:t>
            </a:r>
            <a:endParaRPr sz="1200">
              <a:solidFill>
                <a:schemeClr val="dk1"/>
              </a:solidFill>
              <a:latin typeface="Calibri"/>
              <a:ea typeface="Calibri"/>
              <a:cs typeface="Calibri"/>
              <a:sym typeface="Calibri"/>
            </a:endParaRPr>
          </a:p>
        </p:txBody>
      </p:sp>
      <p:sp>
        <p:nvSpPr>
          <p:cNvPr id="552" name="Google Shape;552;p17"/>
          <p:cNvSpPr/>
          <p:nvPr/>
        </p:nvSpPr>
        <p:spPr>
          <a:xfrm>
            <a:off x="4892040" y="2295144"/>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Şeffaf veya ayna yüzeyli ürünlerde kimlik koruma zaman zaman zorlanıyor.</a:t>
            </a:r>
            <a:endParaRPr sz="1050">
              <a:solidFill>
                <a:schemeClr val="dk1"/>
              </a:solidFill>
              <a:latin typeface="Calibri"/>
              <a:ea typeface="Calibri"/>
              <a:cs typeface="Calibri"/>
              <a:sym typeface="Calibri"/>
            </a:endParaRPr>
          </a:p>
        </p:txBody>
      </p:sp>
      <p:sp>
        <p:nvSpPr>
          <p:cNvPr id="553" name="Google Shape;553;p17"/>
          <p:cNvSpPr/>
          <p:nvPr/>
        </p:nvSpPr>
        <p:spPr>
          <a:xfrm>
            <a:off x="4892040" y="2660904"/>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  Anlık Önizleme Yok</a:t>
            </a:r>
            <a:endParaRPr sz="1200">
              <a:solidFill>
                <a:schemeClr val="dk1"/>
              </a:solidFill>
              <a:latin typeface="Calibri"/>
              <a:ea typeface="Calibri"/>
              <a:cs typeface="Calibri"/>
              <a:sym typeface="Calibri"/>
            </a:endParaRPr>
          </a:p>
        </p:txBody>
      </p:sp>
      <p:sp>
        <p:nvSpPr>
          <p:cNvPr id="554" name="Google Shape;554;p17"/>
          <p:cNvSpPr/>
          <p:nvPr/>
        </p:nvSpPr>
        <p:spPr>
          <a:xfrm>
            <a:off x="4892040" y="2916936"/>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Sonuçlar ancak üretim bitince görülebiliyor. Ara adım önizleme eklenebilir.</a:t>
            </a:r>
            <a:endParaRPr sz="1050">
              <a:solidFill>
                <a:schemeClr val="dk1"/>
              </a:solidFill>
              <a:latin typeface="Calibri"/>
              <a:ea typeface="Calibri"/>
              <a:cs typeface="Calibri"/>
              <a:sym typeface="Calibri"/>
            </a:endParaRPr>
          </a:p>
        </p:txBody>
      </p:sp>
      <p:sp>
        <p:nvSpPr>
          <p:cNvPr id="555" name="Google Shape;555;p17"/>
          <p:cNvSpPr/>
          <p:nvPr/>
        </p:nvSpPr>
        <p:spPr>
          <a:xfrm>
            <a:off x="4892040" y="3282696"/>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  Toplu İşleme Yok</a:t>
            </a:r>
            <a:endParaRPr sz="1200">
              <a:solidFill>
                <a:schemeClr val="dk1"/>
              </a:solidFill>
              <a:latin typeface="Calibri"/>
              <a:ea typeface="Calibri"/>
              <a:cs typeface="Calibri"/>
              <a:sym typeface="Calibri"/>
            </a:endParaRPr>
          </a:p>
        </p:txBody>
      </p:sp>
      <p:sp>
        <p:nvSpPr>
          <p:cNvPr id="556" name="Google Shape;556;p17"/>
          <p:cNvSpPr/>
          <p:nvPr/>
        </p:nvSpPr>
        <p:spPr>
          <a:xfrm>
            <a:off x="4892040" y="3538728"/>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Şu an tek seferinde bir ürün. Birden fazla ürün sırası desteklenebilir.</a:t>
            </a:r>
            <a:endParaRPr sz="1050">
              <a:solidFill>
                <a:schemeClr val="dk1"/>
              </a:solidFill>
              <a:latin typeface="Calibri"/>
              <a:ea typeface="Calibri"/>
              <a:cs typeface="Calibri"/>
              <a:sym typeface="Calibri"/>
            </a:endParaRPr>
          </a:p>
        </p:txBody>
      </p:sp>
      <p:sp>
        <p:nvSpPr>
          <p:cNvPr id="557" name="Google Shape;557;p17"/>
          <p:cNvSpPr/>
          <p:nvPr/>
        </p:nvSpPr>
        <p:spPr>
          <a:xfrm>
            <a:off x="4892040" y="3904488"/>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200"/>
              <a:buFont typeface="Calibri"/>
              <a:buNone/>
            </a:pPr>
            <a:r>
              <a:rPr b="1" lang="en-US" sz="1200">
                <a:solidFill>
                  <a:srgbClr val="FF6B35"/>
                </a:solidFill>
                <a:latin typeface="Calibri"/>
                <a:ea typeface="Calibri"/>
                <a:cs typeface="Calibri"/>
                <a:sym typeface="Calibri"/>
              </a:rPr>
              <a:t>◆  Model Güncellemeleri</a:t>
            </a:r>
            <a:endParaRPr sz="1200">
              <a:solidFill>
                <a:schemeClr val="dk1"/>
              </a:solidFill>
              <a:latin typeface="Calibri"/>
              <a:ea typeface="Calibri"/>
              <a:cs typeface="Calibri"/>
              <a:sym typeface="Calibri"/>
            </a:endParaRPr>
          </a:p>
        </p:txBody>
      </p:sp>
      <p:sp>
        <p:nvSpPr>
          <p:cNvPr id="558" name="Google Shape;558;p17"/>
          <p:cNvSpPr/>
          <p:nvPr/>
        </p:nvSpPr>
        <p:spPr>
          <a:xfrm>
            <a:off x="4892040" y="4160520"/>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050"/>
              <a:buFont typeface="Calibri"/>
              <a:buNone/>
            </a:pPr>
            <a:r>
              <a:rPr lang="en-US" sz="1050">
                <a:solidFill>
                  <a:srgbClr val="B0C4DE"/>
                </a:solidFill>
                <a:latin typeface="Calibri"/>
                <a:ea typeface="Calibri"/>
                <a:cs typeface="Calibri"/>
                <a:sym typeface="Calibri"/>
              </a:rPr>
              <a:t>Qwen serisinin gelişimi sürüyor; yeni sürümler daha iyi sonuç verebilir.</a:t>
            </a:r>
            <a:endParaRPr sz="105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563" name="Shape 563"/>
        <p:cNvGrpSpPr/>
        <p:nvPr/>
      </p:nvGrpSpPr>
      <p:grpSpPr>
        <a:xfrm>
          <a:off x="0" y="0"/>
          <a:ext cx="0" cy="0"/>
          <a:chOff x="0" y="0"/>
          <a:chExt cx="0" cy="0"/>
        </a:xfrm>
      </p:grpSpPr>
      <p:sp>
        <p:nvSpPr>
          <p:cNvPr id="564" name="Google Shape;564;p18"/>
          <p:cNvSpPr/>
          <p:nvPr/>
        </p:nvSpPr>
        <p:spPr>
          <a:xfrm>
            <a:off x="0" y="0"/>
            <a:ext cx="109728" cy="514350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8"/>
          <p:cNvSpPr/>
          <p:nvPr/>
        </p:nvSpPr>
        <p:spPr>
          <a:xfrm>
            <a:off x="457200" y="457200"/>
            <a:ext cx="1920240" cy="1280160"/>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8"/>
          <p:cNvSpPr/>
          <p:nvPr/>
        </p:nvSpPr>
        <p:spPr>
          <a:xfrm>
            <a:off x="457200" y="502920"/>
            <a:ext cx="192024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4200"/>
              <a:buFont typeface="Calibri"/>
              <a:buNone/>
            </a:pPr>
            <a:r>
              <a:rPr b="1" lang="en-US" sz="4200">
                <a:solidFill>
                  <a:srgbClr val="00B4D8"/>
                </a:solidFill>
                <a:latin typeface="Calibri"/>
                <a:ea typeface="Calibri"/>
                <a:cs typeface="Calibri"/>
                <a:sym typeface="Calibri"/>
              </a:rPr>
              <a:t>3</a:t>
            </a:r>
            <a:endParaRPr sz="4200">
              <a:solidFill>
                <a:schemeClr val="dk1"/>
              </a:solidFill>
              <a:latin typeface="Calibri"/>
              <a:ea typeface="Calibri"/>
              <a:cs typeface="Calibri"/>
              <a:sym typeface="Calibri"/>
            </a:endParaRPr>
          </a:p>
        </p:txBody>
      </p:sp>
      <p:sp>
        <p:nvSpPr>
          <p:cNvPr id="567" name="Google Shape;567;p18"/>
          <p:cNvSpPr/>
          <p:nvPr/>
        </p:nvSpPr>
        <p:spPr>
          <a:xfrm>
            <a:off x="457200" y="1170432"/>
            <a:ext cx="192024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Kamera Açısı</a:t>
            </a:r>
            <a:endParaRPr sz="1100">
              <a:solidFill>
                <a:schemeClr val="dk1"/>
              </a:solidFill>
              <a:latin typeface="Calibri"/>
              <a:ea typeface="Calibri"/>
              <a:cs typeface="Calibri"/>
              <a:sym typeface="Calibri"/>
            </a:endParaRPr>
          </a:p>
        </p:txBody>
      </p:sp>
      <p:sp>
        <p:nvSpPr>
          <p:cNvPr id="568" name="Google Shape;568;p18"/>
          <p:cNvSpPr/>
          <p:nvPr/>
        </p:nvSpPr>
        <p:spPr>
          <a:xfrm>
            <a:off x="457200" y="1417320"/>
            <a:ext cx="192024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8EAE"/>
              </a:buClr>
              <a:buSzPts val="950"/>
              <a:buFont typeface="Calibri"/>
              <a:buNone/>
            </a:pPr>
            <a:r>
              <a:rPr lang="en-US" sz="950">
                <a:solidFill>
                  <a:srgbClr val="6B8EAE"/>
                </a:solidFill>
                <a:latin typeface="Calibri"/>
                <a:ea typeface="Calibri"/>
                <a:cs typeface="Calibri"/>
                <a:sym typeface="Calibri"/>
              </a:rPr>
              <a:t>Ön · Yan · İzometrik</a:t>
            </a:r>
            <a:endParaRPr sz="950">
              <a:solidFill>
                <a:schemeClr val="dk1"/>
              </a:solidFill>
              <a:latin typeface="Calibri"/>
              <a:ea typeface="Calibri"/>
              <a:cs typeface="Calibri"/>
              <a:sym typeface="Calibri"/>
            </a:endParaRPr>
          </a:p>
        </p:txBody>
      </p:sp>
      <p:sp>
        <p:nvSpPr>
          <p:cNvPr id="569" name="Google Shape;569;p18"/>
          <p:cNvSpPr/>
          <p:nvPr/>
        </p:nvSpPr>
        <p:spPr>
          <a:xfrm>
            <a:off x="2560320" y="457200"/>
            <a:ext cx="1920240" cy="1280160"/>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8"/>
          <p:cNvSpPr/>
          <p:nvPr/>
        </p:nvSpPr>
        <p:spPr>
          <a:xfrm>
            <a:off x="2560320" y="502920"/>
            <a:ext cx="192024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4200"/>
              <a:buFont typeface="Calibri"/>
              <a:buNone/>
            </a:pPr>
            <a:r>
              <a:rPr b="1" lang="en-US" sz="4200">
                <a:solidFill>
                  <a:srgbClr val="00B4D8"/>
                </a:solidFill>
                <a:latin typeface="Calibri"/>
                <a:ea typeface="Calibri"/>
                <a:cs typeface="Calibri"/>
                <a:sym typeface="Calibri"/>
              </a:rPr>
              <a:t>4</a:t>
            </a:r>
            <a:endParaRPr sz="4200">
              <a:solidFill>
                <a:schemeClr val="dk1"/>
              </a:solidFill>
              <a:latin typeface="Calibri"/>
              <a:ea typeface="Calibri"/>
              <a:cs typeface="Calibri"/>
              <a:sym typeface="Calibri"/>
            </a:endParaRPr>
          </a:p>
        </p:txBody>
      </p:sp>
      <p:sp>
        <p:nvSpPr>
          <p:cNvPr id="571" name="Google Shape;571;p18"/>
          <p:cNvSpPr/>
          <p:nvPr/>
        </p:nvSpPr>
        <p:spPr>
          <a:xfrm>
            <a:off x="2560320" y="1170432"/>
            <a:ext cx="192024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Örnekleme Adımı</a:t>
            </a:r>
            <a:endParaRPr sz="1100">
              <a:solidFill>
                <a:schemeClr val="dk1"/>
              </a:solidFill>
              <a:latin typeface="Calibri"/>
              <a:ea typeface="Calibri"/>
              <a:cs typeface="Calibri"/>
              <a:sym typeface="Calibri"/>
            </a:endParaRPr>
          </a:p>
        </p:txBody>
      </p:sp>
      <p:sp>
        <p:nvSpPr>
          <p:cNvPr id="572" name="Google Shape;572;p18"/>
          <p:cNvSpPr/>
          <p:nvPr/>
        </p:nvSpPr>
        <p:spPr>
          <a:xfrm>
            <a:off x="2560320" y="1417320"/>
            <a:ext cx="192024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8EAE"/>
              </a:buClr>
              <a:buSzPts val="950"/>
              <a:buFont typeface="Calibri"/>
              <a:buNone/>
            </a:pPr>
            <a:r>
              <a:rPr lang="en-US" sz="950">
                <a:solidFill>
                  <a:srgbClr val="6B8EAE"/>
                </a:solidFill>
                <a:latin typeface="Calibri"/>
                <a:ea typeface="Calibri"/>
                <a:cs typeface="Calibri"/>
                <a:sym typeface="Calibri"/>
              </a:rPr>
              <a:t>Lightning LoRA ile</a:t>
            </a:r>
            <a:endParaRPr sz="950">
              <a:solidFill>
                <a:schemeClr val="dk1"/>
              </a:solidFill>
              <a:latin typeface="Calibri"/>
              <a:ea typeface="Calibri"/>
              <a:cs typeface="Calibri"/>
              <a:sym typeface="Calibri"/>
            </a:endParaRPr>
          </a:p>
        </p:txBody>
      </p:sp>
      <p:sp>
        <p:nvSpPr>
          <p:cNvPr id="573" name="Google Shape;573;p18"/>
          <p:cNvSpPr/>
          <p:nvPr/>
        </p:nvSpPr>
        <p:spPr>
          <a:xfrm>
            <a:off x="4663440" y="457200"/>
            <a:ext cx="1920240" cy="1280160"/>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8"/>
          <p:cNvSpPr/>
          <p:nvPr/>
        </p:nvSpPr>
        <p:spPr>
          <a:xfrm>
            <a:off x="4663440" y="502920"/>
            <a:ext cx="192024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4200"/>
              <a:buFont typeface="Calibri"/>
              <a:buNone/>
            </a:pPr>
            <a:r>
              <a:rPr b="1" lang="en-US" sz="4200">
                <a:solidFill>
                  <a:srgbClr val="00B4D8"/>
                </a:solidFill>
                <a:latin typeface="Calibri"/>
                <a:ea typeface="Calibri"/>
                <a:cs typeface="Calibri"/>
                <a:sym typeface="Calibri"/>
              </a:rPr>
              <a:t>4</a:t>
            </a:r>
            <a:endParaRPr sz="4200">
              <a:solidFill>
                <a:schemeClr val="dk1"/>
              </a:solidFill>
              <a:latin typeface="Calibri"/>
              <a:ea typeface="Calibri"/>
              <a:cs typeface="Calibri"/>
              <a:sym typeface="Calibri"/>
            </a:endParaRPr>
          </a:p>
        </p:txBody>
      </p:sp>
      <p:sp>
        <p:nvSpPr>
          <p:cNvPr id="575" name="Google Shape;575;p18"/>
          <p:cNvSpPr/>
          <p:nvPr/>
        </p:nvSpPr>
        <p:spPr>
          <a:xfrm>
            <a:off x="4663440" y="1170432"/>
            <a:ext cx="192024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Model Bileşeni</a:t>
            </a:r>
            <a:endParaRPr sz="1100">
              <a:solidFill>
                <a:schemeClr val="dk1"/>
              </a:solidFill>
              <a:latin typeface="Calibri"/>
              <a:ea typeface="Calibri"/>
              <a:cs typeface="Calibri"/>
              <a:sym typeface="Calibri"/>
            </a:endParaRPr>
          </a:p>
        </p:txBody>
      </p:sp>
      <p:sp>
        <p:nvSpPr>
          <p:cNvPr id="576" name="Google Shape;576;p18"/>
          <p:cNvSpPr/>
          <p:nvPr/>
        </p:nvSpPr>
        <p:spPr>
          <a:xfrm>
            <a:off x="4663440" y="1417320"/>
            <a:ext cx="192024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8EAE"/>
              </a:buClr>
              <a:buSzPts val="950"/>
              <a:buFont typeface="Calibri"/>
              <a:buNone/>
            </a:pPr>
            <a:r>
              <a:rPr lang="en-US" sz="950">
                <a:solidFill>
                  <a:srgbClr val="6B8EAE"/>
                </a:solidFill>
                <a:latin typeface="Calibri"/>
                <a:ea typeface="Calibri"/>
                <a:cs typeface="Calibri"/>
                <a:sym typeface="Calibri"/>
              </a:rPr>
              <a:t>UNET · CLIP · VAE · LoRA</a:t>
            </a:r>
            <a:endParaRPr sz="950">
              <a:solidFill>
                <a:schemeClr val="dk1"/>
              </a:solidFill>
              <a:latin typeface="Calibri"/>
              <a:ea typeface="Calibri"/>
              <a:cs typeface="Calibri"/>
              <a:sym typeface="Calibri"/>
            </a:endParaRPr>
          </a:p>
        </p:txBody>
      </p:sp>
      <p:sp>
        <p:nvSpPr>
          <p:cNvPr id="577" name="Google Shape;577;p18"/>
          <p:cNvSpPr/>
          <p:nvPr/>
        </p:nvSpPr>
        <p:spPr>
          <a:xfrm>
            <a:off x="6766560" y="457200"/>
            <a:ext cx="1920240" cy="1280160"/>
          </a:xfrm>
          <a:prstGeom prst="rect">
            <a:avLst/>
          </a:prstGeom>
          <a:solidFill>
            <a:srgbClr val="13204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8"/>
          <p:cNvSpPr/>
          <p:nvPr/>
        </p:nvSpPr>
        <p:spPr>
          <a:xfrm>
            <a:off x="6766560" y="502920"/>
            <a:ext cx="192024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4D8"/>
              </a:buClr>
              <a:buSzPts val="4200"/>
              <a:buFont typeface="Calibri"/>
              <a:buNone/>
            </a:pPr>
            <a:r>
              <a:rPr b="1" lang="en-US" sz="4200">
                <a:solidFill>
                  <a:srgbClr val="00B4D8"/>
                </a:solidFill>
                <a:latin typeface="Calibri"/>
                <a:ea typeface="Calibri"/>
                <a:cs typeface="Calibri"/>
                <a:sym typeface="Calibri"/>
              </a:rPr>
              <a:t>0</a:t>
            </a:r>
            <a:endParaRPr sz="4200">
              <a:solidFill>
                <a:schemeClr val="dk1"/>
              </a:solidFill>
              <a:latin typeface="Calibri"/>
              <a:ea typeface="Calibri"/>
              <a:cs typeface="Calibri"/>
              <a:sym typeface="Calibri"/>
            </a:endParaRPr>
          </a:p>
        </p:txBody>
      </p:sp>
      <p:sp>
        <p:nvSpPr>
          <p:cNvPr id="579" name="Google Shape;579;p18"/>
          <p:cNvSpPr/>
          <p:nvPr/>
        </p:nvSpPr>
        <p:spPr>
          <a:xfrm>
            <a:off x="6766560" y="1170432"/>
            <a:ext cx="192024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Bulut Bağımlılığı</a:t>
            </a:r>
            <a:endParaRPr sz="1100">
              <a:solidFill>
                <a:schemeClr val="dk1"/>
              </a:solidFill>
              <a:latin typeface="Calibri"/>
              <a:ea typeface="Calibri"/>
              <a:cs typeface="Calibri"/>
              <a:sym typeface="Calibri"/>
            </a:endParaRPr>
          </a:p>
        </p:txBody>
      </p:sp>
      <p:sp>
        <p:nvSpPr>
          <p:cNvPr id="580" name="Google Shape;580;p18"/>
          <p:cNvSpPr/>
          <p:nvPr/>
        </p:nvSpPr>
        <p:spPr>
          <a:xfrm>
            <a:off x="6766560" y="1417320"/>
            <a:ext cx="192024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8EAE"/>
              </a:buClr>
              <a:buSzPts val="950"/>
              <a:buFont typeface="Calibri"/>
              <a:buNone/>
            </a:pPr>
            <a:r>
              <a:rPr lang="en-US" sz="950">
                <a:solidFill>
                  <a:srgbClr val="6B8EAE"/>
                </a:solidFill>
                <a:latin typeface="Calibri"/>
                <a:ea typeface="Calibri"/>
                <a:cs typeface="Calibri"/>
                <a:sym typeface="Calibri"/>
              </a:rPr>
              <a:t>Tamamen yerel</a:t>
            </a:r>
            <a:endParaRPr sz="950">
              <a:solidFill>
                <a:schemeClr val="dk1"/>
              </a:solidFill>
              <a:latin typeface="Calibri"/>
              <a:ea typeface="Calibri"/>
              <a:cs typeface="Calibri"/>
              <a:sym typeface="Calibri"/>
            </a:endParaRPr>
          </a:p>
        </p:txBody>
      </p:sp>
      <p:sp>
        <p:nvSpPr>
          <p:cNvPr id="581" name="Google Shape;581;p18"/>
          <p:cNvSpPr/>
          <p:nvPr/>
        </p:nvSpPr>
        <p:spPr>
          <a:xfrm>
            <a:off x="320040" y="1965960"/>
            <a:ext cx="8503920" cy="1005840"/>
          </a:xfrm>
          <a:prstGeom prst="rect">
            <a:avLst/>
          </a:prstGeom>
          <a:solidFill>
            <a:srgbClr val="1A3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8"/>
          <p:cNvSpPr/>
          <p:nvPr/>
        </p:nvSpPr>
        <p:spPr>
          <a:xfrm>
            <a:off x="502920" y="2011680"/>
            <a:ext cx="82296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i="1" lang="en-US" sz="1600">
                <a:solidFill>
                  <a:srgbClr val="FFFFFF"/>
                </a:solidFill>
                <a:latin typeface="Calibri"/>
                <a:ea typeface="Calibri"/>
                <a:cs typeface="Calibri"/>
                <a:sym typeface="Calibri"/>
              </a:rPr>
              <a:t>"Ham bir ürün fotoğrafından, saniyeler içinde,</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i="1" lang="en-US" sz="1600">
                <a:solidFill>
                  <a:srgbClr val="FFFFFF"/>
                </a:solidFill>
                <a:latin typeface="Calibri"/>
                <a:ea typeface="Calibri"/>
                <a:cs typeface="Calibri"/>
                <a:sym typeface="Calibri"/>
              </a:rPr>
              <a:t>stüdyo kalitesinde üç farklı açıdan profesyonel reklam görseli"</a:t>
            </a:r>
            <a:endParaRPr sz="1600">
              <a:solidFill>
                <a:schemeClr val="dk1"/>
              </a:solidFill>
              <a:latin typeface="Calibri"/>
              <a:ea typeface="Calibri"/>
              <a:cs typeface="Calibri"/>
              <a:sym typeface="Calibri"/>
            </a:endParaRPr>
          </a:p>
        </p:txBody>
      </p:sp>
      <p:sp>
        <p:nvSpPr>
          <p:cNvPr id="583" name="Google Shape;583;p18"/>
          <p:cNvSpPr/>
          <p:nvPr/>
        </p:nvSpPr>
        <p:spPr>
          <a:xfrm>
            <a:off x="320040" y="3154680"/>
            <a:ext cx="8503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E"/>
              </a:buClr>
              <a:buSzPts val="1200"/>
              <a:buFont typeface="Calibri"/>
              <a:buNone/>
            </a:pPr>
            <a:r>
              <a:rPr b="1" lang="en-US" sz="1200">
                <a:solidFill>
                  <a:srgbClr val="B0C4DE"/>
                </a:solidFill>
                <a:latin typeface="Calibri"/>
                <a:ea typeface="Calibri"/>
                <a:cs typeface="Calibri"/>
                <a:sym typeface="Calibri"/>
              </a:rPr>
              <a:t>Kullanılan Teknolojiler</a:t>
            </a:r>
            <a:endParaRPr sz="1200">
              <a:solidFill>
                <a:schemeClr val="dk1"/>
              </a:solidFill>
              <a:latin typeface="Calibri"/>
              <a:ea typeface="Calibri"/>
              <a:cs typeface="Calibri"/>
              <a:sym typeface="Calibri"/>
            </a:endParaRPr>
          </a:p>
        </p:txBody>
      </p:sp>
      <p:sp>
        <p:nvSpPr>
          <p:cNvPr id="584" name="Google Shape;584;p18"/>
          <p:cNvSpPr/>
          <p:nvPr/>
        </p:nvSpPr>
        <p:spPr>
          <a:xfrm>
            <a:off x="320040" y="3538728"/>
            <a:ext cx="2011680" cy="347472"/>
          </a:xfrm>
          <a:prstGeom prst="rect">
            <a:avLst/>
          </a:prstGeom>
          <a:solidFill>
            <a:srgbClr val="1C2E5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8"/>
          <p:cNvSpPr/>
          <p:nvPr/>
        </p:nvSpPr>
        <p:spPr>
          <a:xfrm>
            <a:off x="320040" y="3538728"/>
            <a:ext cx="20116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8CAE4"/>
              </a:buClr>
              <a:buSzPts val="1050"/>
              <a:buFont typeface="Calibri"/>
              <a:buNone/>
            </a:pPr>
            <a:r>
              <a:rPr lang="en-US" sz="1050">
                <a:solidFill>
                  <a:srgbClr val="48CAE4"/>
                </a:solidFill>
                <a:latin typeface="Calibri"/>
                <a:ea typeface="Calibri"/>
                <a:cs typeface="Calibri"/>
                <a:sym typeface="Calibri"/>
              </a:rPr>
              <a:t>React 18 + Vite 5</a:t>
            </a:r>
            <a:endParaRPr sz="1050">
              <a:solidFill>
                <a:schemeClr val="dk1"/>
              </a:solidFill>
              <a:latin typeface="Calibri"/>
              <a:ea typeface="Calibri"/>
              <a:cs typeface="Calibri"/>
              <a:sym typeface="Calibri"/>
            </a:endParaRPr>
          </a:p>
        </p:txBody>
      </p:sp>
      <p:sp>
        <p:nvSpPr>
          <p:cNvPr id="586" name="Google Shape;586;p18"/>
          <p:cNvSpPr/>
          <p:nvPr/>
        </p:nvSpPr>
        <p:spPr>
          <a:xfrm>
            <a:off x="2441448" y="3538728"/>
            <a:ext cx="2011680" cy="347472"/>
          </a:xfrm>
          <a:prstGeom prst="rect">
            <a:avLst/>
          </a:prstGeom>
          <a:solidFill>
            <a:srgbClr val="1C2E5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8"/>
          <p:cNvSpPr/>
          <p:nvPr/>
        </p:nvSpPr>
        <p:spPr>
          <a:xfrm>
            <a:off x="2441448" y="3538728"/>
            <a:ext cx="20116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8CAE4"/>
              </a:buClr>
              <a:buSzPts val="1050"/>
              <a:buFont typeface="Calibri"/>
              <a:buNone/>
            </a:pPr>
            <a:r>
              <a:rPr lang="en-US" sz="1050">
                <a:solidFill>
                  <a:srgbClr val="48CAE4"/>
                </a:solidFill>
                <a:latin typeface="Calibri"/>
                <a:ea typeface="Calibri"/>
                <a:cs typeface="Calibri"/>
                <a:sym typeface="Calibri"/>
              </a:rPr>
              <a:t>ComfyUI Portable</a:t>
            </a:r>
            <a:endParaRPr sz="1050">
              <a:solidFill>
                <a:schemeClr val="dk1"/>
              </a:solidFill>
              <a:latin typeface="Calibri"/>
              <a:ea typeface="Calibri"/>
              <a:cs typeface="Calibri"/>
              <a:sym typeface="Calibri"/>
            </a:endParaRPr>
          </a:p>
        </p:txBody>
      </p:sp>
      <p:sp>
        <p:nvSpPr>
          <p:cNvPr id="588" name="Google Shape;588;p18"/>
          <p:cNvSpPr/>
          <p:nvPr/>
        </p:nvSpPr>
        <p:spPr>
          <a:xfrm>
            <a:off x="4562856" y="3538728"/>
            <a:ext cx="2011680" cy="347472"/>
          </a:xfrm>
          <a:prstGeom prst="rect">
            <a:avLst/>
          </a:prstGeom>
          <a:solidFill>
            <a:srgbClr val="1C2E5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8"/>
          <p:cNvSpPr/>
          <p:nvPr/>
        </p:nvSpPr>
        <p:spPr>
          <a:xfrm>
            <a:off x="4562856" y="3538728"/>
            <a:ext cx="20116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8CAE4"/>
              </a:buClr>
              <a:buSzPts val="1050"/>
              <a:buFont typeface="Calibri"/>
              <a:buNone/>
            </a:pPr>
            <a:r>
              <a:rPr lang="en-US" sz="1050">
                <a:solidFill>
                  <a:srgbClr val="48CAE4"/>
                </a:solidFill>
                <a:latin typeface="Calibri"/>
                <a:ea typeface="Calibri"/>
                <a:cs typeface="Calibri"/>
                <a:sym typeface="Calibri"/>
              </a:rPr>
              <a:t>Qwen Image Edit 2509</a:t>
            </a:r>
            <a:endParaRPr sz="1050">
              <a:solidFill>
                <a:schemeClr val="dk1"/>
              </a:solidFill>
              <a:latin typeface="Calibri"/>
              <a:ea typeface="Calibri"/>
              <a:cs typeface="Calibri"/>
              <a:sym typeface="Calibri"/>
            </a:endParaRPr>
          </a:p>
        </p:txBody>
      </p:sp>
      <p:sp>
        <p:nvSpPr>
          <p:cNvPr id="590" name="Google Shape;590;p18"/>
          <p:cNvSpPr/>
          <p:nvPr/>
        </p:nvSpPr>
        <p:spPr>
          <a:xfrm>
            <a:off x="6684264" y="3538728"/>
            <a:ext cx="2011680" cy="347472"/>
          </a:xfrm>
          <a:prstGeom prst="rect">
            <a:avLst/>
          </a:prstGeom>
          <a:solidFill>
            <a:srgbClr val="1C2E5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8"/>
          <p:cNvSpPr/>
          <p:nvPr/>
        </p:nvSpPr>
        <p:spPr>
          <a:xfrm>
            <a:off x="6684264" y="3538728"/>
            <a:ext cx="20116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8CAE4"/>
              </a:buClr>
              <a:buSzPts val="1050"/>
              <a:buFont typeface="Calibri"/>
              <a:buNone/>
            </a:pPr>
            <a:r>
              <a:rPr lang="en-US" sz="1050">
                <a:solidFill>
                  <a:srgbClr val="48CAE4"/>
                </a:solidFill>
                <a:latin typeface="Calibri"/>
                <a:ea typeface="Calibri"/>
                <a:cs typeface="Calibri"/>
                <a:sym typeface="Calibri"/>
              </a:rPr>
              <a:t>Lightning LoRA</a:t>
            </a:r>
            <a:endParaRPr sz="1050">
              <a:solidFill>
                <a:schemeClr val="dk1"/>
              </a:solidFill>
              <a:latin typeface="Calibri"/>
              <a:ea typeface="Calibri"/>
              <a:cs typeface="Calibri"/>
              <a:sym typeface="Calibri"/>
            </a:endParaRPr>
          </a:p>
        </p:txBody>
      </p:sp>
      <p:sp>
        <p:nvSpPr>
          <p:cNvPr id="592" name="Google Shape;592;p18"/>
          <p:cNvSpPr/>
          <p:nvPr/>
        </p:nvSpPr>
        <p:spPr>
          <a:xfrm>
            <a:off x="320040" y="4014216"/>
            <a:ext cx="2011680" cy="347472"/>
          </a:xfrm>
          <a:prstGeom prst="rect">
            <a:avLst/>
          </a:prstGeom>
          <a:solidFill>
            <a:srgbClr val="1C2E5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8"/>
          <p:cNvSpPr/>
          <p:nvPr/>
        </p:nvSpPr>
        <p:spPr>
          <a:xfrm>
            <a:off x="320040" y="4014216"/>
            <a:ext cx="20116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8CAE4"/>
              </a:buClr>
              <a:buSzPts val="1050"/>
              <a:buFont typeface="Calibri"/>
              <a:buNone/>
            </a:pPr>
            <a:r>
              <a:rPr lang="en-US" sz="1050">
                <a:solidFill>
                  <a:srgbClr val="48CAE4"/>
                </a:solidFill>
                <a:latin typeface="Calibri"/>
                <a:ea typeface="Calibri"/>
                <a:cs typeface="Calibri"/>
                <a:sym typeface="Calibri"/>
              </a:rPr>
              <a:t>WebSocket API</a:t>
            </a:r>
            <a:endParaRPr sz="1050">
              <a:solidFill>
                <a:schemeClr val="dk1"/>
              </a:solidFill>
              <a:latin typeface="Calibri"/>
              <a:ea typeface="Calibri"/>
              <a:cs typeface="Calibri"/>
              <a:sym typeface="Calibri"/>
            </a:endParaRPr>
          </a:p>
        </p:txBody>
      </p:sp>
      <p:sp>
        <p:nvSpPr>
          <p:cNvPr id="594" name="Google Shape;594;p18"/>
          <p:cNvSpPr/>
          <p:nvPr/>
        </p:nvSpPr>
        <p:spPr>
          <a:xfrm>
            <a:off x="2441448" y="4014216"/>
            <a:ext cx="2011680" cy="347472"/>
          </a:xfrm>
          <a:prstGeom prst="rect">
            <a:avLst/>
          </a:prstGeom>
          <a:solidFill>
            <a:srgbClr val="1C2E5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8"/>
          <p:cNvSpPr/>
          <p:nvPr/>
        </p:nvSpPr>
        <p:spPr>
          <a:xfrm>
            <a:off x="2441448" y="4014216"/>
            <a:ext cx="20116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8CAE4"/>
              </a:buClr>
              <a:buSzPts val="1050"/>
              <a:buFont typeface="Calibri"/>
              <a:buNone/>
            </a:pPr>
            <a:r>
              <a:rPr lang="en-US" sz="1050">
                <a:solidFill>
                  <a:srgbClr val="48CAE4"/>
                </a:solidFill>
                <a:latin typeface="Calibri"/>
                <a:ea typeface="Calibri"/>
                <a:cs typeface="Calibri"/>
                <a:sym typeface="Calibri"/>
              </a:rPr>
              <a:t>Euler Sampler</a:t>
            </a:r>
            <a:endParaRPr sz="1050">
              <a:solidFill>
                <a:schemeClr val="dk1"/>
              </a:solidFill>
              <a:latin typeface="Calibri"/>
              <a:ea typeface="Calibri"/>
              <a:cs typeface="Calibri"/>
              <a:sym typeface="Calibri"/>
            </a:endParaRPr>
          </a:p>
        </p:txBody>
      </p:sp>
      <p:sp>
        <p:nvSpPr>
          <p:cNvPr id="596" name="Google Shape;596;p18"/>
          <p:cNvSpPr/>
          <p:nvPr/>
        </p:nvSpPr>
        <p:spPr>
          <a:xfrm>
            <a:off x="4562856" y="4014216"/>
            <a:ext cx="2011680" cy="347472"/>
          </a:xfrm>
          <a:prstGeom prst="rect">
            <a:avLst/>
          </a:prstGeom>
          <a:solidFill>
            <a:srgbClr val="1C2E5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8"/>
          <p:cNvSpPr/>
          <p:nvPr/>
        </p:nvSpPr>
        <p:spPr>
          <a:xfrm>
            <a:off x="4562856" y="4014216"/>
            <a:ext cx="20116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8CAE4"/>
              </a:buClr>
              <a:buSzPts val="1050"/>
              <a:buFont typeface="Calibri"/>
              <a:buNone/>
            </a:pPr>
            <a:r>
              <a:rPr lang="en-US" sz="1050">
                <a:solidFill>
                  <a:srgbClr val="48CAE4"/>
                </a:solidFill>
                <a:latin typeface="Calibri"/>
                <a:ea typeface="Calibri"/>
                <a:cs typeface="Calibri"/>
                <a:sym typeface="Calibri"/>
              </a:rPr>
              <a:t>AuraFlow</a:t>
            </a:r>
            <a:endParaRPr sz="1050">
              <a:solidFill>
                <a:schemeClr val="dk1"/>
              </a:solidFill>
              <a:latin typeface="Calibri"/>
              <a:ea typeface="Calibri"/>
              <a:cs typeface="Calibri"/>
              <a:sym typeface="Calibri"/>
            </a:endParaRPr>
          </a:p>
        </p:txBody>
      </p:sp>
      <p:sp>
        <p:nvSpPr>
          <p:cNvPr id="598" name="Google Shape;598;p18"/>
          <p:cNvSpPr/>
          <p:nvPr/>
        </p:nvSpPr>
        <p:spPr>
          <a:xfrm>
            <a:off x="6684264" y="4014216"/>
            <a:ext cx="2011680" cy="347472"/>
          </a:xfrm>
          <a:prstGeom prst="rect">
            <a:avLst/>
          </a:prstGeom>
          <a:solidFill>
            <a:srgbClr val="1C2E50"/>
          </a:solidFill>
          <a:ln cap="flat" cmpd="sng" w="12700">
            <a:solidFill>
              <a:srgbClr val="1A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8"/>
          <p:cNvSpPr/>
          <p:nvPr/>
        </p:nvSpPr>
        <p:spPr>
          <a:xfrm>
            <a:off x="6684264" y="4014216"/>
            <a:ext cx="201168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8CAE4"/>
              </a:buClr>
              <a:buSzPts val="1050"/>
              <a:buFont typeface="Calibri"/>
              <a:buNone/>
            </a:pPr>
            <a:r>
              <a:rPr lang="en-US" sz="1050">
                <a:solidFill>
                  <a:srgbClr val="48CAE4"/>
                </a:solidFill>
                <a:latin typeface="Calibri"/>
                <a:ea typeface="Calibri"/>
                <a:cs typeface="Calibri"/>
                <a:sym typeface="Calibri"/>
              </a:rPr>
              <a:t>FP8 Niceleme</a:t>
            </a:r>
            <a:endParaRPr sz="1050">
              <a:solidFill>
                <a:schemeClr val="dk1"/>
              </a:solidFill>
              <a:latin typeface="Calibri"/>
              <a:ea typeface="Calibri"/>
              <a:cs typeface="Calibri"/>
              <a:sym typeface="Calibri"/>
            </a:endParaRPr>
          </a:p>
        </p:txBody>
      </p:sp>
      <p:sp>
        <p:nvSpPr>
          <p:cNvPr id="600" name="Google Shape;600;p18"/>
          <p:cNvSpPr/>
          <p:nvPr/>
        </p:nvSpPr>
        <p:spPr>
          <a:xfrm>
            <a:off x="320040" y="4828032"/>
            <a:ext cx="85039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8EAE"/>
              </a:buClr>
              <a:buSzPts val="1000"/>
              <a:buFont typeface="Calibri"/>
              <a:buNone/>
            </a:pPr>
            <a:r>
              <a:rPr lang="en-US" sz="1000">
                <a:solidFill>
                  <a:srgbClr val="6B8EAE"/>
                </a:solidFill>
                <a:latin typeface="Calibri"/>
                <a:ea typeface="Calibri"/>
                <a:cs typeface="Calibri"/>
                <a:sym typeface="Calibri"/>
              </a:rPr>
              <a:t>Enes ÇAKMAK  ·  Furkan Talha KASIM  ·  Mustafa TETİK  ·  Nail KOCABAY  |  Marmara Üniversitesi 2026</a:t>
            </a:r>
            <a:endParaRPr sz="1000">
              <a:solidFill>
                <a:schemeClr val="dk1"/>
              </a:solidFill>
              <a:latin typeface="Calibri"/>
              <a:ea typeface="Calibri"/>
              <a:cs typeface="Calibri"/>
              <a:sym typeface="Calibri"/>
            </a:endParaRPr>
          </a:p>
        </p:txBody>
      </p:sp>
      <p:sp>
        <p:nvSpPr>
          <p:cNvPr id="601" name="Google Shape;601;p18"/>
          <p:cNvSpPr/>
          <p:nvPr/>
        </p:nvSpPr>
        <p:spPr>
          <a:xfrm>
            <a:off x="7498080" y="-457200"/>
            <a:ext cx="2286000" cy="2286000"/>
          </a:xfrm>
          <a:prstGeom prst="ellipse">
            <a:avLst/>
          </a:prstGeom>
          <a:solidFill>
            <a:srgbClr val="1A3A6B">
              <a:alpha val="3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8"/>
          <p:cNvSpPr/>
          <p:nvPr/>
        </p:nvSpPr>
        <p:spPr>
          <a:xfrm>
            <a:off x="8046720" y="731520"/>
            <a:ext cx="1371600" cy="1371600"/>
          </a:xfrm>
          <a:prstGeom prst="ellipse">
            <a:avLst/>
          </a:prstGeom>
          <a:solidFill>
            <a:srgbClr val="00B4D8">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2026-05-19T12:22:04Z</dcterms:created>
  <dc:creator>Enes ÇAKMAK · Furkan Talha KASIM · Mustafa TETİK · Nail KOCABAY</dc:creator>
</cp:coreProperties>
</file>